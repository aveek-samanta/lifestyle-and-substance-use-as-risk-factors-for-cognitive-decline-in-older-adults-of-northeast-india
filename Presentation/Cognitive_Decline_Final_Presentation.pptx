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0"/>
  </p:notesMasterIdLst>
  <p:sldIdLst>
    <p:sldId id="274" r:id="rId3"/>
    <p:sldId id="257" r:id="rId4"/>
    <p:sldId id="259" r:id="rId5"/>
    <p:sldId id="260" r:id="rId6"/>
    <p:sldId id="272" r:id="rId7"/>
    <p:sldId id="261" r:id="rId8"/>
    <p:sldId id="262" r:id="rId9"/>
    <p:sldId id="273" r:id="rId10"/>
    <p:sldId id="263" r:id="rId11"/>
    <p:sldId id="275" r:id="rId12"/>
    <p:sldId id="264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65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8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2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Nandita_Maam_project\nandita_maam_project_exce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D:\Nandita_Maam_project\nandita_maam_project_excel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D:\Nandita_Maam_project\nandita_maam_project_excel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 b="1" i="0" u="none" strike="noStrike" baseline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Prevalence of Cognitive Impairment by Smoking Status</a:t>
            </a:r>
            <a:endParaRPr lang="en-US" sz="1050" b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'chi-square'!$B$3</c:f>
              <c:strCache>
                <c:ptCount val="1"/>
                <c:pt idx="0">
                  <c:v>High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fld id="{4A2A7099-A8B8-40D7-AE1B-ACCF5B7FBF82}" type="VALUE">
                      <a:rPr lang="en-US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</a:rPr>
                      <a:pPr/>
                      <a:t>[VALUE]</a:t>
                    </a:fld>
                    <a:endParaRPr lang="en-IN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C45-4BF0-B4E1-2037F543E05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8C24EDB-33EC-4723-A212-92204E75C805}" type="VALUE">
                      <a:rPr lang="en-US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</a:rPr>
                      <a:pPr/>
                      <a:t>[VALUE]</a:t>
                    </a:fld>
                    <a:endParaRPr lang="en-IN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C45-4BF0-B4E1-2037F543E0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'chi-square'!$A$4:$A$7</c:f>
              <c:strCache>
                <c:ptCount val="3"/>
                <c:pt idx="1">
                  <c:v>Yes</c:v>
                </c:pt>
                <c:pt idx="2">
                  <c:v>No</c:v>
                </c:pt>
              </c:strCache>
            </c:strRef>
          </c:cat>
          <c:val>
            <c:numRef>
              <c:f>'chi-square'!$B$4:$B$7</c:f>
              <c:numCache>
                <c:formatCode>General</c:formatCode>
                <c:ptCount val="4"/>
                <c:pt idx="1">
                  <c:v>4.34</c:v>
                </c:pt>
                <c:pt idx="2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45-4BF0-B4E1-2037F543E05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975588640"/>
        <c:axId val="1975584800"/>
      </c:barChart>
      <c:catAx>
        <c:axId val="19755886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Ever</a:t>
                </a:r>
                <a:r>
                  <a:rPr lang="en-IN" sz="1000" baseline="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smoked</a:t>
                </a:r>
                <a:endParaRPr lang="en-IN" sz="10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5584800"/>
        <c:crosses val="autoZero"/>
        <c:auto val="1"/>
        <c:lblAlgn val="ctr"/>
        <c:lblOffset val="100"/>
        <c:noMultiLvlLbl val="0"/>
      </c:catAx>
      <c:valAx>
        <c:axId val="1975584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5588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 b="1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Prevalence of Cognitive Impairment by Smoking Status</a:t>
            </a:r>
            <a:endParaRPr lang="en-US" sz="105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5EBCEAF2-EC49-462F-9A4B-D9A4E5C0F7CA}" type="VALUE">
                      <a:rPr lang="en-US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[VALUE]</a:t>
                    </a:fld>
                    <a:endParaRPr lang="en-IN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973-443E-BF4F-865557EC7E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F7BC00D-08E7-4717-A910-47B2AFE43755}" type="VALUE">
                      <a:rPr lang="en-US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/>
                      <a:t>[VALUE]</a:t>
                    </a:fld>
                    <a:endParaRPr lang="en-IN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973-443E-BF4F-865557EC7E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'chi-square'!$R$31:$R$32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'chi-square'!$S$31:$S$32</c:f>
              <c:numCache>
                <c:formatCode>General</c:formatCode>
                <c:ptCount val="2"/>
                <c:pt idx="0">
                  <c:v>4.67</c:v>
                </c:pt>
                <c:pt idx="1">
                  <c:v>3.48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73-443E-BF4F-865557EC7E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86552464"/>
        <c:axId val="2086551024"/>
      </c:barChart>
      <c:catAx>
        <c:axId val="20865524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Alcohol</a:t>
                </a:r>
                <a:r>
                  <a:rPr lang="en-IN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consumption</a:t>
                </a:r>
                <a:endParaRPr lang="en-IN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6551024"/>
        <c:crosses val="autoZero"/>
        <c:auto val="1"/>
        <c:lblAlgn val="ctr"/>
        <c:lblOffset val="100"/>
        <c:noMultiLvlLbl val="0"/>
      </c:catAx>
      <c:valAx>
        <c:axId val="2086551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6552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Tobacco Users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Adult 45–59</c:v>
                </c:pt>
                <c:pt idx="1">
                  <c:v>Older 60–79</c:v>
                </c:pt>
                <c:pt idx="2">
                  <c:v>Oldest 80+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0.09</c:v>
                </c:pt>
                <c:pt idx="1">
                  <c:v>0.14000000000000001</c:v>
                </c:pt>
                <c:pt idx="2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64-4436-8440-02026260E1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Non-Tobacco Users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Adult 45–59</c:v>
                </c:pt>
                <c:pt idx="1">
                  <c:v>Older 60–79</c:v>
                </c:pt>
                <c:pt idx="2">
                  <c:v>Oldest 80+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7.0000000000000007E-2</c:v>
                </c:pt>
                <c:pt idx="1">
                  <c:v>0.11</c:v>
                </c:pt>
                <c:pt idx="2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64-4436-8440-02026260E1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Alcohol Users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Adult 45–59</c:v>
                </c:pt>
                <c:pt idx="1">
                  <c:v>Older 60–79</c:v>
                </c:pt>
                <c:pt idx="2">
                  <c:v>Oldest 80+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0.13</c:v>
                </c:pt>
                <c:pt idx="1">
                  <c:v>0.19</c:v>
                </c:pt>
                <c:pt idx="2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71-4983-AFC8-B6EEA40CCF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Non-Alcohol Users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Adult 45–59</c:v>
                </c:pt>
                <c:pt idx="1">
                  <c:v>Older 60–79</c:v>
                </c:pt>
                <c:pt idx="2">
                  <c:v>Oldest 80+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0.08</c:v>
                </c:pt>
                <c:pt idx="1">
                  <c:v>0.12</c:v>
                </c:pt>
                <c:pt idx="2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71-4983-AFC8-B6EEA40CCF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'states wise'!$I$7:$I$42</cx:f>
        <cx:nf>'states wise'!$I$6</cx:nf>
        <cx:lvl ptCount="36" name="State name">
          <cx:pt idx="0">Mizoram</cx:pt>
          <cx:pt idx="1">Tripura</cx:pt>
          <cx:pt idx="2">Odisha</cx:pt>
          <cx:pt idx="3">Manipur</cx:pt>
          <cx:pt idx="4">Assam</cx:pt>
          <cx:pt idx="5">Gujarat</cx:pt>
          <cx:pt idx="6">Uttar Pradesh</cx:pt>
          <cx:pt idx="7">Bihar</cx:pt>
          <cx:pt idx="8">Uttarakhand</cx:pt>
          <cx:pt idx="9">Madhya Pradesh</cx:pt>
          <cx:pt idx="10">Jharkhand</cx:pt>
          <cx:pt idx="11">West Bengal</cx:pt>
          <cx:pt idx="12">Jammu and Kashmir</cx:pt>
          <cx:pt idx="13">Dadra and Nagar Hav..</cx:pt>
          <cx:pt idx="14">Karnataka</cx:pt>
          <cx:pt idx="15">Rajasthan</cx:pt>
          <cx:pt idx="16">Chhatisgarh</cx:pt>
          <cx:pt idx="17">Haryana</cx:pt>
          <cx:pt idx="18">Meghalaya</cx:pt>
          <cx:pt idx="19">Himachal Pradesh</cx:pt>
          <cx:pt idx="20">Lakshadweep</cx:pt>
          <cx:pt idx="21">Maharashtra</cx:pt>
          <cx:pt idx="22">Andaman and Nicobar</cx:pt>
          <cx:pt idx="23">Daman and Diu</cx:pt>
          <cx:pt idx="24">Nagaland</cx:pt>
          <cx:pt idx="25">Andhra Pradesh</cx:pt>
          <cx:pt idx="26">Telangana</cx:pt>
          <cx:pt idx="27">Kerala</cx:pt>
          <cx:pt idx="28">Chandigarh</cx:pt>
          <cx:pt idx="29">Delhi</cx:pt>
          <cx:pt idx="30">Arunachal Pradesh</cx:pt>
          <cx:pt idx="31">Tamil Nadu</cx:pt>
          <cx:pt idx="32">Sikkim</cx:pt>
          <cx:pt idx="33">Goa</cx:pt>
          <cx:pt idx="34">Punjab</cx:pt>
          <cx:pt idx="35">Puducherry</cx:pt>
        </cx:lvl>
      </cx:strDim>
      <cx:numDim type="colorVal">
        <cx:f>'states wise'!$J$7:$J$42</cx:f>
        <cx:nf>'states wise'!$J$6</cx:nf>
        <cx:lvl ptCount="36" formatCode="General" name="1 Yes">
          <cx:pt idx="0">75.060000000000002</cx:pt>
          <cx:pt idx="1">70.409999999999997</cx:pt>
          <cx:pt idx="2">62.799999999999997</cx:pt>
          <cx:pt idx="3">59.109999999999999</cx:pt>
          <cx:pt idx="4">53.439999999999998</cx:pt>
          <cx:pt idx="5">42.5</cx:pt>
          <cx:pt idx="6">40.810000000000002</cx:pt>
          <cx:pt idx="7">40.060000000000002</cx:pt>
          <cx:pt idx="8">39.590000000000003</cx:pt>
          <cx:pt idx="9">38.149999999999999</cx:pt>
          <cx:pt idx="10">37.810000000000002</cx:pt>
          <cx:pt idx="11">37.530000000000001</cx:pt>
          <cx:pt idx="12">37.310000000000002</cx:pt>
          <cx:pt idx="13">36.359999999999999</cx:pt>
          <cx:pt idx="14">35.960000000000001</cx:pt>
          <cx:pt idx="15">35.960000000000001</cx:pt>
          <cx:pt idx="16">35.530000000000001</cx:pt>
          <cx:pt idx="17">35.280000000000001</cx:pt>
          <cx:pt idx="18">34.539999999999999</cx:pt>
          <cx:pt idx="19">31.420000000000002</cx:pt>
          <cx:pt idx="20">31.420000000000002</cx:pt>
          <cx:pt idx="21">31.280000000000001</cx:pt>
          <cx:pt idx="22">29.510000000000002</cx:pt>
          <cx:pt idx="23">24.920000000000002</cx:pt>
          <cx:pt idx="24">23.460000000000001</cx:pt>
          <cx:pt idx="25">23.370000000000001</cx:pt>
          <cx:pt idx="26">23.149999999999999</cx:pt>
          <cx:pt idx="27">22.530000000000001</cx:pt>
          <cx:pt idx="28">21.02</cx:pt>
          <cx:pt idx="29">17.989999999999998</cx:pt>
          <cx:pt idx="30">16.850000000000001</cx:pt>
          <cx:pt idx="31">16.489999999999998</cx:pt>
          <cx:pt idx="32">16.260000000000002</cx:pt>
          <cx:pt idx="33">14.59</cx:pt>
          <cx:pt idx="34">11.380000000000001</cx:pt>
          <cx:pt idx="35">10.82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i="0" u="none" strike="noStrike" baseline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Satewise</a:t>
            </a:r>
            <a:r>
              <a:rPr lang="en-US" sz="1600" b="0" i="0" u="none" strike="noStrike" baseline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prevalence of smoking tobacco in India  </a:t>
            </a:r>
            <a:endParaRPr lang="en-IN" sz="1600" b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b="0" i="0" u="none" strike="noStrike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x:rich>
      </cx:tx>
    </cx:title>
    <cx:plotArea>
      <cx:plotAreaRegion>
        <cx:series layoutId="regionMap" uniqueId="{109C1BA9-8364-4E0E-9735-5C7354D606D4}">
          <cx:tx>
            <cx:txData>
              <cx:f>'states wise'!$J$6</cx:f>
              <cx:v>1 Yes</cx:v>
            </cx:txData>
          </cx:tx>
          <cx:dataId val="0"/>
          <cx:layoutPr>
            <cx:geography cultureLanguage="en-US" cultureRegion="IN" attribution="Powered by Bing">
              <cx:geoCache provider="{E9337A44-BEBE-4D9F-B70C-5C5E7DAFC167}">
                <cx:binary>1H1rU9y41u5fSeXD+fSa0V3yPnt21cjdNHcIueeLqweI71dZtuVffxYBMuBpAtMvu+rQlaoE3JKX
9WjdnrXk/Pti/NdFfrVu34xFXpp/XYy/v427rv7Xb7+Zi/iqWJudIrloK1N973YuquK36vv35OLq
t8t2PSRl9BtBmP12Ea/b7mp8+59/w2zRVXVUXay7pCrf2avWnV8Zm3fmF9c2XnqzviyScpGYrk0u
Ovz72+Nkqtp18fbNVdklnfvg6qvf3z740ts3v82n+ttt3+QgWWcvYSyhOxRJjhFVb9/kVRnd/t4n
O4oKRHzE/B8fenfPk3UB454hyA8x1peX7ZUx8CA//r438IHU8Ptvb99cVLbsrhcrgnX7/e1+eZms
375JTBXcXAiqa5H3T348428Pl/k//579Ap569pt7SMyX6KlLfwNCJwD33ZK8AAx8R0hfccwp+vHB
D9BQcBn5QjCf3N3zBoYnxdgMwu2wGQT6/FVBcAAIZPG6vLxbkheAge4ILjDxFb3Z9Q+VAmDggmFK
hLq5zO5ufYPGsyTajMi9oTNUDvZeFSp/GPOi9knsUM6o8vHtkvsPFOPaTBHJfeTfAjYzU09KsxmN
22EzJP54/6qQ+Hxlujf6qozW+d02fRENUZxhjqR8AISSO74kwme3OPj87p43qvFMYTbD8WDwDJTP
+lWBcry+jN36zVm7vrwy8d0avQgunCosOVebHIhUO0QpX1CKN7vzZ4u1GaH5Y81AOj57VSB9aJPa
thB6vGCUJRlHPqEz84V3JCOSCkVuUJtpzTME2YzHz4EzID68Lhd/eNWu8xfEAaMdxnwlpQTPfS/a
lWKHIUXAt4sbHGZh1tNybIbhbtwMhcOjV6UOp5eJiV8QBYJ2OKaIMcpvjNFDpVBshxFwMhT5G5Xi
aXE2g3E3bgbG6etSieN1eW2cXtA2sR1JmaAC1vvm80A1fLqjIDOBFFH+vHxjFm8Twafl2QzHzweZ
4XEM6d0rSgQ/dh3wBi/vz8UOeAvIRfCNDqBZQggqJATl5C5RmcW9z5ZqMzaz4TOEPr4ub35mLy2w
OG3rXk5pMN5RPsGC0FvH/RAe6e9I8OmSsL/Qu680zxNpMzb3x86AOfv6qlRnZdN1u+5eDhVCdoRP
hIBI66etuu/l8Q73JeKgNjeXIYW5j8oz5NkMyc+BMzxWB68Kjx9av35hSoWiHSBMEKAibhb9IaUC
mkIAEWBcbhGbRcDPlGkzLg8Gz7D5ePiqsDlYF4V9A2TXm8O1iYvkBQMASsGXSJ9zdJsbPgzHJN/B
SAJ8d5fFQ625kez/rIv6/z5Hts1IbZxkhtjB60Lsj9aWaygK5P+F4ECCIaNAigFv/+MD6co9O+eL
a8SoBMr45jND7B9JthmvDVPM0PrjdYXVH67yNTBl5QumOVjuABcjOFCXD+ABk4eQr5jPb0srcPm+
G3qWKJthuTd0BseH1asyd4s11NZ+mLuTdQTx9d6639m5W6YXYMvAKRGfMOzPeAAKmoMY4fI2rJsR
/BvEusqTX8m1GafH5pmB9tjXXlF6dLhuy3W3zl5SryBhxQASY5tjb7B+4M6gkra5JPAsiTbDdm/o
DKnDP16Vep2v07XpoHb2q637DwvJYocrRgkFtuDm89DoAY0AAQYBivrGZc3ivGdJtBmVe0NnqJy/
rvg7iGOoyxuwd08WBv6Lle0zW6brP19uY0ACoBjB3CcPK0YQVwLdqoDku90wMwrjaTk2b4e7cbO9
cKZflYburVv3otEI8Xewr8DhgeLdixWB+aYMAU/BbutGs1jxGXJshuHnwBkOe68rLnyfZFnykv02
ELqDBaSI3AXnD+BQaodJSXxo9LgxkzM4nhZnMxp342ZgvH9dKdXxVQT51Nq9YDBBoKUDGgwwlXeF
6wd4+HiHSKDyJLplLyA3vh+rP0uizZDcGzpD5fh1lYeO19CIA6RE95IVU+zvME6QghLRjSLgB7iA
2cJI+ZTcplDzdoNnyvQIMvcfaI7N3utyI0nxX+IgKL4pUPwsXc8AkjuECoKhtL3RkO39A8E2o/T3
GWZQ7b2uMsXROoMq6+VwdVXf2Zj/faILdQoioSvHVzMOgu1ABuWDYZvF4c+UYjMkDwbP0DhavCrF
+aO8jIGBePG6HuY70KPDoZtto/8HbsgX1/1VANmPzywofr5YmxGaj5+B9MfrUhl4mnWxLm94ouSi
+vMlW3IxFJPAdBGFHnJEPzqjMbSA3quX3w8JNgj1Zt8Au3hpfqXXj+I1f8K/JpuD97oK54urPP4l
dfYP+Qe1IxhQPggKFT8+f/NHGHMmocX6RrFmgfWT0mzG53bYDInF6wrgFj+32CKxv9qj/xARaLa6
yWI2tyRenzAApLCa2bhni/MIJA+fZg7Nw6uviEm9JsKvrcgLAiR2kMAKeg83Fv586MMSwNfJW/jQ
rFz+HIE2Q/TXyBk6J69LcYLr0wfJc/i6h2dVfnUgB+gyyP8hJVWb7ZjYATygGYvfsmazCsXzRNoM
y/2xM2CC15X2fFgXSf7mZH35guYMQmmEBZSH5qE0UDZIAp/DZ/rxPCE2Q3F/7AyKD6/Lza+qF2Rr
IHqGPkXooiZ37SIPWQHIajgcQhDktsFnltw8IctmKH4MmmGw+uP/62Rms1e7CVJvcsoH3/inRwYJ
HMkhHCLjW46SPATBv8ZISET5TSA2U4vbU32PS7MZhtthDwT/Lx8RfLzI8tOAL6C2ufxxFPPeCcJf
X/3xeHA+dDb0llbcmPLfrNX+5e9voeMQw3r+POJ5PckDQvJeifJvo66g5vf7WzgKwkFJoPACvXJU
QUXu7ZsBjgrBFVAfqA9AOxZYOa4gB337pqzaLob7gpGDyBlq4woEkNAw/PaNqeyPS9BVJwlEEHCF
wT+E+nkE9qzKXVSVP9fj9uc3pS3OqqTszO9vgU+tb751/XiSCa6UJBw2kA8zQYsLXL9Yn8MpW/gy
/h9huFfLzu+W3PA9V7pTEWbfsSp3+y5beGH3rq+y7w3rWij3/FylDfdV1ycAHt4ZYh0oU2EFLRsc
ngV29f07RzGnk5hyuxSh316FTCJtGWOtHniPo32CJpbqBJ6Aapl40/lo6jHfz/t4Okmwqb8z7rsx
yJwdhS4zpb5UylWHKWGk0k3iWLGIIu6nGhmnzljejEZb1Me7lIckiFtarSbRywMv6sRuZPx60qUL
aw0rjPQo2tMhysUCDvhcpCgqFzZTu6lPcdB5ca9lU567oih0F6Gl8Ag67OIRaTa26Tkdsej1OPb0
BFcePssjnJ1I47VS2zEdTqhKP0S+gvuFbjSrkYrinePVMqvTo5Sm5jirYSlGf8JTEI7IjTrJEhg8
uCQLiqrpL6jw2MdOmtEExuLoNJF+e8TLggc4caEmIrGFromTAel4qmmeRp+SAfvngvfjMpziehHl
1QoPxL5zVcMWYdXFXzoU0SjIWubtuimjVUB7T50Onum+hyPxR11WfhsFUdr5l109GLJ0g/B01Pro
44gmA/8ksMcWYU3jc1M1Ya5L5rIyyEmUtrrI3LBSSMWHhKLhcOBeeURY3gbU4+JkTAp2ipIpiZck
c/ys8TIZCGbQUWJGG9h6LM/GaIhsMEVxV+qpkd2BkEXp67oOy1XF7HjUp6rbjb2wDNI29XfTpJsO
y7GvPzalkjZoauNFC0l59YmMnlmQzlOeltlQeyurer86iwitUh2zrGhgH9guXPRlUwTM1H6n+8qy
PYghkzqoYjR9KnKCslaHMuq6gDjcjbrOlTuF7w2NJkOJr7gnOVpGti+XPe/8s1gMBgeo9yIe2Fak
Acdet29Nz4RWZZX2q6hHVaYNInTFYjnWiyqq+Sfuejktp9SJcCH6MtTh2CmlRWvSVFeydvthYaTR
UcXrY2vj7ltTEthIWYO+RKiKr8JO1hewMsm5yUr/VGa8zHTjclcuE2bjL6wsklgnNol2SVpSpqE5
sT8TxMJdJhLjPRpmfhe4XLJvQ83MgZhSMQYh6/NQJ30al4uYYrckyUh2U5O796Sa6HmJVdYsBky6
aZEWDSr05PfjRVNIEek0Gup3fYj9b0ZV8Wc4IparJVNtdezneYYXyo/Ep77DTktr8bi0NBnXRdWZ
j0Pk50STshXrJkmbUtfSyxYYt4IHIk9bFDS4wVeeSfD7uKuLTz1Pw3dipPJLaXPS65jmobcgA0Uf
ojD1rWa4z+qlLXnxvhINWxpnxaCjJqoLHaYiMwtDbUF3k1h1Kax77uGFGCXRUSzEtIzBd69w3Ns2
iKMJ675TaM/Jqe9XcRa35+3QN6P2I5QfTlk2Yl25EKxIJoto0EU+eKeudqYIcKayT6nz/EQjVKUo
EKWsLhBqS7QQnBZ7U+PVRmMvlQ4sIZH7tkzgeYQtKtD4VKVnXpHHZ6ST3Aatz2UWTCUe3iWVop8A
Uq6rWhRCC1WLZchE+z6yNF6wmg1LKNsV73KcpMupNkLoWozNF2rApoMxQ+7rgJj4BsYcEFV16cXa
SFzygKnC84Omj9JMR2Pd1dpTxThpUPKOBt0Iknp1d2Aj4UoNEvpegPsSzEIfhrxaZN7UnwydGD7l
qE2nYGJ5anTY+6Teg7clkK9JZ3oeRJbzeomwV7LF4FB6nPrEnnlc1R+VG3kRmLCXahkOJfsyFFN9
2URTmy+K2IJJT5DvNUFH2mgK6jyeuI5U66J9HHpEaklpdlKUBYrPKhQN8ZIJnx5UvYjilclp5x84
z5pIO4tBu9qqSMSCNam3HsJ2DAMXha1ZlqQMd01p6kQPRrJdRps0Xwz1FFU6pKXHAtg4bb9oqmyM
NKu8IguqAfmLJqwc18JxA1/BnMd6bJU9ak1dwBA1HfhpXwc1UeEx7KT2m+w9fOxlrfxk07Y46Is+
O5xSBIYYGZHvidiBB81K6z4XQDXYIFLJcMK6TJXLIgNLPZWZaLXL4qbRkBTLy6oU4v2YEaoThkSh
hxplNaicbL8728fvWkHrOEjKtFv2yB9OVDHgXXjQPqBRVXwuq6g9iDJVJUEqwe1EIo8yLcrpsCAl
CjxpzaEE1VtSkHw9demJHeJQWzg24PQE4defUcjzExZaMyztEFZxkNFEJgGpoa6/F0YODTqzKlyj
yMlGW9Fl7qgSLsdaiT7+jOiIAGiVJ2mgxlHZoMbwbGMYuy90ouIDmN/6bGyJWEVodF8r8M9HgkRj
Eqic5F8LO/pUYzNJoSMkpijoU5mggFjc+Nq4bAI19FD7bbC8O2PS60/CMSRnSBp+Rd3gBSpMpo8c
FOnCF17Igg6JZHes8hVhiasDVXVhotu8ay+npI/qgDdG8sD3PR5dg0beJayx76sK232LSJYfNX0v
v3Ibx9+nLCziAMdNH2ucZwoWLo2nNtHdOBK2P42sb4IqCtUXh2uxBu+SvIMjTvEIZqsu8KiJbad8
UXW11yHdmEyeohBcfsD6iY37uSx5Gni0ZQvTWr4YaW5ACVymR+Ol64b44UnVV5/7oo0XZRuOizjF
VZAUxsW7EBg0U2A7T/aHLmbivZhoPASN47kIipClu3U8evWigJXARejapa09muqCqIuGdPSwjIXi
epQ4aoOw8s1e43niyDL8tRFh8zEbKftTZcTP9ySCbbb0iUkajQkECZpZ2X1Xwksb3VjZ2yVLuDpH
VEThru2pc1plUWgW8WhT0E5qSaSHgbawafrC4iVSaRZrZUevOrQ9Y5+HroEdVeCyhEAoZ+D0Ebi9
Nkem1GpS4C7BwePvbRaGFdjpPPqStGU/BZ5l46lIEkMWyBX9Mk5cVGgZS0yPsrFwB0mTeH+GSWuV
TjhLMp21CgU1z7pvtOmN07lNvG+RJyoRUOPS9ThQsAI+KapB48nD70tVM7YX9TXEJgxPw8chGxA4
Y89Qs+9C4Og1bIEhDLI0ddGxo4ieozKf1G4+iCHXyZQ3bWBp2ex3gsjLIiRtMLIwUH6WL9qm9gPa
YbHLexZ/HkaiNPcmiNjaMMY6K0yle+TagISj6gO/DKdUd9i7cDiqvyIelB0vg4F5RKf+pHTUqWKX
JZ7TJkyotlMNN6sjcmpTFYF54PGioD3SHneLIhnLvcjnY6pdqti7tPa85VCUapeYNl9KP2Tgcvvw
zIWcV2CU1LSr2uLCnwj+DDuRfh8Sky7bPqGgYZX0z6Rt26M0HgcPZszl+YRdUi1R58fvPYeLY2IH
WD9Qik8jG8Bc5ZRO5UqZ1H0OmTIfDGRnaJFMfHQLKyKDNXa1/e5DNHjB4r4UulJwXCSoaIhMUEB2
850q07fB5MXxB1a7ClysIex4MNTphHhxGkQEdqHOkqGMF9i64XviyXFRT03xfpjAqOi6DGu78Aon
Ex2WUQxBZdeNZM8yOqqFy0Z3wGAjQtCbFz3kAeBpURbHlebM0RjcWNnkJwVE88Uim9Ie7fM2b5cR
Fsn7Omu888pN0XKSNNJTIScVoKaVy4GoIaj8lHqaN3ZAOi+Fd5DlYQ/+3iXFAJtY+B+qsJ+opqGD
SBAcZd4sorbP2aLCTY50NInY00ndQITkMQdLK1n1EXdFsVsnKBNLm9XocJzGuF92pvRNEHGTf3ZW
+eag8Gx8lcmojXUjQ4iKSq+AEBGOjEedjgZSfUKW5h8Gg9QlKaJqb3BurPdtAjpaQmZc6Yi26Tpl
VYR2IY3lp4PLHNbUK3NfkwjhQz/qITz0S9+1sMpK0UU/hAyMA8NkBDdcNe9aNaR90BWwDXWbTBBg
Ww/SHMNadEZk0uDDXLVdv+tahj7IsqV68PKrcspHqbNRxZFusQyF7gsvjfa4iPCBaAd+UnU9hJBx
N/jqICkUOghbSNPBLPNsv0t5e2ZoVGeaZWwAHDmkef1Yp6sEWgf3BxXxOvCq9FJIg1pNZYIPIUvm
70RaHmI1IT001X5ByHQyxtnHeBLFooPka1nRYVUalq+SyusWBEdED0ScGlCA08QL1dKJrg5kzhDk
DRB+tFVvYu1kly2tmyCxmJJ0Edvc6rEf0G5G22RVNrh8N7CuOCtcWy06DFEjLbRrQ7iNY/lRVeJk
6TnIRaQbIbgYU3FKfW52yyrfs+DYghTiy8hkw1kpWvQJlQUxYGBTf1G05nMZ9jboEiLOe6HU0q9T
t8vL8VTG3jgsCLdir2Kjvx/KkIUQn5CoBwvlo4UfNskhxtmgqzZR0xK1eXkSq8o/mPp2YEEV+mEw
gfG+UkauGoXM99rF2VnU953u+tL/Wnm9OpAxoV9II6JLBQ40kLBAts0r+AqzqNF1EsZ8CTNm3tkk
qJTBSOsRIt7Y1B+KtkN7pAlVrQff4Q+0iL3DPCyt7n2v3pMi7j/Wssm+hRZNQ0CQ8773VpbmG80g
DYIAIOnJbhkqNK3aNBsUWFIyLrqERWg/sXV+6eGuPXI4hsiyj31wYOmIEUQDtcuG3byHaDJLlf/O
x0ylu1g1dtfyoYccB9XUD2yCqxDSTIgUFtm1z6xVnXBNawWGSg10yBYQI5mD+ofZ6UC0r51gU78Y
bRKixTh6sCl6RCa+xwtIE3arlJZjQCrDsqCWllpNSyy+dXLAVzVPSLiANpjMLZRR/r7f+6O/VzSD
iQJaxhBEDzQXVyqi+SIBJufQDGY4cek4yQChGAJTi1Nx0RasqzSLmuQd0ALVXmcpPWcd6otlpBCY
xFCJYRGFU+SCujaV0UkhHV8lSQjJeZqXPdGiJ+jItnW9l3c9RE+dilu3W3ljd9G5SXWrH3TWLSN5
y2fd8GoXVe3aBFiG2Y//+VAV8OfHS9B+fucH+fjXT8d3b7X75bdWV9X1WX8z/9K1ND/ngrvfSnfN
ST744W8E6SMU6M1L8h65+IAffcAC3xVEf/CjGIrJP3m/v7GjD7jnn9+/4UV9Cf3oGOgWDm9DgAMk
AqjHG15UKGidBvYT6m4+vCUEUWBMb3lRKnfgTUhwxktAgyiFZsW/eFEo1AkEr0MCOlNCo7sPr267
e7QH+AEVfPvzfV70ITvpXVOrDBqHrvsc77OSBmL7Kkt8sRfjhc9PTQ9HHn4+/z+Y9/p+93hWnyS9
MOAzlh2P81hPk3OfYyJGKD5tMz2gcn/6FAgQN4ylXMZt07bng5hQ9CEap+r7r+eHro36L7r4r2WZ
kbV+MWXKZqGAIJyb6V2NCx8BjZJyrBFDBdGQ8Hbh7q9v9hgGAP/9hzGAfTpEpViOhiqqFaJRC5SJ
UPBKw18tFhD5Gx8GPZxf+g2qU99BdIJrdozxwCASQ5BEHznVlePKkxOYosI19fmvb/jIA81J9lqh
upfXN+xzX44HFbASFlhFGyfLX9/gIZv/E57riun9FVPJBBmBpXw5ZEYOB8JR4LjrzJD4iGdxSo6x
zWwWNKYpndSQ3+BmF5Vx30IZ+lcriq+XbsP+UNdLfW9717IwGTeOL20EIVcAVZCVpPh7ndFmAKYx
GvpCWye9o2oAOnxpSVWpUnuRIgW0KPxKhMfW+Hrn3pMgjyD7yvkAS6AID2hbfZd8SJ54vscmn1mF
CjR1UK7jS+eM/IIqB6xOb9PT7US/vut90VWaCENbvgTmI7lC8FrUo9JLMhtsN/3MNlTewOsm5nyZ
d7L/hIeGATsyye0sj5pZhjYf0romDV92lTdBDDZ6fbsQdVXJLcWfWQMyRli5PAVrACR/GjghRqab
BlRpsd36zMwBAcK1rAwUAcrKSXFm4OVM3aei67wnbOcjm0fOSmxGIYuGkavVVOFi6SLmtXpMMtM+
sUDXm3CD7smZ8vtVxnJLXLiqPDUVu0OL636ZDw4niyaJmb/lbWYqTlkVKiiVyFXXWdLtlaIq0RLY
5Xxc1kk3jNupmpzpcVP1TUjHQq1qkk0fstbFpyV0XH/4NdaPrdVMkQfI2PAAYceKeGOyzE0r6VHE
gBH7nHGVjU8s1WOIX//+nkLHCjI7JWu1anMG9HcxoVM/wm2uf/0Qj01PH05fhYkDnnASKysbSGNR
OrKvYqrq5XbTzzTa9rKSwPOLVZ8DAl0eFUtmPVlvKf1Mn21CSyg8pWrFTJ8BBk6NHlS8XDJteYOZ
PmdArDb+CKvv46Ip92vMy2HZpnIazrZaoOvA9T68kjhqsDeKlW/i5JNUxpyNSdS4J+S/3ukb9Bnq
+w+mL/x+4KmN5KrITROey6Jo7CfaTD46gOKzL99BDwAV+9s9y0yrpWuhxRdarVY1ZV2y10109HWc
FQPaTp/FTJ/HxDUCSi9ylZmoZvumIL3SqWXtU775elk2LddMpV2URqgYYD81oavbRRpBin5WQFlJ
HERdWGTLMSKu/JIXin6zZTSUT6zcYzGPmGl5PkahrKYB7G6u8vog9kwoIbLPfAjrVDekrNNll059
kMSiLnazcYrkQrCBVu971Am75QLPrIELhSdV5oWrQnp2QZNBrpTM6RObEV+r5ablJQ93I++7MWlI
468omtpqOeGwh2aRcJryvdqn0p1Gpqi+1x4bij0GXAs/GSkl5TGRSqVfgL/n/AlRHjF7YmY4VJny
uhoStqplaGggJv+qHseh2c5oi5nZyFsqMFBXctV69bCKOsxyIBhVdLmVovGZ0bBQnVZpGrFVVI/q
KwdXemKQV2xns/nMZjQ0KlPPk/6K55DJBBarYtI2aZ15Ypc9omXXvZf3bR5UXhwnUJpcdW4Iyb5i
bYv+HGsMGheTGFW6BLaq0GQSdXRRF5Mh28HCZ/aDDmUOm6gVK6HCwuq6IQa4R8u8Ld0Fn9mPiU1Z
YwUw4rbheClcHy0mUXmL7WCfGQnobUJl2ozTytioW02lvG4fqNMnbNAjKsFnug/ds8CRgmtYpSQp
oNsHpwso75EtN9VM9SHrqRROqmlFIG/UUA/7XEbsqaj1MdFn2oxFXbIxj6ZVJF13bF2JIBZoYpxu
uW9m6hyntqtp66aVFxb+PunHbBFSxVZbwcpm2kzrntdQiJ5WXUhYMFBovjEFTraTnc20WZVkUr0E
WL2OXNfDLbR4ZJJtZ0fZTJVT5LVoCM20anCS7xq/hJI3Z9Pur1fmWm02+As209cy5PE0YW9YDR6/
grQz63eh/aAuV90AFfZf3+ORvXP9ioX7xoj2si/TLBxWFBT33O+qdIlZlW2XjrOZynYlhELDJAZo
KuNiH14KZhepK7c0N2ymslAby0M1pXYVmZwdJnkhj6GvcUvRZxoLjjrMMky7VVOlIQ5aDnUWGY9Z
vNhu4WdKy0Mo4ngT0Dx1mYwHWRd1RzaEMtB2s89UFvhRr8c27XZbGw3mPR2Qyk95q0S83b65fjn4
/X2T4aRvop6MEBLaKchq/tX5rnxi4z+yKa//f5f7k/PUy5hSYb9scqibU2OJbnzoLdtqbehMaWmd
MhKmqoeV9762BOK70h/D7WClM53N6qn1PCNuRWekIZr3YlvR59rKVWhVjPulPwBpTK5nN9svzExb
M9TXYW5g9jH148CqzGohSLrlss+0NWZcVYggmJ2RqyZh+W6URFsyW3SmrdAekqskgsn9yRarHLp4
IfMS43axwXUR5f5+HDsqw9xl/ZJ34aBHDEUxXIfddi6KznS1iGtSVhTZJTTBlHqIkyubQufjVpud
zPTUTG1XV/FgoWUthl5Uxr96vSFbTj7TUxTylrrY65ayQeXCjMna2MlsOflMTRvjjylEwnaZCj/W
Ik1ybVtoMtxuXWZ6KmnqRYkHzfrSt/gY+r/pGbQf59uVqMhMT0fLCLRV+HY1YfivufRUKsEXHjRJ
m+32DJmpKmlGv7B11K+gOb9stUdrvqoH0l1stzozXcUJ9DVVYwGeNTQ59E0avDBZ6pbbzU4eqpNt
oa89ctyuOp9+wyl5Zxh9t93Uc02Frq/COa9bJbF3AubxqyNyS66QzPTUT6A0jkvZrdIhVgsb8w9V
Bh1sWwmOZ3paZnCqwVfWrrykS4I8lUeSNGi7zX79Us/79gvKwkNtRuUty3y8TBz+THgBr1faolZ0
fcLn/tTQEht54K8dtK/8P86+rVlO1Hv7E1mlgqi32t3u3scke+d4YyWZGVFAEUXET/8+PVcT/zO/
vOXtpIZ2A2uxWDyHaJqBcJ84KzwAOcdSb7SL06UBeFNQM1egxodf6Iw8UEztFh2rNKJdoNoRzANZ
D7ZSg9lOw5r+4K2uD077LkjrrB3TBXDFKvHGl0oBdzKJ37283gb5l8vBDTzwz4nPe0ZbHai5Agsq
f8qmJnqSQa0/H1vWXYjGczyb2bTYjrzmBVHuS5q1B5d0F6MbBVSu5sJWJlkAF87Wr3LM3h377l2M
UkdX1xKMHXTTG7X+KaHT06Ghw12EDq6um5k08zmsg6AMuvqx3cKD/YFwF6FRpHW6BXFwhjDyC9CL
X4Gql8dSy40L/8+dEnDU6WbAnEjevx+a4QIg9LFMHu6ik2rnyYoG/nnYljvj4geaHDtBw11gap/M
bNC42zHVPGbDWgEzfeyZ9aaR8s/5aOW8ctBggrNWHzfg5br007EdsgtJmXdGbwKLSLn4Ydb8fbax
Y3kq3MWjHRdAVx2bKz910dvm57jqLJlOxz58F5Gkr9e+a/O5mgJACeJe3OV1/uXY2LuIFLKdEmji
BuekRXUbhOw7zcmxgw26Q78uJTb2COwsjmTesrUA8SM45Xm6HAocCFH9OjrAyOlMkyU4j+wVaM0M
Xewjc0LzXUTyho905H6+ceVAEwEzqIhG9nZs8F1MOrx3ed/X0xlAxzsn8bY/km4+tFOgA/7rlBhr
QxFIDJ7J5B2x+mdLgQc+9uG7uAS914cj0Mxno8i7BGOvdjk69i40I9eCm7RGaBvHBGDGrOnuR7qy
g7Oyi04+gbyHehYbJdlYsYXdR8n4oQKL5rvYXHNLncgR+Svxc1eGtGbDKUYF1B5KLTTfBah2itZ4
q5mrhurvgVs+4/Hh46EV3YO1FkJCcJ4wL9Y2yWm0oi3A6k4P1RFoCO32Il9S9KNXfPi6vrNDeL8u
48EI3YOwOpWGNOVkqjJBniQAh2c4s8XHZjzbRahtDDCXdpmrUMv3NJDg2PJDRQrN9vEJKrAHonyq
4jiJS6ciU0a0++vYcu4C1ONFYcrUPAHNwL4203rfpsnrsaF38bmauRZZHJjKR9IVckjHS6+6YzAM
6AD8ulOGxPX5AqxQhSek7dRvw3MKftCxtHXTJPhnOWF1PAkeOVOBDqdkMVkTPASg+Xw4NjO78HQB
QVakFiu6+D8mVHDrlP04NPQeTTXj4OGaDVMlWPNh1foaKnVsH+6BVEudCdZJaqptGfl5cU18CmT/
89h3747PdqP1ZFYxVTnXpaD+WWW/KztvcfJ/b1V0D5lyAfrBi05NxdWS2MKkrHsamV4L18XWl8e+
fxekiejXXgyJqWRLvklOPwdavB0beheiKxCPkqW1Qfwv090ygeQQgZNXHRt9F6VgXyWtITE+nEaf
1RL0BQ30p2Nj72KUr6MWJuRTlcQtKC4bsZ4WfSa5OHZIp7s4pbxpMptJbMk1ABkifmvHY3dxyGv8
mgJkm4y4MGPo2ufv57B9qQk79AwFvvRu6MzXaly8qUit4irI4vl91Lj2ENIXkmm/jh6nS5gsLXZi
HW4eNKSxIvQgOo2yXZiqtQ7mdeKm6hcdFuGSXkbXHOsOg/Xw65fPhlpLc0w50uPD4uMHmazHYojt
wjOHWontxsZUad30Rbr5h9yAJ3tom++RTjl2SbjGwlTRsLwj0fhowvngd++i07R4nWAuGKuJZZ/b
yLyXYjx0iaNsF5z1SpVodGcqhpkpcoDQIXmhsmP5cI9Gmkk3Bt2Qj3i34WNpYvHeBvnHY/O9C80w
xD2rT8KxalqiusKhUXG2YcCOTcweitR1OVBpnUfc5B4qA5axD7INt2MruociLV3CamDtxmrLTVxG
E33GSXrs9ZzuYUg26EFcWwdslyGnoUCu9VB5LrJ8EYd6OHjh/zVGgQUO82btMfcNd2nZo3lW1TUd
j70j0D3cyAtrQWGudZUFkxjLxWn1l81Td/DSmNBfvz9ScUgduIeV4X46qYZ1BWYouRzamXvAUZpC
YSFcQl1ZyeIyZACxQ1PqYH5MdhE7SyDwJtLraqJQ1QH7PRbfhV/75lgeS3an6doaUHOhSVANvBuK
dlYfVxkdO/OSXczKeHAKaheYd/D17/wUThcnB353aN73eKOFQNNAS6errk62z+FQN3fQ3gV/+Njw
uyOVIE8msceygt4/ThcQ7aEBlNTQwjn4A7tjFY9xYuj1gpknk7sak33kozzWm6d7yFEqFNi7s9FV
SufXtpneOzG/HpuY3bHa1B6MVdmMVdrn3/rBRVCHor/D1t5C8l/q9j3QaETLPAus0hVo7Nm3FI8K
d1ao5eCW2Z2scxisfoPYVYVIzQsG6EsR+CA9H5uYXagaH+CNXmL0ZPG2SCJ9L/rfoZj+LkH/bWJ2
cTq2K+B1WTxUC4OKR4HX4g7JJm1XUTYqb8Sd0t69WjXJK5lIwKqZ8zF5A8UtHd+h/zeZ1zxV7E7g
XXK460QPfa1UtmjGNyto4K6AtNxoProxDmwZ+rEX3wfOoREEgbQ2PkUJeu3nVNvVnmSELlnJ8Eq9
Xu0YZF0Vpyun13ronC+jEN2ELwGQvf4SQbstPZF0xZhOQnvs0ow5n8C2izd7AVd/3U7Tokj/bU0p
rd/NFPIlP6YoGccq2+J8qcyKv/ek5y05d+GSZGUP+T9RMp829q6JhiZ/ZFAiwSePW/wKyU5XLDEz
V91OZqvCIc/8xSm50NNiaJOclxSyHOdE8oWWjdRqQD2b577MTEvSQg2tiR5cDwGsqyTRTKsNs+3K
hIjlum2BeobASUhPNFyWrehqU2+vMuqG9FgVQncJU63UMmEhwwdJkAFdnwCSDZAyObQ990gvQmuP
QlLqijMFbUHxWqftse/e47wWvMSsEkJxVWLrasrlfZ1Ex5qDe5BXsgCZEqGDVEFudS3qIBdFLqPh
4JzsKhsDfT8m8GhXNTGkGlYx/sU6c6zoI7s82YHeuvRpOFTWW/0MNlh7N5BZHUtlNzHMf3arOGtD
28dsqhoj6CNF/Qrkv52/Htsru0RpFPQgFr0Mlcga+8lk44Zmfp/NB6d9lynHvp1BE8mHKkdTuUji
7pFvzTGmGd2DvEKEMJSt9VD5QdfqNISuq9YxbA/ecvYwr6hvIUFEsCNZo5L1HE+93Yo0SCACd2jy
91CvGeIQdcDnocJD1V+QFrxPgukYo4PG2a/bRltnltGnQ8XDHDiyeUpXWZK8i/869u27omZJxo0s
NtaVHG/KR+kwEryxZ3F8DItB413EOt3LKFwbFAhhRKGZ5rpz27YHC4Q93kunru62Bkc43mhMCUQZ
K3XgwmNttz3Yy4WgSidtP4BVK+U9IxDALNh4E708Nvm7qJ26vgGQaUAa7m16z3sSfsOd1h9rBce7
oE1XNW5qQr2KVtZ6he6MrdJwTg9u+l19ExNp8/Z2OnWtgtSQG5vCQjPpWMLZQ74iE612xT25CnxP
/uRAm/+5KauOIT9h6ftrVCUx6TveCV3B5HwJriLvIWlaO5f85u3wP3h1dA/8Are1rpnM+mqTETFv
WrTLUNZpH+uTm4bgDYSz5yDIZXdCFSfysslxGYXuKyTCjq3+Hh8GUjALbYf60/mRZ2WgOghQKN5r
eewavQeIsZBsuLPcMlM9R/WDahvwzvzo5/BYdOwhYltoDei1cV8REkFzbnWdo0Un6HKwwIp2RzKb
NmX6GD/gbQzY8mY/A73/81Bo71FiclZ+zi102bTpp3JtyF/bnBz98F1kN+MWTdBBVBVq24uMxX0c
T8daAH9TKP9B+1ZBAP1QKIhUM12mUgQUTw1u+3BsUnbl8sylaSK39FVtTXa2HIKGKmkPHpV7nJhL
26HvsaJVa9bgh+oc+WkCHDeHvn0PFJs62g+0j1SFWus5XbYHOTa/0XK57bd/uSrucWLNindGZoa+
mtaY30fSQIGwHdyxQ2wPFXOCtdkiiKoIFE4hWZxl4z1Pbc+PhekeMEbzdSCsD1WVJn1Xjnl2J2jk
j50De8iYgaZXU+dtX+WUu8cJqlrQNuuW9/97TW+V/b9N/O78zZ3wi4twvsuNjij5w6nJzzKMhuHM
cKvrj9VYewxZBsnrjEFptoIWILSFeTJ3t9AK8+HYWRzuzmIVtNO45C32ZhK/2jn80ET1wW2/C1ko
WUAH2uDb0V1LTq1BK3+zUX9oeeGm+us53GMzBgKowHOUmvrD4gP92vPkGJsJqlq/ji7bPoIY7SRv
OTh7rxVJqhkSq4cmneyxZBrdhbBWvcRjOLoSw5i9D2jTHpyYXdVs/dx761sJhAAknEqQD8evm8yH
5eD4u7suBGnqWs9GVptJf6B39KRS/vl/B9W/ZzNyUzf750WXQmkPO1xJkFaHuoNgr13+dGQ8Jr1B
8l3Mtri+9by+TbvOajQcp+yqWGIPbXd4xvz68UPc2XUz+Pi64Wg7RbGGCO967IQie0hZzjZI/E3o
v0Vujvypb4FHKLu+75ZDzReoXvz6+RmUQTUqW4gVcwb9wiYM3w3g8304tLJ7VJlnLTpcbgxOTdSs
w30XRuFzDI1r+5uv/7vT8n/zMdkDy+DVF6+MWWwdZhP1MkZRb+9asYzmgouYjS/Q0mPTaUzkOjwG
HreCR512o/oKT1l6sSzerikNoEWeb7WFuoIPhHhRfbLGpRpH396MF+rtx1D71l56jTO3tEm3/iSK
0odFd/O9h1TvhdTWYQhoYPAiVC3d3ngEfst7cdOpeOvbTE8nXNjohn81ruQhkJ/PnebBBjVgOrVP
JK6H5VAhSfaAOOAaR+iyJ/zc1FH3vOQif4zbuDl2wJI9JG4IRDKgOyqqeA3/ZPEIEc7m3bHtsssx
uGt6FTAnKrIBZyuh9Q3Jzd8JadwS4b9tlV2WsTZQzTatoho1tDquZtqkO+UeqIeTww2hucLxSfKv
x/6SXc6BiHrC6JKIKtABO1Ph5GXTsvl4bPRdzuG+trgjElEtA+Xwq9k+z138u3m6Tfa/zdOuNIjC
prXCWFExaHS/AlVNX6D3u35fuyj4TWfzv35il3TCOk+bGPLJ52klgp34PJoRQq8GzfZr68Bo+82l
+j+WfI+aAzwBMviQ5j837SwEJGLXCOiwQJ5btWVxCUT3sa4S2YPoGriWqNpITFofBwC6sc9IRAcP
sHTXcQsgOIJGQC+qCM9xM3GXmUS/SdD/sRJ7EF0Kh5NsAwf3JBp4y1xzOSWXIcvx7s+aRYaH0AXk
5gb9zwM+wdgQi08DyHRASBBc9+ZLPsJH5FA0/G259I8L6OTzsW296ao0TeYLMNdZAQ33Y5cVku4i
eWnRiiQ24lVLM3rRi1fwaGkP3eNIugvkkOlIylTWp2hp78OaQJybHZzzXRhDD19Ow4yht42e63y8
qDY+dD8kewydh+paO+WiPok2fkiT4GGEg8ahtdxj6AArvAnhtvVJd26876ZproKEvB4bfFfd10nK
F08CbPaomc5aG1r4XNLLsdF3URrmwtRJGLRV2k76AajXz2Pjj4nDkj2GrmFpEyyxbSvpY3mx+dzf
haM8BkUlexhd4Fe8pyiInrddN540zx6DFPYux+Zld+6uXTjaiQz5aVa0XS9x7D5qI8SxpiI8AX/N
LXzI4WFB+/zUL+OzgMFXZ4Zjh/geSuf5ujaqQSElZ9sWvYWzyyaT32Te/7j07JF0C9D5Gxh+CKJp
GeAQZUp4FB1MiXtVrw0iPdMy6xasJeXLvtHDWECJPz8GSIMg9a+TnisPzoVIchCthi0uMlmbh2EV
7TEeJNmj6Szr6z4dCZTy3YY32/dAAfwmwfzdqv2X8maPpaNsgwEhdN+ryAdkeQhblYBg1EA49A1K
SUPVJjmsH9JxUcmZobsGb5dZJAvkODXzl9Hm4QirKFgMfFdpEi9VncG451AHnuxReGswRtDdmG/X
JTM315aEmT3zSUz96VAs7mF4fdvO8Cfk6Wk1nCFB+c72JU9YRH4e+4FdsJtZ2G2Br8fZDlyfVUbd
Sef0UKeZ7GF4KNkSoomy5+im++WSEUxtmh7CV8N69NctrdOFTvWMwRcL7WY50bEYZHwM40f2GDzK
LdjwtrfnuIt0SUTUwfNE/jg26btyeoANZBiSGlZVMVdFFgQgcK00PHau7UF4DbCmIQ3IfB6ArCkG
YZpnmZL506Fv34t+Uac1idg4n4Mcrx5UwLOl9cmxidlrfrXGRQMeYuczNCrjd71axQ8WbumxMmgP
wNsS7sbZLjBa6pksoVwNRRhaH1M9IXu1L5nP8PHKkuncpqu5JPUMffFAHHtjJ3sQHnEx2aSYpzNx
sNqCUsYb6NXrb3Lsfxxte7Ev60ZIZqV+Ovs02goBv8gyFQdrFbqL00RYFtwspM6bglyLm/1foeHH
uISE7ormYNMKDp7EnhuwZ06547xEPj72eE/22K8NNIi6XVBYpTr+MSnyqnh8jF4N96tf0xdXaCkP
mtpzGxr4qOq4Ptc1YHT/O0r/45q4R3/JSIyxGEh2YbVMlnfcqlZdPIuluVCjcQr+75/5j42zR4LV
C6lp1OGPSOIsOC1x0pT9ao8hwche70vzOp1h84LFbfr2lAEGVuaD/+PYp++uuKJDOgCe0Zz1qj28
4sbuNKn62MG3R4LlmoazShJzXoRdLopncQEB4+3YyUd2FbRXuG5sxpnzzDd5iSbxcYu65OCS7sJ1
44puA3o9Z53xtFRy7UpAUo/B/vGq/+uu71N4OKVZrc+BCkzZbbqHyY8/ptwEBvSvo9cURr1w5tHn
dh55uSVKlhlk8k+HdsweA2YjOE9Z08Bgueu3ty3U66cu7H+nW/8fobRHgdXEucgCrHxOTAQ+yq3g
0PClPpbh491dFw43aFf7PL/QAK3zJfg5yP7t2LTcenn/6OYIuGfX8M9IL9D5gpnysgGdCJvp6cux
4XdxGsmBDFto8kuiVQ8Abrcy/sgi2WfHYnWPANNTZlHF6/ySw0YPfq33MjxYicW7QIUQ1zj7GEMr
iuPvhofojwESyR75BTMI+H2lY37ZbtJHwkW0pDxzB7fLLky7UPJ58wP880R91xv9LmTH1ATJHvYV
JgAVEaXoiQH+0PXBI+3b94e2yv+BfEFGCIbpsN6N4TQcVVRL8K65U/bjsfF37aheR3DLtUN6oUO0
QkKdTvT+RtX7nZ7gLRj/5aa7x3O1gdA0czW7KB1Md3O9LOp5SsOmOYOnmtbXRm2OP81b/f9xuf77
qvpvP7oL39THdb90o8S1dXXwTItkK2N9FgJRJy+8XoUsxkHBrqboyYizfe286dPrIDXj8E+M4KgM
g8pNLP7Kax/U3wns2nTVh4C0ioJ0fnMO3sZGj4+CRZl+WqbaRey6BhSOcwWMX5sARtIkb+H8aOAA
jkJoYFi6IsnHofmuDYcVKhwI01ZdySYg93zyuNCnzcmPizOl8KRbXyEh55a2SOAEKiDz7dsVlqhR
bgNGi9xDGl7cRVowSN8r9CxnVYBXIC0+cEqH/qOOFS4yXdplfymt8J+NHelyYoD7whwUMyTKZXFx
W23ernBdEiGZ+u8DmrYpPAhNFEawR8zgxfy1b6nIf6rGwugHRM5tMKqA2lfnv9xAend6U/BQ7CEa
NZUOtqCROKUgTtbnDU828TmAfelU1hl2Wl7CmdEn6hQvWxLCTnFh+aVN7KbACxsHfweXgL5MmV7Y
UxfaNjuFLXGk5CkbUYVlKjtlCgK4xTo2bOyB3+wG3sB/Eff9tESHZIXp82zG3qRFFjOYdI9LW9U0
RdmIXMKUvcdqDRyWpRkquyKPAqlOVvXxt3FWDP7W25r+tO3myUWbIRHPm4kz9omPcZo+kxmOr49b
zTPbnOQGjgq95M5GUETYWGrlExgaGdZLt7Dl7Msm3PLGXkKoGqMaU+GwiTvPyOp+jJlqh6YcFjSD
rykYSPlbtKbr5EvZUziJNVlwk4GUVvZwUw0lXGQbKOikFm67Hms5DNc4QSMtvjLRZ7wQTOQXJnhf
Dmx1ClboCSxq4Rg7+GV6CO0kzs4gRz2zobHdGwyMmz7Ddhhie+lIMq0wMuY0hkos9/KEew3PvmYz
6YeHHAai5sKT0MJd0ukZzfwiz5I0RgU1z4SQMk8I6d7DPt2wCwRWxPrQxy5CVzucoa224Zl5Xhpw
t0I/sRlITgaRtVDaH7EMwJkxS0r1a5qoKDvxekq6H7j7ZBJBA/fB5TR1yTA9Cxs27A3wrFFdOji1
xqd8CIfkfkuCWDxG3Intj7aXgwVjxgQDfR4RtPzca+7jK7yYu/EzD+ADGiO9CdjgFqmiuX4O51lE
P2hX15kv6iZXTeVg35jch6alw5fOMZ+U0LwPwUZvHIlySDsnTP6sZ9cIeD+OIvuREDbqz2CXb7zE
6xLOLvA8Bv8EVN+U4X8eAvpzgPv4BsdQ7f0bLK2jqNQckfSzo9jmd42Ak+ich80ljMese8mMTRlM
klvNP4yCr9s7B4JHHOAlGroBMGCEEjG7Tm7u+78EXm74Q8dG4qth6GRdwTc6Mg92zNMYzp+Exl8z
FtP8j8iJ+hkU8uAez0jbT1BbVNG5pDk1EAgKTmu7Ze4eHhLLdgfxIPJF5i3NT1qC6fg+9RzmnlFT
t9HVDa3152Dk3XoHZ9eQVXAYF+HnkNWi/sDHHCbb2s8BNBG7MJ9AolEMRn7LNiXmaQq3ObwSzbT8
COOOenixSZ7yS8jFkJ7mtVuQO12SGThc+z4yT2O+sJ8SmgB9WaNl6F74GhqkEj6s7sySYTbNKcRr
1fIgOggcX+rGatBrYIvdvPFsyulVaa1ZMdeBYT84zztdNv0k5q7I+qgOYXQEn9/rJNU0n2YXh8EJ
Vrkx7HDl5vRXGNDjC05J2ESQM1zxFW3QTAY2oMHUn/ubJA8sgZG+n0cHYto50cZ9g8+oY7BXa3ro
csIKgj2hXGr+rBHCKQwyeaxKplwyfPYj/BkhcKQUJM8KIratvboZLNk3D386Uxd8nNMV+X7TbhiK
bsYx7Qp0vJfpp7MLST7BgsPgQBBQq8k/SIxyW0g9W3OGiSNeOs+9i1VSgPvZJ5XMo1yclwUGoL5o
IvjbP7h1atC1WGFjld/BnBw1IphsnF8nuKwFBczO2+CVJcLEJ5iM2+A0hUuUn1K/bd0nE26ku1vm
zeWVVUNQn0YX1/6RwCznXRhNXfuKzlHsRdFKOecXqMY3830ucIN59miJZRcqWpx3c10nI3DelK+P
qgk7UQ6bieaSapMG4C0YeFk7sOe2Kfowh0KBjNHTeX7XrmEa3w14Mu6eByjdwZ988RQGOtAVL0Zn
8ugakXyaX5JpDPrvcbtm8pFJMmGP9VxJ/geR2YadoCDZNp2HJmvhNLxta3dOlKDTRyYWXt9PTduR
K0i0TD5ZE8Pg64x0JNkJvkyk/nODVDI0zSfeJXfT0DYNsM1gYGGPZNBRuufd7PWd7hQBZjgGhjg8
Txquh8Uy+z5+xW9mn5aIz+s3CdF4cNLzmA+0HCG/2JQB8lNdrrVeX7uYzeQuyzW4LknfA6yqFpMF
pdd2hqWcGdwKAsmSRiUeFDL+Dp+bJC+r8017F/QxxctRW4vAvim1Df09oLt8Q1XUb+tPnBoTLNan
Ngyj97eXGhKWhI/p9rSFOVUTMvHm62vWYekhNMvgbvbokJDHF7hfTOYazjyf79aZ5fAiRzLg0ARo
MI3TVMw5ohx+yaTZbFOOLUyk35N8hUM0XNMydkmpQn4rBHGdeQlnOOh+38ykaVfAOHZNrp6ScH2m
2P38SzetsKDBH0mG+kWgHeY+ZAKTeL/FnVlPsJlP5juc/4FuMLkx7ODdlqauQfE0DxsW0zTLZXEi
UB/TyMNQecGcLfdjB1joS7e0vC1px4fpy6rTOPmq4tRnCk7MEKrWmCkimz96aKaG76BaT/PvA5RX
xLdRjuLmvQ5BRFKqLu7SO5XOExzbBQ8zNhRjYGFeXUgYy9+qPUjGsiBZ0tMEkYYBXtgiDX5AVd7T
MsSh3l03O4q31GJ/n0XoJCvbdUPPVaU9/ZzEwEWUxGd1V+IuSlM4Ig6prWKZJmwpyBqq8VnzkYNy
HEG+86LzTg5PRGm4ZhcMDKzv3TDO6yWJWrq8RH1ooL+Ld9b8jWa945dFwinn3Rhz8iWb4PJymmiN
VkDWBjN79r2u00toOhe/4P2J9B+kSKftIer6cUDCpIgNwOIBVMsqARFV81QrmcOsOaO0eeeBfAnK
lbVq+TBtbgQhGrzX2JWQMaxFmeZRq1/EhB5TwVUjxzPx4NXKCyhq0TmrSd+fTFjHWImWy+iJWn1z
cmXTrfjJAK3kTZlnSxKflB3DCI7v2+o/d5mEahKM18FafNMgt5FPzcSGR5iBo+IqedMFZdRBFc6X
yO5LkTpG5s+xhezBXcOcxnmfriHKdAICr54LT2gwX1t8QvjeDv2clnHCxpPw3PaVWBHqX5PQuOUS
p0JGcCYxkDyLaEuyE5GABxcTibZLjsPIzYVJ6m56toBO5X2pmErlo5hq/5L5mwHqZjbyMGWZCM8Z
HGxWHKMoOU5mo0j7Ti5BcxWsT+Y3K+to+dAbG5V4Ixnjb17Wbilrx+kdyjW4ZgqwaAZ02guzdvyO
zxrCGhS8ahy2BA7dc66LAWZI7DSbML5rUA98diolDw2klFTB8m6cSh7FrIFmq46LYaAdu89c4/+g
YP90TzFCR1VbN2350xjE5l3oIPGKKxCZHxuWxRtqp4iad0ugAdud17RkoJE/4T0HZG2YlxKokYOG
/ORNFn8cXNCcRdwxUSi1zg+LkPlL46CgfxLYxmWyWjh587q9o5Tmj5Y1/r6JVvnNN0v3mhNpyjZk
72Vi1Mekg/l80YR6AuzESiHGYg3b3E1Fg2rXXzys6vwdzKqbTyxa9f3c+Sw/YTuzUm12Wy+96ZJ7
D/gi/eiCLH1tpANq4RTPfRrc1SpdnCxq7NwMNHnPwz/aufbzxyRhzBdLq9YMUM5ocf7U3vQArtKv
G2RTMhN5DWfdcZxi3GNaMnSnhi1RcL9EFGxs0EpdeG94VOfPU7BO82UBzz/8tDEZszL3dJkfLNVJ
8w2VqxrPyRwH8Z1udUsfu3WRMHtt+kUWLtIm+0Ss1OHLSCzRZ8g0+B6SBBPjV7iv5/JrwOEl3JWJ
b5P2FE4dnwubtChF89mmbWkkahRX1CQgRBY+8bb9uWYJGR+XdVi2HzClciiH+Jwl2N0SsZXoogNh
qDtDRaeOK5PJtnu/Rrj7n4eeEnWZU+SdE240TXodb/C785iqmLyAVNMlD8DPkugU5WuSXyPQpta/
WoCx1Yud5kyHpc+bhd9P40RCVkBQJMPz6NbF0r/H1TiNcQsGZHN7mCY5IS/wPnXRk1YIyVeBy6r7
KhKRX+mAJzIyKZd+jSYigm8KD6y4Jq9DAsdFNKF5id2BYqmo7YLsPhm7nhbVmOwzA6d//n+cndly
3UaWrl/F4etGHUyJRHZ0dcQBsCdykyIpkqJ1gxAlEvM84+nPB7q6u0Tb0umKclRYFomNDWSuXMM/
PLoTsf2p6xplpoGQjcZ5FZZCGz8605piCq+ZprS8vg/bwlehlZvX3erOy6sN3T//1iaw2XZuim3h
3ZLHs0JwQFTtDR7PIpt35Yi660ElmlndOOwyIqJutY1LeIpnSbMwLqE1H1NLj6ejlcWZXgT22pIC
eLnjOBEy8BX1Bxlf2vjLWG+5CDYu/XSb9m0bTQeVRVn7mHdaNeIor/Xq1HVqELyxVU1t0Jj5PH7O
lICL5MSZ6j73U9aM+zrSC81X2WBcJk0UOn7DILw/L2lqR7wSmUAG7Oiy+209NiSljYOczOOwopIL
QboJz1VkNocpnN27xjKXnuxArGv9Ycnz3GvxBsXq3o4GC38xN632y+SKxY+wUx1Oq9VRoMVqkF7X
T5VWe/3QT92tNCYZv45Ym7i7NcPEPnCm7Vz1og6PiWNImn1OkOZi1VlGYV2EKf6sl3W0VJ+Uy0MI
rL63jdzTEyAPj12+phpZ6qJrh3llXR/IAwx50XMEpF+myUoOlACG+q1C4lzGvlCRntzVo4hjJKGN
wkkGj0UmLN8lqi5UcxrEuVXGRnLtppO++i0b/iEzRLHLw8Qp2WrhcFHpdDCu6FdY4sYtZye7mMZW
PdOJeSL16E0HSxUHCHiFR4x5V5pR+Bk9izQJooKgmKRtdtX3OpnZisDIdMqlG/v1umA4Aq1DPyay
tfKrpre6/KoNh+5yqOsq/YJBdP+iNVnXBfOg8RrtWT5mg70NdzKXs322p0eHXKIPorUhVwfX1M9e
PsliD1lZOV5aTxG5AaPKEbM7d6ZfSyTs6O/06fUEywQHRnfr9ED8bh8zkjHPFCDQT7TSVXe2GrfR
biwJiA9QkCyj8TQ6UdTnvJRh0TsY3WGa7GbdclO5S10nuY0avOF3BuyV5nUezWz0tZjO1We0GnDD
bYXb2bsyNheTpZmYH9uEeuSwlGnnmSkBtPbGocXFLjKH+Ksris58tKYhHv2l6AyqHWnn4+ylo5tr
vyWJET67W2pydGdY5g+LU7/0Wd7bpLuqMUhmCzsbjgpPENdXTlu8VIIt67lYdvjYguj2Lle2+9b8
y6yVh7C4O/QtQ5tSBlP1/WzKST7VkabgHycqpDOoqQJlpK5GoiAgKSmmC+FU1dc8ny2DOGfHafmI
UptKfbONJ+uY9vbyjdI5Wi/b3AxfijhflcD/exnNcxFPdvOghbojXgwsM8Q3SsuYzkgaibOq2ozY
oceLb0ZGM920KpQ1vA5mS3bkRPpNojkO3WxSD/1STAiK7tXYOmYw96tu7UZn7EYvL4b5I5rIhv2p
btV4q2l298kNpfEA9qNfD1UICeioVRTGc17M486xXQR913SsP/HMs8vSyIC1OSkG3Gic2NWpipVq
fFGXxeTVWpg9wdSdvUZA3qpre3Iu27nWbqQzzVeOWmN3X4VIL+xyscyHBluJg1Hn+snGk5mYV1rd
Y6wisXyoowr28Dii9+OJZgj7j9OAxOtnBEQozrplsuMnWsOW9Jxx4TmYU5oSFpRlWBUZh4R/7Or9
Qzw7JIkWrYQoIstIhYY8rFy1oAUGL3bCjeibTNir41Mi2zU5mLVePyK/nmZ3pltBAp9xYLhLuBHP
SkajHnzC9tJPXktvzPpQZ7G0favmdh6qKpyqfdqEaeybtqyn5w3reqrKvCguZynXnM/ItO4uM+wp
/2BFciJhWxJr77q1Vh2BUMrpllZ0uSNMlOW+FSLtAjMecwO4HMawu2rSCSLoY1zwLmhHhLWoasrt
CdDyuCz9XafF6eiXYjDyC00bi/WA/Nj6TRPYJnk51pCX0VrNbJ/Q5XFkk77LlD34TdNPF1ZlkHDG
SXm51LG4A73cwBBA35E+B0INli3DJ20FTr53YcgsD/SZ5pGDqNONb73bRqbEAydbaQ90+VCXp5IJ
RfI5Xpuu8HlTEN7dLCYzJ2LmY+HHTVijX454kbpCIs2VvpqcejjNld24B4kHONao4ei4iacJZA/3
k7K2TailYxThrthQMRF8siBdOzWdekgZyjOruc/Zxsy7XgbOzvBUt70eBSOK2jpIzMK0jcfKJkML
xkm1sS/t0YHr0ztL9pg4yNQEOnrzyVNOQ8P2inKI4wd9XokekaY5xoUjjUL4hTJzM6joho1+VY60
tjxIUHMUpJAL9Q923bTuLYYgyegtqEDXu2EJReUt5mqTwaja6L9qLa4KnoDqoW7xshnlIV7qSX51
+FLTp44E1TmLzsilb+cyM2/yaNIRTa4pCuKkK4q7BQJ/tjfTTi8WT0C2H2lgxuUaUaj3tBxY1DNJ
IR7tYYOxturCq7jSk/Vk2PpcXqmaPq3n1NaEXnodty+6sJL42lzDElxSqGflcXBHzbyBNykd9lRr
rRPzn3Kp9/g3Tu0epFtd+ExVxPBcTkWnYZC49u5Jy2mnPOl5sb0hh8InMFpVp5BRKcCK64H+YebD
r+i7wUOLxTAvdccUFJei18pjAs5ifJ7MRXVB6Dhhf5iI11PQirrOdrlluU1g4kjTZ17TFku8pxrM
1WVoI78G+DLf7MFwS6uCNE7UfBH2unR9eCKREgFKDDobKgkL5tmMQqvowhlnayVn6Wv7SJOgYlrf
kNt59GGNzIMwuqZBwzLI9/Y8GM2LTESWa9QOht1b+N0iYvJaZ0UOnytjQtZzmBbkibav5a06OGZt
LvMpM1zLfUQzuujPE6X9XPPFEzu1yUFmq/ogZJLPnzS+jdK82OitathvatYUpKO7jvb1sFXQl6FW
ZTPJF3hZBKaWMIo+LIXRUay0g+Wwwe2MnpX0mbUIqlW9K1T5NVmorsH2LbLQX9p+1BqSASkomKoe
buOIW03VXnSqGtwPguARkSq66foti5lGfE7Tqcr2dmSX2sTTra0SL2anTW5t0n32sqmkLfY1qVHz
Ete2mFyvNxRqzZO0B/feoD+XYP9C/79/Vq09ZI+1NlTaTRUx8Lkdt0IVxYLFzU1fjg26xtDm6jY/
xQVzLxaJXVv7VlL4ODt8FIfmEgZgJCZ/ZYZUUekmrUxkoAundy+nmknSmezadc6kRXb3sczTrL2Q
kTVVJ23AmP2zpeuh7jtbzrYfqkIbvFyak3audNSpbrWhGxJiHDL0viIzLnfLULjtddL1EF0Kocvx
fs2BNPqu3jHkSay8RGKmjbT+q+t0dXhvTR3Bv8TfIB3XC23FvpuUFV3D/DTVkbWQT2Fx7Rty7ofj
UpXKOrZ02adDnjmr/khXUYiLJGMS6Nd6AQBgB59Yb92AtbnS29o6atq+aU1z8C2nSDWPPXfl1N1i
M2sUyGPsdQNodbNPNIN5j1My4lm8HIs111uauRZBG0thH/t5UOuxtmdNL5F0M6dB0dOL8EqrBmWk
Z2G0XfcoOlTVX2RkD8WZxDaR+1zEg/o4TYxmgjxy0wh2IoC0m6Qsc+cyjPIy+zi5PJjLxXSz7kIf
sNS5GrlXE0fzZRU36SCL6GJOW5U9UOgl4ejrA9lyE6SVW9C2ttFoS3R/YDPXmo/2h7PUAXNA6ap9
BhxwkzCWv6FgqHeGrxQCmMWuYBTUDScSsJYH28u0bm84p0saz4BxGKWRu6nlo8Vjh1ylRJytD0xP
wnk/spP3al3lmSLa0S5NLVQkdo6Oep25jfFc86CnjlMfslQ24rzmFcxrw1yq/rcpGRSiFdmAdMi+
j+p5iT1jcoRkxmkCutKbzh19h8ZG97kYkay/qZBd6Mz9JvVq0NOYBebubruqMfVVMU1ZsBTt5ijX
d861aEO7PNkweadjU9aDFUTjUpdns0Onhhapzry1Wlo57BOa+IandYah7ZlR9kmQu5Gi7KybriZD
sorE+jJLXOQvwzVK5zskGeye3nsctus3qxRW9FxnlZ6fdAuq40mn69tcoRrQ9vc5ktTkNqWw57Nh
a93yujQirc/LEmkdDb7ZdP1VkY549JcHZitJ1wH2a3r7atCLbvL7BePQU8stpMGwmmbmg413mJnb
9gavHd29Atl8nY84Az/oUxZ1V22/GuWFxPZu3d62DOE6qH7BGb6TdvpMm0+zglS4Wt0h1ko943cl
q73YkVlnHJAE0q3Mn9p6+qC0drT8RdOMls3iNi10iVpsT1DVtKvIJFqhPnRyzDXkBhKZfBu28/Gb
HJBPgEsuolNTqcXwdOJd/tFqW7Nn70WiaHqvdjtY1bSYMIqSsZ7ogWUKDXiNFTXhtRnLftoTRtFC
HPMyGV/6dK7nc7XKQnxq58GxKV6adLhYFrnOn1xZ1OOHTcPROnbFEHoFYjeNRzYabc3yeh45cxlg
3rjLouRFF8M0uGZQUkB4JzdeaW01GV0rgXGlLfovEFcb14NYZE672akzunZtE98BkzDIiEZMme9S
kI2ci3hsoN2oRjdUj7LWFUjzUmeeNR7KsG2q3kvg+9le5YIjsHxm3+3wQiMponlLw0bvv9CtWBPN
c3rS19QTRNmeHmJewfbwEKmn7tzP0EMxBypn24l/g2G9DK03TJjYNIdi7EWS+lODfjh5qO7Mwgha
KwbKEfxb1/bI82rCPTCpsnpfBxHUeZrbN6GPULL1YPHb2uU4xVF9UvHW+40ov+d6i5l2+KEyu3ZH
t2AdAFlroXb6t3CY9Xnp7PyIUPc8B7qTVoO3LrH4wMCqHAInhPz9ryGY3isLOYtdFlXZ5TtdPaX2
vTP+a+D694JCIrdGxjVc10ruXJoWifgXKTTv5YQq1BpVmEi555jUaSKpUb/qiNbdTzi8fyFYxcjg
e6AerTCzB5HGZEJj/zVxlfSXxaRVaCB2bU3DyRxTbAGkasybuaN1S4GVarpfaTPv6ccQqg1V9Gdo
o3fAsogRzZxordxXuJnmQQKp5QrwYOOTrzF+ZBbnnn78SX8FpnqHBW2bjqUGpniPIEAjP/ZLFQ5B
HZHnBhMnE+qkyD/kZKXzUv7kCf8FhPO9OlEKPozTxBR7x8WTo0d2ZtfQa/7JF/qrq79Dn9U4+nUy
VgLkSPGctcbj5NbhT+Dif3Xtd/BQ0vSmqKNQ7BdsP7y4XU7JkFv/4sXfIcx6w+jLanDEnh70jkFq
4oUGnccfv+a/uvN38NBwHpNeqMTZR7rWcaaPoWfEnP7/2tW3T/0nbKuZ1RboIJ6LuRZo8/YKl8m1
+vjji//FCtWt7y/utEYx1XPKcomlMr919JQmX3cWE18h1yxqrx5AYx8hOYn6X7Lns97LFMVuNEk0
W8QeO1TxyW7a7jo1aK/++Au9Bdc/2d3vRYpkuli0hSJ7X7gqpgOtymViuML/Xhajdx5tMm/+S2kb
pXNI6vQ+XZN7g5UmjmGXDDG1ShTvcGf8No8W1s1eL0nJfr+7//N1/vfopbr5/T66//wP/vy1qin2
o7h/98f/vK8K/vmP7Xf++2e+/43/PLxU11+Kl+79D333O1z3H58bfOm/fPeHHXl5v9wOL+1y99IN
ef92fe5w+8n/37/85eXtKvdL/fL3X798K5IyoOhpk6/9r//4q9O3v//KyNcwNtLOf5vKbp/xjx/Y
vsTff/2/5bcvxZfyly/lt1+uk6/V85f2F7A6/LH70yu9fOn6v/+qrL8pkgYFnVC3pAGG4ddfppe3
vzH/ZuqO5UhbAQ0UcnNmKnFDjf/+q2H9jf+C9K/DXFHqYNR//aWrhu2vnL9R4zDtd6UhTJ2fMH79
r6fy3Xv7n/f4SzkUN1VS9h0X/n7jSNfRDalzZwZ3poOufHeYMFZijJbMGApNBW1RUTyXtZvtLCk7
jxS73ldr/to7SU2mnD1XBvhuVWmG34y6tyQVwE63pNsxT4IhcPI4ggD0/+kh/+OWv7vF7ZT5n53w
dosuGj2Ih0ieiHgvB2SNMMyNDL8TtwhnjxLX3HEcMbmJ1Xlsmi9Aqq6dbgi6COZi5jQ/M4R/d9j/
1w3YyBzxqKR6z541M6N2J5q8qB1xA9Y6jz5AOIuuariLm9r0hzAMPfjpF0PcDF5q/JRBuUXg94/A
cTfpV6E7IDneEZ06OzHbvMhphmGeCIpU3mPvfJ005c/YMNuF/vhB2KxDZVbKfE9Gctaw64F5NEi5
jtWxjwBSyb5+qpoCbP/C2AeRtspvthb6OE3Kl6FenrXZvBWlUZ5pzWo7prfhFxp0066dTf0O2ufo
b/viwIyvPQ1ltaANaGc7jQreyzJwJcKham1Bt8ERi9Z9OJg3jQZQLA55kEvj/NaF3QkgnhvYSRNe
RKXmMvSsl0MnVgb54cNKNgKQY72vDFfQ7Zrm67nLXg2gcrtuzJ/Lt5IfTfjVVS9jXNxZq/z041W6
ZQ7fPzi2BKMU3XBs3f6DsZ1cSz2PkgapVCt0dyREv4HzpPXd9n5omoB94kjRhRrVT3Joc9ug33+w
LeAqSVda5lsY4e//6XgtaiXrTiGW5XZxvnP7PD1JcGZHk/5dEFlM3BK50uptTXFZLGzosgOVKN2S
F5qDls7jaD+AXfQZLbOkDTMLmM64KLVNywGUWO+7yrSpZcF17X78zN4IFu/uHbS6BMCrM8OT75M9
nRYEExB0uJRhlkFDV/gyijOowiP4QoYmu0z2TB5gKF/Xs3saLQChWXQx0BH2wsI5/R6A7HlfibMD
FswDR0RxrPGlJVACD/hd4tMk/frj+/7ju7Zpp5uOMAlIAjvY7x95bya0F0ZuGzs21Euwp/RclDB+
f9CtUyu/GXrla3Zu/mx//vFlA581lcMczdABq37/yYNZhHS70KMLKUz9cVCup5L+f2ezu8U727FM
Q8Gg3rxu3wsplMCPLK3Jc9r6sjzItsku2jB+/slDfGN+vn/7eMuawBMMxvLvuWBV0UpJ1zY/VGb+
GmIKt6HGVOlFjNIYj7LJlTZxtoyg00pjzS4Kkb8akb3e1iugSeYbnDuLwkByVH5BIb1jlKkfcwqx
Pfhc02/pH/hW6d5rjsaA3JHX5ry0iC0NbpDNQ+qNRq72GmOEXZJjlY3f0EGfiW/CQAoNcDUokoQf
w1PHOOuSW0uHXGd78PsMeuhKrtrsmSv/1syzdkwj2AC1mQA+xb0IBEFt702ze5x7l6FwPYHb6AGc
r8mzSK3bol7Di7BOQSda6WtrDtWxG2JFs6Y8arOii4jX9j6vktc2CpmJVMTcxpL07EYcA1yD9V1G
nemPdf7sjKxBsOYPzVqvAOvUfcziANGZcd/WbZko7TjFo7mzzP7JKNnt0xa9lyXrPtWz6PDJo1E7
z6WJjBMfhlW0/cXQF8Iy4LIgn5LnLprBlTWN6UdO3viJKT6XLW3aaCjMO8CNJA/JykG8OtpO5ukr
FUTnjVHvBgUmqF7U93dIU704GacnRivnCOw7IwIC9zQwTMs4QIKU0tYvWu1JgqIK7LBVvoqBswnX
Cv3B7uI9sQzsm0ieLZvXwSgg8bWOEzhfGGkUdnEWef0xNdQ9k7uCbdj2QRa68YHkx+JgwR0jt3g1
ZdfeOdije0U9fCDBOAAJeG514KXdAAJGk3m3Uxu3o1gIlm2TOr6L8HTT5K8l/U/UzcfLph8v1yJ7
zfGLOcxUykGEyKvXTUCgJ+sKMiJiW+XoBqYur9Evh5DIJIdOtZ0FJoONIKxZ59V2ZC4V+RVsxRoE
TfaqRRorljeLGcirgFbnZ3ojHscNRl5GmwE2MNlgDqPXig4y4GKiNW1PN9Di6jzLLvXA0QCdXYtn
qyryDzTFmRuMmvuxQ0ZnTeNnx9KrY7zo7aUTynu9z/mOpKdnJx3IrbYXQ2Zw3TktsFCDw+Nt7S4T
y0avFRClMKd/GCfPbkjOKCLr1nJzdeiX/JmRLSZUrHCjZ2u8Ldx2Az2H5byXM1MJgCsH2uv3tSKR
iRs9+30LFKwww7BuSdy7AMQqK9Ku16ty5mUNyZZtaFyvKjYkW8wKgh0BvlFnu9Q463qmOcbnSde0
nTGFiV+7LNqqT57fbpzbJYsZynWfapxpSvG9TTF0nwagPHt0YInX9cxWk3F9VQEJ2CXQlHy5gF9f
G3kynJl7KqBEJD1oCEBv52qCTpNmYbqf+7D0CgKYhje5p6Tgd/geLN3s9xdc6OLWzJsnkAOu58zp
a+Nw12GTPr+Fi0Fmrz3SwJ47EgnKNOIDOge0Ehh2v3aW1AOc3tFt5CFSDJAPreRTZMnSG4VxBPGe
nvPKzYKsISoRqLKds9ZPwqzOb6cTRA+8YCKegDDs8MJ00tdFD8MbE9BTQZLkJw5SWcD66z36jwHx
9FuZE0wsk5XL+Kbzui55QJKKkKdx3ZFYmzkVD2QWh1bmzz351RbO6IYS8nLn+i0oDYLwQk35lM7c
WzI412blrMcmF7fUO2hPA7rz8NJ5hoOZ+i6uSB6+pv+oJuItYXESS9ttx45Tyeu3bzgt2eu2JZpE
3G5HgXTM277mxt7eQW2q6wTdTU9nAgxH4YyHtvCNcls2JeOn0AQIVRntk57axlm0KWyWKN+1K0sF
v5Tl90jn2gQTSO331SKIqM6q7Ygm0wcQYf1u1ti/wEfM3aSt/JZra8ccFO1Fv72dWWPlibU6rxGQ
Q9pw/Kd6nS/eInFCwzNInCgPJsBL7GDSrGV172VeN6vHbzjciTvvu5m/dTtewJAMNRORYd1rWZFc
V0rPAlfUHD8dEYE1zOW3cwVDL4WpL8lz5ohbow13S5wtBwvXIi9beJDbCptXfpJmwK0g0uxHBuU4
DbLoWkXggYTYecVI9HFHXo2lSCi2t9ul7VNSssNxPTR9qqAS1AsXbEaqgrf4m2/RMWzi8lBmhgWi
qKqOTdr1u+2MaxUfEMWsajGwgeSanR2HuzaZjfn0+SDtbenwkKT5bpjAlWlhvjwAjqiOkumvZ8FD
9XTUS97WStkXz6kbv0IhuA/1dOHAaJkCjTzq7bQJFXEx69kCIXI8V7PEXcnRHN3D+dz07L7NsGMB
MQe4o9kjSw7SgEnd9QSQJBAo6/i2kOBfmviY1xUH3tI310TJ5jKx4/5kT8xcOkH7arbiOYDRxDhv
mNxdVakwSBkYeRWzbKCrMNeObb1Gz2gjMiSwgGPvgd6MXg+J/gD5iFRjTl6rpnpCmqrf429YfMX8
Z/1o5Wl9qZfZHER1/xFYcHSgzkkCxmPGk24bIJmKpSQjtpIAKEoYWNaqH8Gu78VKmTRW0ZYa1GN1
akUsb4wBANAEMM+3cV1hJTTVyd0KuIx2sdes7bVlxPZe2rNxgQvi86Dlc5BKExBABrnAnNZuD8Zm
vVxbthNj+Wd3K/MqWWcBEEP+z2VYJsQUg0qDCEAPPwvmMk38adOeQVlN95nCQHXNI5scBdheXGSc
vAtPbDTbF7QjtF0/guA1mjKHDlT3O1PaJ/BusMEK6YE9WT2mrxMjWASdMxe389poUz9J7ZCPT7lY
z8VsY+Daawkc0jCGfTuIi7waP0egTl6yvo2PReOGwTSHTLdN5yteKLs0Wr4OM8mzZsQELU3v/Arx
d09r+txnNUCnyWixOgbABIBipk4NlziemVhHDUMM3+pAH42RHZA832hT5uOQRpqoD/uIXtrOjXin
UXylTe0lM82KRTg9GPp00eJ14bkJbUmltJfaYfHJycx25myY0Hy0L6In6qaNYYEJsm+jLIXt0ern
VrOyoIwImWjoMrlMECVtklgPurlg126Vz5rBRNNXwlIyJK/GXKl9HJM/GSGRpirj5cHqbebU0lyx
LOMEsksnfEUXtPJNw80fy4YJq73qT6NJqNCM7qlEE8Yrsqb9Gq2MlDiJh93qyP6QVSTB+CGv+ynb
CDnUcJmXakDn3uK4rWVnS+eciwgOuiFQORorOFt1y29tFb0AvxNIi23K+BOJYN24tWa3BeOVZH5b
sG5hlTJbidTBnqZnNQ5QPMrxNnZZMaEqAPCX2JSB1nrd7nN09VuD7sOhcwzKQk5rT5Fmo175DM7s
Sc8GcmSh33ZQrTwgNaxQaNoXhhHjC6lLBhoyuinz6VwvxmcKyGavj6K97HSzfRi07LeUMw3c2qEB
13MxtQQ1AHvZFdBbbQfKyKVF25Ndb+F07Yv1Khs48Ua3B2sk3HsryZ7rpTiTYMw3K6pGZIHWVd2S
12iGOhtp4lA3uonfm1MCcaf4qBh5omm17nsz57uCO4eSlMY3Olyw3xKdZ1+SJu+MTJ5ymxVW56yG
QXMrEiyeaZFPPGdbuo+VVbaX8MKn+6LRdGjKLDdza14l0eJPWRb7i0tcC0H67bImnnFascwBCsYW
pAuqFayyyL27fuXLkmOaKyY5ZYJWedVWxzwycGUeupOh0tdSi18BED21LedQV4prWH968Hai9zNF
2JbuNNtajVgm1wCeqPLICSiuzV1qLdoOHrvr2duZWS4VnIKtallnGkQSPmAwRO1TVXD0jNMwfYgA
WAJG0XnZ5ebAAUDtYqEz6Sk9nz9kTp/dNcOY+IVu7DTAg/7MyAf/D8vcvZ1ybV+V5wSfTR+0jxtE
rjLOyPYT9THu8+bYWj8XloxBzs/Kp2sx0gEZBORmSGWDxmpSSxh+yaeOq7TFq77q+nMRjuU559R7
W/3UmzuAHMkFxeorTQi+Ve7cAVo+OMq8LSOOyS7k5Epr7WVrVAl7bY5DpMYr0fBGlmw7AyPWJ4zp
0e/IoQgKUX3bqrLgMFM1DBkNXK4eXy8JYYxmZLYrJHyNTPQX2rAmRNwaGMu67uyGj18AVcDPJcEC
Nfwhb0dYGzbCZlo8GYGKOYZZ7RxxOFT6Y2nfvp29amafxnZ4/+PC/48dZ9txdGlIRLqRNX1vhDGY
g17HFXrX9vaYtpLK7vnSspt7UNX2bRKx/n78kWKbMb1vNTgwj3XD5BP19z7iYzpC0U0XlKlL6lyG
pQz6+/6pqelDpnqx7lfNyHhwLCzAmOse1iwwtqx+FM0nt6nvoUdDsIqprbfMZpC6tnOkvM/G6EbH
7NG3Cig6CEMNQTwBSqqn8cYpwJiYbk/O3UcPb73Tt7JMGibMnSJ+deZ+9EFvwmVfy2DSeuNsAsS8
cOq5OM+aQQ45bnmwpOzqrY0eA5aSkp6BeafpUOC2ug9JbPducL+lGmKUJRwRANVb4hknledQZgci
ckNAfMbPXOiMP3blGUJYzCZwSKIR8V5AKc0TmHNszkPYUca6OIxddANNEAeKvFNk4hFFa2I9owM/
G9jhBvj9n7zWP+nDuYr5iWPDrN0GGN93wxDGb0RiZsMhlZ3tdeYaH2HxcfA5je1lGlJXsTPq/pgn
VvDjBfU253+3oOgYKJfpNzGK9tX3H00wMYYkA+4EXW70gF/JIAW2dpdMzsaPqevPg54iwqGveF6I
9KZCdfujqiEIWLPx9OOb+WPP3qY/KqTNeEJHwf/dvVhlr1NuhsOhCy13lzdA/5uIf0P2537u2hGs
lDYF5dTmxyQa/3dGjW/NQuYE3IByeRWMsr5/EgXf0OpLrT80LslYRkPHxzLgZ2pUfxI06DLDbxQu
fc8/jKk4TU3BlAy8L2RSf0DrNWjT+bO2dNfA6n9b+jz52djpT2KGsoRiFSnTYO7z7ouh6RGRlhQ9
zuxpdxn2NMyT3m5P7E9aOZN7H3N8erVO9wy24nMx58thnI3aA3w++PmYfFvzxx+/6e8RH78/a+aI
jtBZeTSB3w3qa4C5idJrFnyWfq6Agr38nvxmKTlePjc/mXC/m0FvnycEQRq8MA6z2yDy+3c7mFJz
wjLrDm4irwFuojesiXJXhXbi62TNnjE6X+w8fQDwecp1+dAmjgYXcboazAxgPaiuVSTrz4Rit/76
95tPCGUKwVJnnzlvI5F/GnlYLmpzkYy6Q4FQhS9zkmenYd8PesmRaZqnoWrOMU2yT/gI1fuu4hVB
PaSlq1VPBrApD+E3+Gu1aXqYYS0kGdb1ZPSt16fpV6c7il6fA7ivt/+PujPbjd3Ysu0X0WCQwe6V
ZPaZ6rutF2J3Yt/3/PoaVJ1bx5Z8LRzg4gJlwC+WpcxkkhGx1ppzzKWzDnqr32qccfoQWQdMmmSj
dOEmsujUWOhivK5ATrpOHVNTxXSvZoknc/CJrb7W1ioUkCwocnLzlJxLQytrHdu97zIJTK7DP98h
2udrs06SDRr4puPY5sd5riOGCYYm8d7kQU14KOvQs7oQA8WY0xez6s6bIx0fKFxqtxsG9f1j0lpF
ql+XHAgtWrUB286C0+tYqT3pLugkN8N6boYbtGxbVJYXWhLgfWw6oWH+5W4tPo+0LAM6CjkmhslQ
+qOog14Gi27DYZNDaYvdHSwiPTU0D1bz0muYEQDrnG0HlapA1+oqWbxtRvWr4IHPM1fLcBxuL43J
vWp9xGLmyYLK0ArrHfqIozZyYTTuhLgYzC+2Me3zSsPoUNiOxYTX0qyPKw1TkAAbJLynoKArmHAI
EXO6bGurK96ypaXDATvTA5BCVbSSIYu04c30xDsH+RD6YxX90Cjh45F5E+5WeoGUgFzfFMoEv1NQ
vNPfPjc6s3k9ow2HGkf5Ypb3d18aAzwGoIbFqvFpclxQuWpiiYhhbnPha5mEeVRMlZe3nDqnfMJj
P/a/1nppTmk/9XX0BvbrixXr8wJpIYtgnqhrwGM/bROZ1rcWvItqB6Xlt46VxuMy8GJZo3nj/NWr
aZ/PQBbORctZLXQCM8bHnbcEa4IBBP8sp5ttWpWzv44ll1aDDyBCgwYuB+qlY8ih2TK8BobxUk5l
ejFzDvdSRbpsi/mSyXrZDxTebgr3yoVSoeJeaodLoo9fAPo+76O8Y2MdFFsmK/pHIUGDvSxvJx4t
S5njXdlWna+kdCB6lfqJVrbqD2r2xdDyb07fvBp3hOpwXDSMj08Smkx7LGET7YKExmZd6pJCfNLO
CW6mfZR39FNDhPAi7Q8t7amTo9OoXHuG9NuVTa6Vqk+6rEMcIgVJB4+GRqgujrRWxLbmaFnplJiR
SdmtG92LtlBNvPdECkHhhHje3mKQYzWLDfq16/hFan18m1JReXmpR3u5WHIXptgf4kB/zGoYAkJh
qFcJ03YXhg7bCEqgJwPQM8Y6oURqdjuN9EneZxtlJlWXmdvPtRI2446Xm2CaiOBVVyY4KVU7bpfl
S4XY3y4bJkBdwcWVKpqNv+7Olb3EUSNZNsK5i27SnDGmoJbYaobsXBrLJXsgRW7saD9om9PNNvii
i7G2fVyD2aYwmxGhOj2i97U+10ZGo3MMfEq2eC26Tvv2PtqUFd50h2ntMWfcfRUlfAn/vGl9PsDa
rK8cXlGcqBpmrb9+kCaUjGAbq90VFptxD0LPz631kZDRcAobB1u7veTfJGZP9N5D+sWe+c59/ut5
wsbUaOhoXpBDiY/6HseeUmecyDdUM6ZopdZMNyKl329ndML12pFPRWXkXoyq+0Con+qnkh1yUuhj
k3pFEZeCpOxVK8e8zG3K3sVEyWIAhIL6VRX9MZ3LF6Wl+fo+f6C1IRT6fAHonwja4otRrdMAgyZ7
QlNyp+Zrjw/zPYO0Kr5t6lE+qZnhI24/NwMQB8NcUJmumpc8dN74l6FHpqi/ZZtkO9KA5x0uHO2L
8/DfnCxw2NvCFo4j2ZXNdRf706kLMk1aJGNU7mqGFO8DglyuI2HBRKiKeQyXLhvdMF0Ok5qq734E
L4ifGB5Uh/cxzKL2CKcaBxX+qN5m6/pWmw8S/SJz8epbwUTfD2dmERa2wN0/32Kf1z1bMzlR8Nyr
1Iwfa6QeQlib03jZKbbcESzE3ISlIp0pUd+7UVhFvlj1Ph2eLe4pzqcUZZKTjPoxwCgS4FWalD4H
re3KnavOcuN1cv8+i2nfv96eodDA+oKSA9FIv44Bhw7fg15O/aapm3RjIGYB5MSa88/X4+NG+f7m
DM61PG+ramj9+Z++THO2k0RJSVeKoxp2RMN7wDnLFIBxGWkrXyUA/M3LrY84SiVdUEx82naw0bQM
ItPdaKx3rZWfoQewIrXcO9SOX/V77I+nYIs1jhUFRSdCNkHl+NePFzUD08YmjnZRFOE/jwfJWtiQ
ACGdLaMmJ3JH4go3McHivs4xdI/rMNjjQSquZCmt51Hmzk0y9HtT76/R008bPFumK8eh3ow8oz6t
jvaU2VWxc8bZdKuuiM+FnjioVXKmm0tXbNuYPw753Fxn17dALJIDwRMCCEaLObnUch97arWnhpGR
h4Ng9GVoJJ6qR8NhCsYtHcl604S13OVaqB/RcihMVNLrFmOKR9mmA4zAhitFE5/NWkkg9aXhdUGd
vF0GZfCh+9p+H/GDSFN+iFVtJ8a6v505qG3zLEh8K6JSwwc80DY0NDqCcAPdmDm1X+DGPCJQNdCB
pU7im3ldkAQo42MPXHBEaVGktKwCfadbtb13Yt4DDL7VaXxfdfI6jIAmKnSHT7apQNxSFvHaY4Le
4SI3vnjQPsQgInzTbA5hGiJaViWVev2vX7YT1o2jZOzyKCjs/Xvdo2eoRooWLELDWSrRcvW6qmsC
lasRy/syy41WrV9gmUrfbjrwP0nPud5qrMSPs+hnpiVY25EeuuwMJv2dQW4AnSW+zQLpy6IptgwR
pLd2Jba2vigPcznKs7P++aTsrrtIezAs1CbjZKIkMXp90zd5scfybH/R/flYPCD744HiCeYcw0Lz
MfqXlVMYOs6qbdQsuyaaXVpEXywWHxfP95ewuNCGo5rC+JjpTBVm0AgA2p1PSeWXA73QoRkoM6oF
MUin11wb5auq6OOhgBdl7ZQcbqgnWDY+rFChAqvejHC51KVVbxh+YX5biKEZwlQgGGCkp0ASPZRw
ujzZ/acOn1VOyT6Hzo8DPM1NOi5/vavmOs+GJAdU3JuVwlyeLGIM7IufJOsL4rI6VE5n71jtHmg7
pLtMmsPjPy/S7wq4Px9M3t8D/WqNWgbR7yoQ//MqzWPTWFqjmFsAVUQDzHW7z6XeUIir7eI2AxCc
OFfb75O6BFdcSHlVTqhOwbjY90pqLSvXo8HQKZNtT/jfi9pqXMq65XQXVds8jZo7GHntwWgsPk4X
WeeaiO2zVY31kxaiSnCnQsS70eludCvE1DIo2ReHL2Nto/3lM3KAZSBg6qDmabZ9FFPOhPPImi10
2/NUnYGYTVu1CnHHDuVwfP8QTh9lN+oYWuc24gcMHgPPWdTFzwTakYUjmK/Ti4AiGIR7J4xs3wI0
xHOttodp0d4qtBh7bNhIyOCN+nGo36ZarmNPjofjskTtPqvNBgXAYu/MyRqYarcbxUgAVS1mvclM
/IAUIeuMvVC2eaUtPqFnblhF0zbFI3U18ZvbCkiJG0XhCjfA+huM2Q2E5aelSXQWof5ojD1vVqqZ
G9bRAMbM6l6Usvj1z7fMe57Dx8tJRxxNpUUr+FOYR+Xgf1uom7YAh+id9CQEWMlwjsPxHmB44Om9
FNulE9KNzTnwABsiODIq0sjh/bpKTPcKeJXwMofHLIEPcarTUP1OaJLFeNlZTvwV8zwMuNmATxeA
GGHccNHNHaben0tSwTNIAtVTOyR7RtfKba3BJsYc3XiKWT712dxvwSY+5DSk/XRp/uOTzVoQCaz7
zvoAfzrZzFMcMWjjAgyZ8YZk3r5Zv/AGUKs3inD4ohf5nrP44XqTyYTMinYkxICPitwcR7im9h3L
BJogP2GY+oI6KjpVSyE8dcmnra4GyVVkdtFJwy7tMiLFwTWKxQf2yDEUJ7fHfOp5cILzGJqXYDHa
rUCqMpnHOUxKv565OYcE3Sb/r1dxsPEVh4uLlTXwtZFbkrPnW9nWy60GxGgr6mX4TTZ7u+91vkiQ
DcU5aVVzgzc33Ebouh/HIWvumFoTwQii5RZ+9OJJDbHByjze6OZSb3BIDxcUSc6BseJth8lj76Qz
t//i9JfcLCywhiXYDpW1pa3IGW3Xt8MMLltPk8OjgcfabwfWSiUi9s0zNCvZgoPkVuqU5EpTS+y1
8AFe9cDK0HmQWXSOolLZOmSne+0QggrgQrqRJcxNREODYxRNsq+y3D4dTCWGHIuGwiqqXpf6v66w
rWlmKQBIc2s3KEsSIInbpjJYYUtZ+pZRfpmC82kvlYKOEPuJbthsLx8dqgl+J5PPYWzFwNHSxkHz
qkHrXLGwLFBtb2ukiNndrhsnZauT8IFMrI7AXnb2fobnAxsk6N08K/PHOFzFRzGbQgruGNKfAVBM
AyVxZLMGE4R001cbVrC543NAy0q8XrXFZm76HXZ/2K2avB8H/UUq4IewZd8HUfyLSrx3K0aZp7xT
LHDRwFmIjrFv4Ehomyiz6w10D5pFRVSRVDd1O5PO1U4ykN4yNmcZHnjJycn0LzqMn78qRnwo0jli
UagbH6t0yOMogxd8dzCJOIBUvB6yOeeA5sjeR4tRf/F64vPBkrINcjEVLzJ1y3I+HEFs5G21FmLF
Q8ekk9CFMlQICB2k53W7YlGj0+TIeBO25rYq+wYcBl+Imdb6psy5vNZYMAoYLZi6VM6e07NRqfjU
fbWUDaIE0e2qmo8Sm2Vzl7cs10axbu5G0LDzxNmNUZTf5/WLCgsjQHHN80pox3f0i/UmMVGFJmVM
bB69yYcSqsdhMe1LNkTplinDG87/0gdw85Za2Xct4r0rKjBWcK5AVE1uM9FPNFbK5qFdWCYA0yf/
vbVWKUetxg6jFxRl+sYhy+ZWIPJFI8JC5DjskhFP7wkwiHoaO9ntSnPdTfMUMXjFuSSN2Wf6vCf3
e13mCO9IkPX0849i4Q5KB5aIBXyWnzZNu0cVz96TcmO3aVU/xXGqwI9hz8wa3lBlWaVPx2XxHSVi
CgAG5F8/zVgq4MMoIFYUqvkSZYjfa2PtTcz5AS/wF5JIaw8SIgnrDCttLEbOA90EE1dM7SHqVPsi
aqbpPcTvg9OF9r61WNwKGMG+CqzVLwKn89sS8Tea727XhC08FYGKqOgCID3rx1SMNW1cWRa/GkS7
6ecSU2YdOAcNaMTGybD+Z4v5aM7Wzxy9rpdmUjuwsA1nPDX6hsWfu9iY7d1QZxxZ4KC57yulY3L5
UJryCgrPWeVw0olyrn/k6B1FO1/H+8Hh/7Wj8xL/bMq2fOv+F1g6BWoP1AmswP93T+flexFXffNn
/+a/f+1fBk75BxNQsgRtGqRCsmr/ycCJ5BpDoIkGgHVijXj+l4FTM/5gdEVRKqRgtafl/j8GTk3/
g0k5Yy2VsmKtLcz/xMDJIPbDARorEC9Dx8MxDOR09odehwH9slJUiOoJqM/9HKmpF8bOUXaLTl8i
ZBRhhNNDil5yhxjWgDa6TI8A6JV7zvbPTejUF1gby10ISOMEUQhi8iBR1OU1/UcR0TSQ8V6bSnUL
xDCscbYHT1Kz8wsNiUPbBDTGe7s/IYS+U5ABA+Kfoh+GAufJGJLC04YMDhetDjdLWCLc1pw7V6I2
3CpAPHlugEk/OPNsQx7vAncZ5+rSJHKKfKOeVY9BCUGxHKHwOqcWcHFHGnundab7rM+jl7iqfqeL
Ulig5fSaVTVOXmMt+THSad7HUl4lBVjsNMrS08gs3291ieJQkp+nFAg1yBLi9E6F3ypBfpegpr04
qbGfewegbU6SXBMbk0dOGBtOHSMrj+KXYUrAUXZVnaFDXGWf7ViTIqAfVMSpTwlGY+RrfbhtNNb2
lluEjIEur+7UMfk1Gq1ktBNwDif5ovWEOrae3aqvuZigDiIKG3BH4C1gHB/eD1DWO31U7ofeym6H
zFR22WgEhV/JQL01RssGxhWOEeSpQiB0Ebi+W6S7yEHctEl1N80iFSxZh8c60DhPdDWTaXaZZvDR
+5oaYucoVA6Qr7NTNWVdsg0WLUUMjSgtOC2Y/4ZtZCvOaQA18dxpTYBBBvNntHNmaqe6o2eNzWmp
TX8wONe4zAaHAAMDQQ6MsaT6k6iI6akoJmBdttNauOWsup4BjeWdQ9dgdjhWpKnp5rUMkUbinxjc
cQTpj8EpiV86PCiXBWxqtRFlEsbQzgJ5HTEtErAhFEHWTabSsmoYeDjFcG1IvRW3c9rZpeckLSJL
jhKZtRmlYPLkNGIc7xKgPNHemqe+PnKH6aGHOC5c/NaqNSSQY/FWVnF+srDahhtw+k2140TT8p0D
/T12bQobbhQNJC9zdG45qR7sFD6wRgfRDbF/dGqXo//UVRfHaLiR+hWHmpestW6mZBVFxqrmtXED
GltGrtGolwy9uEtC1x2SxB9BJe973ACgnearGMYW4QCXfOzrcxKi+U7LgxkxPhyqFTKSAuNYvK4p
+cq0kao+n/NDqKYwrYj8/s3tDOivIKtMvdE6jgok2tyqao2pe5xcjCnq1iEmxOejvunLbd4RgGLz
OwxQX3JFS25bVT1UZhT7Y9MQYbTyIrU2MUm0Un7JOEtRNCmBayrtjW3Ofksrwa1HMjIG4JT7zFgy
t9ejh1wfol2aWok7Znq4r60wdU0T8p8zwy0SJFpC4lvAOXal8l1KlBS1tWMcE20WnQSKAX3uvrBV
GL+l7gNRgnQCAr/0A1GUFzVOzFdnDu8Ry8Z+bGs90F88YEOfbAFz2r7Qrc7r+8D6ucil3TRi3gh7
as9AbXG5BPYhwu9yGAzrnqXvgmckdPV61o5pzByPOOQ5yQDozZq5q51ml1d2v5Om+itDf0KJNv8O
0+Baj8bSGxaaGLK1H5RlEL/Hzk5/9Ev49qfd6ea/C8s/m+G1d6nivwtOW9o4/umXCA1J0iqg/NDt
LEApKXTgnL0SMqqLSAFwnSXDPBdCSLuOSpOnRFl6gxA8eLsXtZziF8pIRPzTAEjVzc0xYp2k5wnq
twxoc2tV72zCKW1m7svYxhUiUgT38ZDOT2VTiJ/DHPA8i2akVLWqzIJ3mC+N6c8cejVMLs1wTEXU
020PTaU5NMJgsYDffxrmZKCd8r6aKO8rS/2+yrTrgoMmIFIOfTcTq8FzOfhRgyPC7cnd3dpRmtx1
iTJbblar1qGpa5ap0Qx/akGF+LcLtxXJPucsaLcEsei4SGK+TRodqozGk6EWJy1Jo5MeJMmG9u/k
pZoT4USEIQzijlqy1++WXHQwrMz2TPK2satrPMgOQCZPlHHr51OwIwdAO+q91f0WNgFXzRCWm1rn
3LtJW8iKuzblEL1LkLf3HhApDOnBwtNiqknD3U0lU3pMT5P0Pp5bMZ7mOsm9DOG4G+G1okbiPKfC
wPIdJyyeotpZbsyAqC2wmFdx2SSnORTyppd4Xlw7CItvLAqtl5GVsTVwoNHmYsbBF1on10OFCDTs
DKJQi+S2yUrtCDS08MswT8SFGUl6lTvEn1CcdxDYM4Tq8TlnZnaKiK+5xiCl7Kwhkj/tYFB2FAPd
TUCOlltaYfgzqGOe1imu+9fZYPUayLK6DoxevY05zPulED8kuQB7dWrzDWqrGhlU3txkERqQ2NB2
Wc5IUtQYTca2ca1eGU52yBjanBrGKVFLi1Lz4dDbbt3NZ1IEXqJwmTZcuecMrTTG1jjgkzgEAdnR
gJNWPOROV6IrnfaNXH1OGRKMSf8VqmLcMgv5iea5iFZGyq6KuqNOVz8CDJhp4kQ+6XMQ6r5dA6Uf
4NwKEz6/c6UOMOxnAJ/bael/kRMirijkfpeEDqDor6QPRqPZ2pNi71F9fDdwvxwjGyteSw7WL1Ih
x+Ng2u1tXmrzoQVMALE6tkkVSDnbD+1PDouGB63u1yBXz3HeQDRPQ8yxIo5PMlG+gakJd0TMi6ui
di5Js8wkZmPHLIjrYOotyi1itgBLK7Bz/AmLB3C29yHvU8OxWmER2HR25XNK2JZV211Id2voHczz
zpJV6+UTiGrwFZdMiJjqRAPbIGZsra3A3kAxeosDt6XkDDe6M8QHpbMzL4SPRuZAYcVH4la00dWU
TP7GTzlstF5Ub+if0axgB9zKfin9vGWKpOcaP42Jekr0NNnV45Sww/ba/I0pAi1Sc5q1Z2vuQdQN
Ta6+EAXQPeGgUtE1gRF+I2xBI9gjQFmX9CFDN0ObINQrTR8RCQE3FZYoe3Sz7tbp+8ZdvW/iSKfZ
0HULCsOezAM2+uF90wdbywEAMBOHgen9YCDfDwnmel6I1pPD/99C6i84nf9FAB3KprXeoUfyD9VW
TFTf9/xDtfWvX/sfXI5Ea4vulAbuWlD9m5WzzvnkuuPp7H2MQv5PqSX/kDq9O/6hXSOQDv671BJ/
OOyVjK1oGvG75n9Uan2SuMHdgeOgoyNgskyt9UEOO4kWSLTIh30xgCxF9VExz67zXZOIK53mzwEg
6LeEXEs80f1vLTCDS2jgn/zTJfubI4DzqeJb34eGa9xYpbkoPT/oZXQnVEpRBsPeTFtAgJbYSj0F
1OOxI0bRSdb72rwJMI32MS6e2WhZj8PgkkRT59aN/tDXmLu1/dI+LfGVzl6pw3b0YrszEGKgDjKt
UyXINRp5XIEx3s49y3fQcrzHsuar/ePYJucZwMsUFJskb28m2L4Evh01vepJV9kGbf4s8/BaSSq4
r0b60Md6s2n18Lu0UjDVVm/6lH1ThTO5qTYTL+T3NmNZAiVf2rZ60GdGK8EMUUG/GR00s1KmVKK4
63W9e4nMMWXRXtStFZIQMzGPoCDYGqTyzNqlVEr2AJ1d6pki9C5Mknv2eIK1pr2mW8eCWDUG5TiM
6vtpMsgdZO4xT+kV00CgzuFgwE0v7b1uxM+onq4aezkCdfxNiOPeVl+VVn1cD7A4wi6N0dyZgdhp
XbkRk+KPmla7msXbwObjzT21AJb4Mht+xbVu7vuFsJEiNd80ZwkOrJXRIV/0fF+nfe1P1nLqxHhR
bMQ/eH/WQBXN02fzPs/CQ6PetQVJNgBlEeyO9/UU3tAl3SKKTbhalJhZMW+wknXmeKwT/THHG+Gq
iqSHdF8X0xtk58PUqt8WjBIzQiI3GquXcIxJpYlPWq0bzHZDPw9KfEvOI7eXmxoQM3TKOIGuCavK
ZlaHq1AJXoJqOQ2mfsfMkBXV6h/B1lMy/CpzklbV4dRTINMSCP2SWAtXdAbzL63w0iDznal7TeBg
ajQnsPZmLxa3Zh2Zj0wxVReU0C8W+ACwU+6XbZIjpkb+l3Q/1a6K+HEAhWY+dmaxscToGUP0nOTi
QebPVtMs1wlam+dhyU9tKm9h2g07ex4dtzHD8QCX10c4dgLVQMpAse+i9MXsg9+pUl7m5boyHluZ
o/qrSVEFo3+rwal3lXE5VGHyDGlt3PdD6Q+48JbAIo2mJkIHiKChX8v5tiGPFe2j1zaR4ZZyLs/S
YfjSQyrtzeimm4JsEybdnmEdmutuMlAzGiQ9RDcEVZ6LMvcaQlEKvfAAIZF26dzEK3WEzfq5AuSz
pOaPYIk3yVhkKCnEGlMoGp6cNKN1rG+APlK2wRTJ7G2d3jB/8MZK3OZ57otSbjN1eVLtfD9o5J50
0egiRXwm+NiTSrbj1gBBjdvpALdbMoVRew9u/VXZi2OkcS7Ulsd40Ay/7q1vMRQiL40NAAMG6BAO
3fl0jWN4h23OKxbbOg3FuGG6+dMc5I0IkvVx0q4dtR852BnXsRMeUNq9FmkNGtH4VabikDC1Qs+C
HVsr822aFXujUMdzhp5lW1rIy+ip3K1wOm8J1OsQG9SmEDeNuXhqq3LlKRZDVTnYVXwB/DaCP9WZ
kTUDFRsuXoKebkAR38I4r10SxR5iu9hBDpZebESCzk31ozQcX87mU07XxuQ/+NQNW4LPEORNJT3u
5tFammuMht+I0Kz2kejJO8FcSZ/q3hrH0CcCYLK6UxkG7pA3D6riXC96/a3LjFet0yB1B2d17r/V
c/qcAjLfdRWfA5fErJSbZpg3ixVrd7NU7siIOUw5rX3bKo5dj8WCZLDFrfEfU3k3yd6yx8Oo2pCd
9N3SVG96mu+IFvtuhyjoRjLzCCDVLsSZ1m4B0MITtf2bBunTZNCyRumygei0rfXVPSjhm+RYU12Y
sXt7cb5r/Zp80RLO5XQqmU2R6mmJ8qiV+nlFm2x4wq66WTzXToGYFEGGzHvg23n7PUktHoycxNVu
/MYQ8wbX+oMy2md16K4WDQd1m1hURhj8aWwRxyJ/r9kZrtoAQxBxeyZ8G0F6cEmHcdukZuzKclzo
4DMGJOIDAD6sXpIrgo2upicevUMn+mJDXtxNUw2YJaMwxQegXKRKIGAcxr+astpRYd5xdgWXoYS3
bdbvSAxag4m4kummMa1L7+iHcpHHsR0ZNRzNqPNSbLj7kswIFUOpaXzr9fQxyNtN3DW7dO7Jayu8
mpQRVy2DLQD6XUUNXJWvUVtQXFnPQyMOhA36XSZPY9vtx6HaEiXnC+ZlHvoO2NRT4KZJ56bWfR2M
Pqfe/RxfASkmoARJ2pjtYS9AmhEvsBCv6Ucw2SOwxXJ2ZH0BKmiD/UIIDZPj5oF4ge9NCmk5klN6
NJtn22l8I8O/O8KEcbT9mPVnYZ2nRfcB45BEUTS3yqJf5omVq5pM1wGqTT6FdWNM0e9qPoWDtSkt
ldDTt3xYrlQD3UnCwFrV35h3MBfuoWDD8uf8hhE3fou14lcUymvd7K50s9nHafhAGOlG5aROY8t5
sROQAv1bx9yjnlk6cwKUjebKqCcewvKFR+Spno2jlb0ONj7roXgNUau1aXLu1f7aYu6iY92BnRxd
UGI8Az65bdryaIF36wGxzFV+XRv5ax7CoJ0V+cOx6quhJ6Rzmi9WGOd+l+i0isQ+1wmKFv33fulf
AFKQ4ELsrEh+oj74kevzKVKwogfwnUnUMUqiJQDBtHjY8ky0XmIDBr/X8qPOohCh0mNZ7pHWdDm6
o37TTflu1C9LYh9GLbsmGuk39fGGAMcYghH7Z8mEdMILndE6T9ULnIYAvlJ9DmV62xQmkAbzrs8H
8gHpueTdN9KZMkDpjwlCdb1WtoRdXFUoWBhfla4+oKiNLQMMIqVhxMdKbtD5FL21I/RxX+btL2wi
pyhO99NKLWq0s8wJmDWn7ODU66wyO8kJQZ9lPjVT88Mhn2bTSUn6+BDhdlVa1Mzd4k1J/jiBurul
Fys8M2oxGasqB5uyxDYw6B5wmWOaZF7aaRRu0rihH/ON0RsNmv4Z5t4Oa17uWrJ5atJqX45rZ5yc
2LVrqg07Ck4aJg9Dh+qQhRdEk6cb+V1NFI8XtLtZGBtrUEgLugyjAayKrFaELQABaeuObwQFegj4
uxo/PjrNoIuvk/aoxLNvkjky3U1LtC1bbKDFdR2AqiElcPLTKGL/iJmC9nckIAFxR8KSjLvFeQwt
7ZlS9y7uVdYDexeHD2mc7nAh7ftY3iyI66qmPxN4eTuIm1znBgKTscSvihqRDE7YRtkb7szUYez2
5qidaUgTy1ZPx8mB8z/W5ptDf4dncya2AxUKUIdyHzgUEhVpB905FnPoZvYDAWwAfrvvMf541PK9
bwQkv9icH3rFek4J1wCH+FSTsr7QD+u1E9YocBgsWZIj6RSYxzo370X+MBibsJzl6BHFTbs6wAzC
Yp0/hqqleETVx0cHDW5vsSOjklqOFi6/S2WbcCuMyEFtt5SHINAhrKiN070YY1pSoy8Dqm6jx1Db
zW9F19k3TsIQlUnD8GsgbGODe0XdkfxD7bCYhCMASvM025g2JaOrn2aRRbe2npsntQ5ps7LY53tH
q9KnEm3jhoho524hZ5g1u4teAciP+ww1quUmTFk3Ha7/I14w0iMYcUWbTF+B7Fl8ENYc7q1Gqr95
SfsnapLlB/mS6j435g5EQSLuS7PRt4Tdd9d2hJlLLZL8pCpWc0+9x/mYg9lEM6Job+s81R9s3rGn
OOii5yQaGeu01akcZHjolVnbWnRRbopFmfxgFvYhJGqB8EjsH7u+rOpLwZhiw15TeZPhLAcF1sVF
K6zgiKKiPZIpBzcVXR9QuMbhupdmdekQMnuFNl9KG3q4G85qco8ExHpSG3X+WZVFfUo6M9iG5hJe
y2kpv4E0dK4SvagfKXR4fuw2zH/Yidm/KHCARwZvUXItaWU+GE4S3cH4m2/bkQhyMTYGfZFkum5K
JzrN8mmIDZekh2bnLN10F5RCPipSzgPNmFn7Rk7BuJ3qiqVsmbJb0tN7mDkETsxsmK+RERNAW/Y2
8pRp+kHPqrjps7G7MUBWXZPumhzyGIYcWq1VIxaTkVja/VbMRbijL0nYsl6hsB0Wk0a8JjyiPvOd
Awt/R+LEanObYxhhYYAuKWMCJ/TIeNaxYXoTy9NrYpB0WE29vpeJJU7M4GfWlILeURbflNPrtObk
xZHhDV02X2vQO0K3yufhnuAGbxYx84p8V5ai8Pt6+WlkiULF2/b4LILhIVDMR7tYrs06/WbG2V4a
+SHCUyGXnsyyLt4r5nSqYxJUqtHcGPT2FNUOfak4G2Nm/1Wtl1GpDzTA4fgJ+cskW1fXku8STf+M
GgcV67bD8wRlZmRjkMaElZjW/5UdSnVNLnietPJBK+QhVu2rTPZgbsi2T3Tecb8bUgRUzZMQDNEq
pX1BxBi5ZC9zoszNh0EOj4EirqsZpQXpYW4cped5Ug4kdqE4CodDJer/Yu/MlmNF0mz9KucFSGN0
4DYiiFHzrH2DSVtKZ54ccODp+2NXnu6sPNVVVjdtdsw6r7eklALc/2Gtb7k7z7CLY1mtOt7Fvp2D
YYNLptjWWRWFbXJNfLJCq05RzlIAV627H7t+XynD3jUR28ABN2xfq0uYBBsYFHviU35vKvX8z4cd
uFb/br2NpNnDpMAqSuD5RPkT/mXoAiOMiskT+iiKV9r89LJMw0TUNGRrZEvz2RTrDreWyz3nU/Kg
U+E9WYBEbru4FZp1czW+BflYfvq/XpV8fWvIUA9vvPVNStZ3Kl/frnZ9z6xfb9z67tWLJA3GqRig
MNG9HtZ3NFjfVgxTy7lY3+D418s8SUdBJM2Ns4x51+f1rQ/W9x/+lYzIv26vS/bVB8glTr6BIByc
sjifd+TNQ2Fz0I8369liracMbD59kjEnj9nH07Z1tfPkezPnkqWoz2WS9I/kN6pHs1blhel9d26W
rr+VC90YyarWox0jTcKDaPLn4hz01hPRkLX1ba+nJOlv6SlhgRI2bUJ82nqYDuu5aqQSOMqvwxa4
qj7OeZD8qBrqjMacwwc3y8Mocez8BaQ4DYPWHN8EgopLO+vk3g1r62ccGlNEbtaWwAMu+V+XQD3k
1kGvN4Na74h4vS3q9d7I0pAV/HqXkJcyUrJyv1jrTYOlgEuHT7M+STh5UbveScF6O6n1nkIrmJym
qb6q1zssWW8zi2st/TUzDha1fDEkvECcDbtNS0zNi15HzMGvafOcFvbr7K0z6HIdR+twkrw1BD7u
G8kAKufZjAYxIjcoKeBsfHMbZ6pufFVUN/hIUjwDdnLTjDx5DtithqbtKIwkxDvNSvnDLT0Qngix
Fpqburf2itClDg/jr5/odPT5fhkon3va8CsepipJtqqui7u6ysRH0Nr2pcw4JA5CB/SrrAGpFBDh
VcRXCTf/dMzmfnQKNGYNNst2n8QOdQndwpa8n5yBV4ldMet9pmpeM0Vj2z4kdJtHbbjvxBOSJ2SO
dBILdeXC4zsjoOCymaLQiJ+yrH0q+qSMDLLRdwgqyhtAJljgaNi/aWJejcD0rp0hDCPVuM/kl1MB
GbYTmeWYc8IS+ozDpXgItDCugnTKIy562K1mnj75RLZvkKsRTy/EU2plTwHwqkvWhvmx8imzh9I8
S8eC8jomU7In9pCip4cnBv3rR2qZzEqs9Pd5NnKWX0tCVZwPkW3NVx31BzoN/rnmwdhm/vhGfGB9
rpBf7itBlFne1fahnYtuZ41hSfCAewiSGjxDRQZWAlZzzzCVsYrZfRTrPitkoGiKqd1QfTw39fSC
T6d61EZDO0ZA9cEdhjGAXZRjrvSbZFfkeMogZjcgAS3r4GSi2Qf+smwCd1T70eZdqwPmmrGq6cAk
+0w5qR+6Gv3TbOXpG7EyPzyroILwmu5AmmoP1MCBNL4UA49VykKdpJ9tZ6l00zeCUPB4wdQMhXPb
Zx7p5TIsKS0ak3b+DsEMOCMEtTTFtPwJGX8vddzzCc90rTCYxFaF4xNf552k4xVcu9ion1Ugqkvd
e/HJbkLz2HDtXtex/2VhmXvKbWPhKeBAMcrqiy7m98wRT0jREOJbqc9GSLo3TY3Ej80zqIMw+cLo
6CH2QTGRt6okRLyCGT+nn/Nsv+ni3fSya2zTPBFg9+bKv1us2t7NefW7UMvDbNWCUpjMZHaQAMgI
wrbB7KXyRnX2uHMyDkfLpPEYKxZUpIN3jyO78mcYHoru1fqJUMlh9Z09+/BOLLxekYFums646TZC
WsmVJGx89nXCLJn3a+q4JADapzsG0jeg5ll6DiTjoZoBpYdzKjlKonresmBtMolB2y8Ta6/NhFxk
2Wb9uPyI07zcOSEuLn8ojK3rMfTy+6z5yJLZOUlDmJdEh9mJOFd1G9d+fzci9LnzYmP6JBaI6slu
/eO0VlTjWlu1a5XlrPWW/lV5rTWYbUCiMAgj3pEJRnXGies+g/meHrq1eBv4i/+6eP/H9ID/n6+x
/qlo8KlbNYMf/2CNxZf9scayf3MghK+K5V+UoD9tsqzf2B1hSURjK3AqrHa1/9pkeaS1IznGyhWA
4P7TJsv+LbRD08XYHtgrZj74d0SD7i8MyH+pSPyAckq4Dt9QCKA6ofkXZ1FT5YYxu9ZwZEQxM2ik
EWdmdyzHstiAZn3DjSQ344S0zFPQRJe6/55s+xUZ31vpF+ZDTBwZb5n+6hFFAd4s10GIGHZklRnA
RdrqMW9MdVmpW+sBWO3QxChkv9k9biqsg/B6j9SSHKWyuYEpiY8snRNKY++tpjjZi2F+qGnpyqa4
o1+AzSY9wEJgqSEdIj6Szo0D1GHj1Ub7A08DAyf2SUdOYsEIB9kHNcT4I2U9hmT8CinxmGx6DVWy
FPKOLUa4A2BtRGZL420hFrhqMIRd+sxdzo3RiKukivGnNr5brt7q+SUOmW2l+QfambecwWKBUXeG
g4IPhSj3Kd71aGG2Cclgm8x2hwe40QckeO5Vg9j4ZOfesF/iud5JoOKkf1oYVBBCzBP7G88afreG
8EbNkrjpzvHvXWx+27BJoqRV+WEGPIpJtq2u/ayG6T2p+NNhhHoUlB3nRCHgQuRvb2sd+icyjZoz
SQTisxfzj24Kk61DCboSyVAGhoC7G9LYPgcRGtexGM1TqGnB0l5nu6Xw3Osl7wZ0nvV3ZvX6QBPs
33ZmhmlWYlEYMoucb7MOGJX6bpQnMDd12HZMHSb7IaD6aojT3JL02d4yfczfnHp+c4MmgTY4k/qz
3talMq/c9f5uajdB0M2dnnOppFWQH/06/BGu974Y+efYyYlI1ZbfRyMFQr1WCvwrUKFNl1xSv3hi
IfHkr3VFsFYYpZzSJxXDj859QAcKeQUGc2oSvVYnrG1zfHOhE+m1dukpYnyi7yKfWfT1kLWvPK/h
97TWPKs0lMl13e3KtSIaG0U7GIN7miJRT4g7KZ6ytYoa13qKxc0Kx3TfCyLHCMlWD9ZafeVrHSYy
R+3Loe5fTDmCKxfBwziHT4Ao7yqHdpOOh/Y0cdGfjoyVVqEeKPFJrctax26Rm8EOOVUx+yAqta65
c8mGiyzPMBBL5cVtCNA7QqKi6bOtZi94Bm9lr8ZzLNHsSnJQN0WScJyF6rD0DamGGRTUoOicC96C
7EFlLtF0jT0zBlYvllTTYxmScKlZtx+tXlbb3hWQSzMCMNOxfCGTNN3yUY2R9uaROXbWo6ocjPid
mfsYxbndXhFHIM/LrFGDxiP7643lEYw5xN13TR7oTlL2Mo2k/xKlO90zCAx3zQSGb9KDs0XveSbq
wrk1uxjKR4yMRoQ6vddWQamO9u7WzBYMZ4ZYfvZzyCW9UChrv2Y1m/X5plms+zjvQfTS0axVUL0H
7w2GVMXMrIVMdnmvA6B6DaN+O/GqIiqLsmLiZIpdqI3hdVaheB7k4B/bYI5fgVohwTfxLnmjiQbZ
9ZMTzKH50vpe+gw9mTlu3QoHRddiPxSLZdwAKF0o4orsVVT2q5nQNdfkmEolq2OjprumH+3vsbHG
FRand0aq8ExgmgEPMNXLOUjIhg/ZTNEd6e/RUeWt3zj6HM70wPROjB/ihnGDX+R7a5GvgVs0N9D7
kcWU9s4Xm16yiwQUiXZ6JlA8MNrLREAlb+4aY1lOOf3DmPgXtyizO73EzVVs9dltQnTitjaHq0Gk
46F0+/a1MoeBWOqS1U87M3abIbgOKbStUs38ObMlex5D/jcKPS8PcbLcTx6iajtAjFjPOj012XDP
PcSkso7BFJue/KQLWo5WYTzJqTXRd1bQue2qv63zwNsFEE0IOg6QNdnp1YQI8KGVbn3vZSb+qJT1
fGfR8SGLWDszjDSw0KmoDSKDTpguh11vtN4uToPyYHZ5B0SxZ4tbtj5hIShvR9/hFE69b9CvKP0E
jZMbhvdIsX6mdgBMKWNzwuqWrbbZYHcZ6WOdQS3ROMQcLzFe8bqKX0ALcSuu/w/YuJxIppDO6z60
X4ORt7nwbBFB0EI1lpPkifzdg3hAPK3+NIhKyDYZvscnuwl+91S2Cns5fcG468SKAju4HXHIItTM
HQM6QKIfbJ1glwxyY+MZ2YM/WeuqWWQvDeyvqEVzHBFM/1ISBeYZutgJ7oRqK4zwnS0vBKmw+aon
HiihiqexzX0AIzMowMK8WcaFuQRSbG677Fn1HdQ0wwi33fpJB/kc752Rej4oOXr6sPpiE/xJXfxj
9G3CqtkjMYFF6hD5+GNWKUx6JpDgDppEdx2YEg4IDB+0dcSXMoJYg8btHcoGLH9LVQF69YkJHfPu
CUtiv1uwFRxE35dHZ6o/TINTCILkLrbjSPTe51yxzHK9LzaOhEz1Fls+x/ubb/Z/y91/EXtmrz7Z
P43k/p/Qs9uvVCV/V+r+8SV/q3MD/zdXmKZLufq3Svc/zTGB9RswAtMlp4ZwFwpNBnv/t861f2Mi
ClwNaz9yBGulj/yRbmb5vwWWbQm+BtcdBpnw36lz/b/WuRTZK7IGu40TODCSLGw4f3bQo09tiZTu
l31T1K2xrckNqDYdydHXrNSJyfMV2MDGirG5edz1iMjjK8L8in0MTvGSZ5kVxex9QJY7KcvxuJGc
iKhDGJbG2u8OduV11zTCJPWFNZ02MScBw/xUd2di+to3jpsCX1pdnMiVTo4YYLojyz5KGrJejm0r
q1vuFHhNrezHcAfykDKyzCmPN+xvEE7YLqroE7MH9wI4Psat1rgqigfHuGZSk7Ogwa7NmCicjO8Y
4DrLAG2Fn2nYBVvT1MzbPCZlBGOzqipzamGqY/GqzMCeIstkdQ0z3kd72aUdMzCb8Trb/IptXV+8
68VMr0F7PBG1vOAiKseTl4nuQ4gFlZlNHi+wffFIgESx6vDtA9J0FUEKTDbpXCVMvw3i5ikye6Mr
9tz8SxTyp4ssmUE8aVH6mBVnXFfZLN/D4Dogv/VikwG9lSr/smXjbQbC6R5inK2nymoKBu3j/IO5
LQW6BwEAY5BRrSoYSshNFjjOOa9TMsqV6SCJUAMO/U2NB+8CsTFtMCMYKJILFLDtppk0AqMy8YNn
Sy7mnZjV9MCivghPASGvCtK6bG9zh8AgDkFbfdR+otuTxvh+EVLaCHBqTUJvUKKVgjA/oqzvMr8h
yh0a8zaHprPmyLgDZsdGhnf4RGxnK3rfDfYVwbpnNalsGzdFycAJyUa643ZI071wlYOrO89uSAW3
b9LRyH4YLLXR1GliFjKjXn+lseBmDIPnplde5PXBdJWrcrztLb/gowxHNW9gM3n9BqjX+BhYdbJe
oI79OmB2eqmRBqOS0Z11T5CIuAUvNpY7hDL1cfB8lgKhq5utHsb5tTdt+QllFy9ImjiRYyQS72lK
gvaV5lca9wgCalYeRRdvKyHSh8QfAiSJOQPoXE770ivLYhvnhMm1jV9fF3bR7+X4aHfpsPX0uPeN
5KXW7UTXMI83Q8/f2FJ+9j757XDn1R10LTdpN0FX3fZosp15tsAbTgv4tsKhvjf4kxldzYSsxLvF
hVweCs/D/k9zlRx016Ua5c+KGGpAECwRwgG000aDCss1TP3tZ/F7Tyt5xWCputZtOJ0knlTu6cWH
ya1K96pGCXSuFgXvDcRhzK5ZGd2mGuPqMpDDG+O5ZhJG2lTqk7RUUEjnHXISmmf/WiHVeptsgpRR
MjVUqD5LhIvXkON80oFN7jtBDyKNTC7++Ydr8iE9qqDVO0WB/sUonqkaQh4y3K8Cnn3G2lZLCfZK
vMA0nZLM96xNJkeacah6ufnTEXEcoikjynrHIirlowDgs9GDH5Tn1ODbb01rnJ+TwLR23tCXr5Y9
ueWZIOP2QBgGHt4FF0G2TweOaTwMiG4i3xuKVwwW+kD2mOFtOexfhjbUV5bTqxuDQfFz0XlesJUo
Z/GhF5P55fuZf1BI3647u873IIjj/dhnsQDwvji3iGTxA6vYeifGutj6Xe8hWAiIW2gaduDY6550
ykgPgOrizdMWRGL9Jce+vl9cEX9nhLkfc39Yvjo9jVFlm3xjK04tyV54cacDWxlPPUFkRkDk+gr6
ec/ucXqYVeuPFC1qEnsWQot7khmqzL7qYh2lGZj2I045SuRy0GVxXZV+Y5/KwRnKyLNTPWwIolye
EM7YJQElbr8qUwWNrCLpTxxs5PPQ4lVIAgmTCa4XyYjeSuj9FraASAvj+jCHKHVNjNdg2+Vtocri
CnqJJC5ugkxruJJugItnU2rVnAeRkRg+hEIf5mkqr6F66GePUftVX4ci2SyuDWq649fZdjmvxEZp
bEA7f2gd0P9GsFJE6SxRsjR+dsxlpRFY4Ob4aeKzmjdYfMLPpDXYITdZqtlB+gm20bk1ybQS/gIy
HxbbPG/d1HNn7I918aB8nwQcJHV+comFs/pdBtj13GB1ld76NelKusQQdcqWxj2xp3M1hMtao6iF
jW0po7zUc5EeNZkt4cZgegIyiWPS1ElPhTv0e1V0KyZieXBHesFNnMfDI0EwLqEBpCyZyHo6f9yy
usT4bSOP/OjYmRfgiCbx2g0ewWeuaDJ5RMgyJtHQkklGhpsJPMKsM1LYZ41tywrNZ/bU+rEPZQ8+
eZz7RzaR4aXlHaaht90HS7XuK9y+kkV55Z6VZ6D6zvC3aT1fL2HhTmS0oagMvPwKNAqgd15YJHXF
8gWgwWVg4rjzzP+iEoR1JqUytiUfJZLXtuzmveq0gSe3cJ3fKZzAojRGUM73jjSTZy9xxvW7m8EF
xbmQh9SpnedsyjjvaAD65oy/v+/Y97b9rcHcOd4Yox2+NkSnHK0qY32eu2brHD3DwpHJ/CKediKh
XsOS0uUeKivFB526WVbeAgQllyYYVfHexrl526EomTelwzJs241zRQ1BFgCy7QIdY1mVt4O9GBhy
4sXZSuZyj6xVjI8gYJm59QaFRhPrJAeNWSbuNinsNZq8cBFrlV17jte4laNoTMyteTKob4VJFYka
U/ZgE+N79Y/1DFN50w2EMKzta6pQfMCg2gnaa/RYfamvfVq0hbYCvTOmS6v5Iu3Zy7d+NdZnlbRO
s3V1+5M5anEkYMn/ObjodbbBRNratreZdmy5mRaGUG1G5ZCZ8t2LZXflmZBYgOAs6G9m+jOwJM+B
brG1FODcrAh3AimancJURpQEtH92IqaLSx/zZ/e2VDXpO23OZz4OYriZcnz7bJnw3MYMxThTMpql
AlDpvK8QfbMGXbB2GXGPk5WUiITcmbYd3tOBKRy61tCygAPY+m0GXs2SCsmaxALlygu6SPk8sDL4
Rijo8EqPuqijeqgXcBJLxaM3ybLdLX3XtJzKg7IRd7qCHFaWnDRW+NBGPJEvYwt/B0dbd+hYx2zw
NDdbo5yXaJmTAwXpMTdzAeY0y6o9KlmyZsyFJVQ+9fWZrUrN8q1yI1P5HIFpmatXnRIm4sp+2nLv
c57kPJVnSXwfWbJFw9pW6icUqhoHWszSxHKn97AVRYF42mw/ZVeShIKYwfk5lfVWx+tMqV7ek1h8
jymuZnYpkugMe7Q2wczqfkOAh8cEqhbAZWPcU8AnkuUANMPGLNZ35pvlchu9EioFfXuZHO+OSUtw
WlLCrSKnK4r2KHsSVJhjDoj3h7AirkV6U7tdOCB22q1ZkgpmMsyMGEwfO66Lbc8dcJrSonmow1S/
xD37Qg/4siYyiyrTSKrLSG9soHpmBXQ0VBmAHK8qp9xUdqifGGJW3RpeWB8cP0eZYFEk2Gnuejum
lMZ35+IPo9YQfG+Cce45gXDdDabTYMnPa3VnNjq8ck0LiAYAhPAuz6ru0bR+pTEIzHCogav2h0j9
VeHbZMxjKNDm9wBw+s+B/Rf5rz0uswsvHoVhWiX1B8AJ9eRZo3M1uI59V2J2eYayljcRno6ay06K
mXtWzgwsU4NkHruejjw9OtmDKx6+XMZxqGeXNLwIxy+RBxAVRWBmpwOkZ7NTjTuCwQwk/TYZW0WJ
5NtQvnyzfVJLZh4VTKWwoYipqZ0eSHllWB8haTxnC1HctbbLGntesJZgYy+pB8oFoFRhOjGZtavv
eAlndTXHAsJSO86NsVnsmGFqUrnlN4dE9pFp7V8XjAkdlN0tQVpZZWLaZVfN+tpKCK9KK9hpFjtT
JbLxwsuKTDzVBqgZYMOWg8E0cHJWrszlIk7Vapf4hm2R3hMi87SY9SZbhBjyGYxA+CVDst82XSLy
z2nwsquuAWm/8Ql/gwKvOuvTGWCeTCZmkRQCM2oC+kbtVk1U29Oli2e2BEueRSF201snQ1nFADzD
e2lIcCSq4GBp6uykO9yTqLTaj5BRJauWwfuRgmn/nAoAdkiKZnk9h2DFG7tmCUMY1+MA1+DNjkvz
MdWS/s/nDrkhLibWB5to0H4rfLvPQcF7ps30FFF1n3YkJvJaRFOJrxlfyVEHFAVV9YiShnw17Jrz
fciuCwlX4wAXgJN1mWVVoNOc+uJFJVCWp4XiglVFsSRbtHbJF+ovikUCMKPWQxhfdc4i2T1UyUX2
4XAnrDg5FXwAT6E3Fo+cF8xaHX4NKiMkl+M63e41Fy4mx/HJ1gaO15qOyire/YzTFjaPfGzr5V8o
kv4CcGKOAbODDHCWZvCsxV+JUQHSj9Jp+oX1jpXdN3rpb9xEWDu23P45XQr/YFXAK/40c/kHnq/V
1P2ndR0/1DcB5PkBYz0fHv1fHF92atUYT/LpoBNZXFFl9HcyxgFMzlbyhARogIUzi5PSuv3+5z95
ZRz99SczNlkDMFxkM+5f5FeN5yGtKNVyaAOm0HC13XEz1cK4dLMD4gM1yh8Iu/8dxf2LURxOPpfP
/b93Tz73KPr/z1338fWtkj8vn//4yj8mcu5v9G42G2KgigC1LeZuf/NQ+v5vuBdtywtdmy0yc7b/
nMg55m+u5QG7ZOSGJcRz+KI/JnIrrsZ1edZXnJ7FDM3+tyZyf3mcYPF6lkuFKkxOdsv5yzyuJ7FP
UKKPhybrw0c9dPMtiygKCweG7KcRLnBazLBttn/6Q/2D9wdlOtbRv3uQGSeyBif/3ecXZyz4l588
4NMeJw9XmHCHeJ92jtd8wDznxklHC/07U0AS0dJOD29FkzVLhAuwyQnXKxw8Ubk2BXjwBk+e6pzi
PW7jFDEOrzoGuVkSkt456HJUw34tLxnEHTWHaYdd20KdbemezI2GRfinAyzG6eeuOti87+84M6aP
ubbDl9LMyiQy7XG8n1mvNGyqRHpJIdcghmrIid6icxneKtdP957ljbugLC9uihwf0fiMiWCLO/WT
gQixqxzBCw7RnYrrn6D+rCtajew+HHL/NQRpSTiowY1UNozSE88V9ZZLJX42CErKogVz6WlmPLit
4vnbr0l4Mkuyk8fMPvU21gGtk7sgGfz9OGGZq5gvbA2rgtyFh0E3E22tth/HwGCfFeJsghy89bKi
4squB7aFjntbNXoXTDUwEceUO8mgaas7pFjkBhUEXEH6EA00vm6yP4i8oesL3YvpqZ1K2LtL1FFE
E+417p9NizGO+pVeVXQKc8lS8I9qvbWZlt3qDmqKOTT9aYm7bhMXatizpsdb2LkDQxWCugaJPr/X
qR/lTA+JU4wh72HePdmmwlXLnuHkmuzUqGJhv3XDcI5NlR4cndhQ8wn+GjyWE+QAD3tGw4xRylwc
Qq+IUT3N6WHRnRGNtltLukJZnPDyu19s/uRxcE1jB1TXuFnwvZysuk0f5qVQxDzSEO6kIhZ1Q7uS
QKjITAcUaQAfYAff3A0JWRIJK1jHVR8zQac1YFyMIlsqX/9dDm5w7c+p9cnKpfzqfcCd7HMaz9nY
iR4eZE0k+GTUBNEysLrJ7BBD1dxeJNiNMxdbc06Wsn4tA+Hyt846Kilz6ZMl6jyE3+jHEhBlplkL
gddK1HdQcikAzNhDS+XWebUDLeDduCpfTARiDpcVcSAH9lZFeciNJHgsPaODfw0caNeKChcLHWoP
Lt4HXmd2Du20aufxHsHTvHdlMsszEhFIMq3Z+u+qDyiMiLRcblrfqRMw+0b8MOvAPJl9OrH6amV5
tfBCnXKSoCHWoso+urTqT3XXgZcKRJDO/DEHhr8OBgnW06KhwCrr8QWQtJeAKfL1Yy4mex2guJ2O
Ak/L9jzr3vqu24ZFlVNaL7mTtMOhLy3390owydhTNDMpdlQLcX2zzJ7xEIgeGEXYLpdcIWIGEETE
3rYCo1+gH+XeHux0DS1tuUsb09o3/OcwZU/9h2HxEH06c6n2xWLcItH5EjL/VGVyZY3ZocHYy3zT
Jp4TV+dxhAl3K9ws3bXuwP49p6qaRX4V9pT/tMxYWk0yG8rF6I9Z095UYlF3bWZ+JTnwi67u6B/7
Qh5NxtfXle/ne9ziJGbjd9zL0k/vkph4r8lQwWVY4JaApqw/F4HJci4NcWPOgJl25Rzrq1jleMdg
N0CX1Xa6asPthAc4oENeqhlpbTd71qef6fRMVktxAbt4SyIJ4ndPWb2zsyhAxXdbz1aRbnw2ICSo
w0dRk/HWlzKqeoUGBET1M8Wfv1fVONyHjmXirEqhlvdwus/LsHw3oMCAiNauu0+6Jt6F9uyTIgs2
3c2ZerArkZEuZXqqEXjcEaYXt1vPQX+wzvQf/AI03xNQP9gQJiypUy7b8WdvlMON0hhqIvRG5NpC
8rwNupEUzb5mVJo5k8+TFXcGp4X8JM4b41HlYSQPJn4xzze3FLP8NdBRPQdFnTAFNo1NOWm+w8QD
LHWO/tDF0iXj41DY5bqtOvdF4l83tkgYBXq/czulN0ShNIeiAyi/gRIIAxvQBjEjMYIXQqQXc96k
SmJrMOa2+0qNOatJZejMK18wcN3YMRqVKOkYvDG4GuX1lKBEmGX+SpmfRwWxjd9mYg2HOXVog8He
pQevxdJ2bNgUu9E4jsFN2+fli8/ntCXxrDvOJFx9DaNw79TUxp8zKxb3EUIOx2y/VEm/q3vHnNYo
0y7bsW4CyWZYsovypluuZcoYKRvMzybxaup/ak1ALePFT8Pd1FVvxjQ05TaZUMDvcnTk/k5jP7cO
KTEZOCca0A9kSqf9k85tiFqxlblotn09RbNAIVaMur0jqe0+dpjqJEPa7VRTGneoMeObydAt3xS4
ZuDuTdWlOwtozM5u5RxJeSotP4s0o13EytxMXjcymk0lv0JyjVbnq/WnnzPn+0krn1LBBP2SLkiu
jKm1j4bBTDqFO7Kz7QJ9WTFFy9B5h2BEVxNLO94tieRDTib3AnXqRTqhjNoeIJyOWeWjuOoBx7mK
SaexJA8loWdRnaV7Q8dRiv5238+DfZXQtu4KwiPpyvz0a5Ls0mIStK4LxeiUAfgKSJho51RLWBfy
qEPjz82OT0hH1ILOFgcw0ohpeYbqwh+yrJuoFPxhi7aKcSSNDFZU86y9hD6srrpjH6Lap9TAliW6
lf0ZWLg5w+AivUZGQd4JDKDkmXiVK440xTTMGesvY+b1LW33duJzN3VBn2l34+QeDCy/UT758tAx
F9s4Tufwwqeud6FcUO8QvfhQE9iH+0Gl6k6kTRghTlOEb1exfqdxKh78fjEvJlKU39XkiRMDF+uE
3lu/Zk0hWL9O9bjXnlkD+Z4GNEi+Gf9uJgvxDqA3GSgWaOhWrvuBWBYvBUJhJYgEQ27OXI7mWch1
o2BnzgfbnPZqNO3pFgBRrjdGU5HqEg+2OCPEZuw2YoU+M3BLH2VoeRczGK0nsE/xdwEaaiRHG20K
w/4052Cy4lNGf30G01aZW0RhULhIMjrzqqD2JpJ+lIfaDPID0x/rxYEMhk8IV9emnAmmTexCfg15
RTxtQftY8yFU5V0eBMaTzaTgiMptvjAwXg6VOY9vcDzKy9AyV9kslA83c1WpPfunEK+5CT0yYuK8
POXZPH8PmSh5TYM8XxkP40OYYGzD+C9QT5XxsNWU9ns8LOolmGvzJk6q6pzElgm5EIopl5+vJfxB
Id9SF59RWZrFxZuM6WnUpXscq3S8B2DdU02K+M5RNdBaUmcuzHx9/Gukabeyrd8cF0ZGbWHG7SUQ
jkxc2YFEi94a3ih4zggYx9hkAgZYTPytNjwrl7UvRIquO9SGTcGjY4Y7fktnsRnUBHm9oG9INrkX
lzcxWeyHsGDsZEMt2Nrl3D+I3lhOfsP/QYWG6dkRI5ngddc7T3EMeyxaYOJZd1wR3G+M0TDv540l
wB4xtCwKslzChZBI4VTLPgRqfzPkLhmBRfiRpQ1RxDY8SQAE88EeM7Fv2yb5omgpIkM068qbQYrc
DNNcHUqPKCYS09U7L+3yYLAIhgo8VYwc+CGBYRKa7AeEw5SQImHvSuxunX2joW9MH7VjT+09GPS2
eDSYnfm7voHkSCdCg7eN2b1r2M346UEGjrhLfbJxAkacYL88JkoPpavl09RguFiYSwF6FEDPFu3K
w4BV9L6Zbet9qEP3aZjwO+PTt8M3OHfhwlo4rR5laSRfkxYZEGrX+WhdWG3/wd6Z7caNbNv2i1hg
sCdwcIGbrbJTKiVZ3QshWRb7vovg159BV529LVfBxn7fL4VyFWQqk2TEirXmHHPh1nHM7agceatT
oH5rTIRu4ViaALJiWd+qRrBWTADYKNhawapmd3W4rSXJuIumNftHh9v9mgau9cV2dKe598Bld9e4
0i1zPSWjUaxF6/H+5LR1B1MlmLXsUPUr1IwuGdq9UMjRYLSgDET9Cwjbbps1uESHxnvK22upxEO1
xn54KEUCIC416+o6bNwoWo3EYp9qrXIF77uLWLIcqnBXl735nE1jtC2EXyHIMvpXgyMRrq2qvm1s
gowJYQll1q6q1vMOHeYBZvwt+Toke74yPRtfQgTNOye2Y/Skg/YkqtL21o6vLDyHJAEPHcCGwffK
szGZziUEKIdaOZQBjsdsXasq3VFRR0fmy+NV3fbTVc9X+Epo4cB4UHNuLPhWm1yjJdWV7jl2k5me
Qsuyh454W1iadfI7s09JZO90PPoVdkvp1XpFepgKDmUzNaw4LhSjyHvBd/muDbm89JVOfp+ExMVq
bTBZaJ3B/+i9ykX/nMcbWCtoSEYjemjIzX4cE96cDFLqY5KFIaFXjnkq8M/sY0ZCl7S0PkJrpk1U
nX9bU87eZPlQU13F1TfgR+TRhKOBVDx17qfB7/ZTqOtrMXXjQ4puG25rGl23wZywOzWwUBpouOtc
VN1RBta4aoAk7pwwjy4DDYCVWcVlxTRjrG7oyWZvcB6tCzOcbqPA2uODLZvzgNl5R+TIY6/LuFxJ
zyAmIWYYtpal7y2bEQ9w2nfTa+RkCiRRrwN1NqmBusR4AmtgnIaBLkbmpP5T7NYB9hDWfJsx2Y5t
dbhVGLNfYmqx66ILGbS0QXfqYaDedVR5oGIzsD6TVml707KqU8Bo5cvQst67Vdm/xHFTrIOpi18V
9gKbbEyO1IJB6Mkjj7RZDIq3K2ZXIfkD+tzks6d4oz0sE8UZywzSzVRFyakwh+Ah8+x2jxIhedBK
nqs2cnJOgrS1vUqlqzwyxQ3JhwaeuwGV6tBn91JVxinCB/RhjRJRRqwXxr1HPXmt5+x56CwC890L
U05YCJGagx4i+V5MAaNYjQdNrM1sYNLVdSn20TrtQARpVvXYyQqPuudLcZfaqrp3G+Q2CVMU0t+Z
khV0cuviqW2z4HXsdNyyfsj6cmjLxoEpYYZkbEBVOjK8n5iaIytuNknqBa9hN3K+smFPvQ1OgezF
yKdZuV6+ylEAegl097F0aNLYeVceQyo1fGSsHfxCSb5K8RdtYhTMt77G6i2cxr7im2zPjZiTEdKh
e+3zfjgIwMCL1vCCNRav7Er1s0Uoastj67FglOiOnhpXj8njyLVbO0vtZZLrwUK4aNDroVwyMwR7
VNSOvPZRddg4i8Em2ajH1KIfQ/GAmKOMFlUq449BRz3kN7qCSqogeATTiIWRBFv1mHKGXIVBbF8x
f9Ui+FQjzrTBCjhQGxF0ow1VQHME4hQ9G34s7t2k4AGKxcTvoLXlrSq9Ftt7CInSyuuPNo1rGvOu
Kl4nphEfJTXoLrI1lqGAoIsor0vyyTUNtkX8loY0tkSZ4pxSr5m01apja16OXQcoIkr0uRh7YJEp
96rBvBqMxjZEOnOAiuRxN0ttAXDZXpEPckx7QBxR7912cWudA5NcNj20DG1hAmhiLh+kO7srigOj
EmcXS8XjoNH0209505erLDLnbQrTctnVK98FQFv6LW+aNh1kr7xTHKqIPChIrsIP9LeIx+etErM0
IAXExM9n9QH4jX0aOEFtnMzsbhPl3qgpElv25vE2hSNY4A40m2Wv2eM203yyxmlKnW1DP889oWfd
CSySgqtRmKtUK5Izld08EGO9QnXoMVQfW1hlCz+ywmWfcPBcuHLCdz9M3cpENkTan4s5zx8b50Jp
kGFjjKDMGknMeGx02yvIwc4yyUzU0i3gLC8AexZliAM7IAqwaYjHLtj0yuZgNbNU2+qN4LEOBwPN
QdU+J8rUT2guUmiMkcYCbg32xYz7+lRztWVZ18FNxETgpFdAYxaBX7oHnJ/ulVmmyd4AZnqoOr06
xFbs3ZJIUG2KkcHsyih4T1U7dGeaa223tk2CUBkZ5Om6HjQFesqqknVoqa8go6dVR6zZcgoN/V3D
bL0bgilAgTEAFHaxm7MdTcbCmbx0EwKC3DS2PmF4oPsGmKqsFyLJvRNAx+oyaQQOLvpa539pZnHl
wA96lUPm7iu7Sr44mAF9Fu8WFQKYmkVF8wplE4GAZ84ExoMTKbI+dH2g5nKtK7NlM+vg34Ygojnu
QSVtDO2L1w3kLShG3kLlIXcTbSHOn0xe3MDIljgvtV2XOdVeK5lCKY35q04+wQrzNaSBPMHPMkPB
JnuLnqM+DziEoR2h2xKTZCPlj/aus7z8mEl33JhEy7mrgqxNxSAu6NaWGfGOE9UWLR18Cds+rZs5
TcAYrkXmtw9IMsWDNxbhKuuhViAjaqZwOThJvHYzgFsLa4yre0SCub6J7Vaq1eSi89xoBFSXhyGK
DFqyVWnw3NL86CHVhNojMpIWb01ERNBAEZ0uoygZbpEGNPGBaWR8F7mTPlLPaDR7J9uxx1VSx/1H
4ubTdupH5yU1gNsQIlOKjVtkGtLBxHGyjW2WrFtJHaFny+CQ40InXf4WERUl8ujHxrBIPb967C0z
eRs0XU0kgI66BcKuAXIy0eq/J/apeKpNppZaUtRnOBDIYENo+JdBhRPtNmV4N9VII84cZu1J2j3b
gpFr4LXpQhBy+aKR/crcVaJWNV1z33pG/gA4ADBp4cl6g7THWKtCZDRSuh3fwrRu9UpeO3HrehjP
/PKu6wa50gM13dO+tPdebbg3IPtoMSSjVx3DfiK9satN752ugQN6n/E/+KiG0QHJsBooeHdED2wX
WEmbsJRPseewQdBCVacut9x1H13iyoXzOied3KcE9B5DZLNW6jQpGcuuPKHlUPKqZZvJF/EUdW9e
lLQlXg3Zw6cuc3SpdJ3tC9M7E0PbqABUxa7S6iW6EcBuA4BwOENmmSBLVcZNZvndxVTG9EjjfLxo
Tk8kqy+ybVxY7bZrK/OLmYJ7ZARqrWOsqfqmjA3g35mdnFsm+JzLR8956ao0eo6lkx0Qtww3DZSU
mhakiKxD7UmmLgJ4A/xqT9jXKqbKWnauNjypCbzfwqG43kRgy7Z6FAN78BsLbjB0GTCCfBGXEg2n
RtiIEb4HAsUpMaxC3IUBjV4QSnp+l8S4hqUWcID2odWxnbb20vEjDlIyN+3rphTtLYI1HYOFWZyJ
7CoAZQZx/TxJL752pgSw3AB84KQjOKONU7TJDNKvxReoBMYhrpFxLXMiAbAR9/Q/F16Su/tEacFX
3MDTa8XM3YJtTMG2GPR6REA+YTpxFEQB4G1D9sjTRvBikcXsBHQ95RnRcvB11Lp5geMlQouRPbqu
aexwxk8nHYjMPooCfRvWeXtgbWcDan39vUUxHq38kp1vrDTti6PF1UU6WANJQqmP1tgNO9wa/Ufb
W/EWEQtrJ5oMTDF1J+U3J0GH02T9ijMEgSud0xVXhTW5e5t1G8tMmd1ZcrD3mkGq8gQG7b1AKUuo
Ndm22yojXiCxXEmNht7oVeD5jNaYp2DZVyHd7xkIkiJtvZA+kX1FAODeodvgH2AZNm041E9hJxRH
vEAx7ojdVtt3qT6ue77Du2Jsu6/sQDlUA3f04aoLYq9IATLiNRFbN33utrdlmdpMD1hbsJX0lnXw
9a6D0eSSaCD4IfQc8SKcHPfGkQXdBF3l/QuuOsCTuhiMk9e37QavJxYuxJHZbRohnSVlBSr6XRCU
eJqQlG8jipujrsfOheFWsct0Ed22hl0tjVQiiBkQ7DZWiRyvITBjihCG54Ny9vxYeObt1t6kyLCH
ivIpCgZwdXEpXzkye9c9rIAbJfP3WiD+SftwWaNTXRqJr05Op3I0Gua4bUq3XCaRf6dipJepg8kI
6j5S6a7FTb8wRwke0tCde3Pkc2G74OVRRHtbGe/1otEIoB44vjKh6elwaHEe7DrK9hc3KgHF6jry
T8uUza1FQc9JILM14hrQ8C0GKat9PKCqJh8qbJ/DVDZHpqtfyyYFezTLz0ljMNzT6JTWRdLOeClc
z7IX5IBg7Al7xjdRz9M0ottiVQ1uSuyDy5As2DUaN7L5imDQFq1eQxMUZUuON233Bom3PSpCwygR
DqCvikczZMuKcp+SJZrdAsIYAQUybSkBiFUPzFO7HZlLJZbZrrySUeOtdCQVa0/pHrnOpm2xm4ao
ZAnDyF8cM2gBJU494X7K+xjaoj2MWkr0Adv9s+5GegMLPEMrmGLx3PdAVUxi9JhbmVPPCcYQQOZb
o6WVk9ewxJnm0O6t7NfKRiiK5LHTdoGGtsaiR0JeM32MUydtFjnfrSu56Nrozi6Y+ZgEx9/HrrTe
y1HJt5iy9b6WfQ+qIJXz+h8U/dHxEw8oiSnlS53OejRWhfCBFimlyZRzxlsMCYvx0HsucxgoYWw0
aRedRk3X3+BBefl6rIKOTopi41Lg73dQCPQDH0qDKeQ3chmh2tkpuwvZuUhJ3jWtDfK8Co2iWiRB
ph5rLzWY20T+xjAq9vyiRjEaILgJlmUwB1N1bjyd+jhg9e5GI92TptXuYV2AP7bhXsI/T2AUODoT
P+SDJbuVAW5GWwhf2ddVHqN9pNGWdjzm7GILHG0JXBinN+ujD/AlWKapFV6B0cACnTuW+JINDXMU
o0hxN7qyXHSBBgc0k7mLk6Gd/8PIS7cI+tj4wszWBKjLQNRFNmzb7/UQF9cVE9QLmxe1S8Z2uQhs
tvZdp6OPWrnGJJ/oNxvrJk1wK86nq9zDR4TSWXZLi/kgRmJ9Vo1l+snzB+M9BdTJJjbT3QMMAEvc
9UOwsVERLH2aw4cp18VeFrW8VjoTb1PMTXLibVBbN8YaPqTgzRqMtZaMF0ujMxq1I6fr9qmnCN+r
oMh2nlZo6y4V7WpUNSF/FSiNnnLi2phXZ0RYRF+6OmR3GDVoQvm3KbGxRou+1Z90lLTXbRilJzTk
MDU6HVt0LYc2hr0HVLmvJgBfQ3EsU9j8bSS0NcrWfJcJV/+aVcAhw8prjtiZozMQkoQ81niMIUKO
09c2ROCFpNolSwalN/U6beKyD+3Ndx3Hf7VBv9EGkTv1SyLF/2/bz1j1P3/gLxaF8wdnSwMTHkIh
4qpmydqfiiDP/8PFHAsYHYWPBbz9B4+e+wf7hM0tc/jh2UL3b0WQ9YcwMAbxROLiI3pA/CeKoD89
eP+WmHmEySOksym5yc+0uNas3Pkhi7yM3FGPtNa8wkJM3gvqBMywvQhMyr+yZ2Pwyim78eIAXpLv
m16xHELVYeqFscJgsHM5mXE6hLUEpkJsiu8EJvM7jUlqfQCvciY1eX4D1EkI65ti0szoZk41sACm
InPoZ1f1nHrgEH+QzDkIVlwYF+CNznVokJKQG1pBm9WPd3jz5Ynj6Z03pyrwDaqtjp1qVZZGd0pa
htKEMCRzGoPtmHs3B/pUUb9PzQiene7awphTHKbGKxmwp9PKmjMeTLtXHLv9UxBq4hoTXbi1JgBc
czaEMgixSbTBWU46ZsWSCAl6zfZyJFSimNMl0jlngo14YngQqF1Sld1lmvMoUqrTd9TVDIiUaPcF
sRXunF/BxkiHrGeBB97gn7zY+YZTX2Dylu9TTwKGTlsFj6527VAllskEJTTaabSvO8IzJM6Srs6O
FqEaTCD3ucUoNsLIR5df+wo5fdwERHFkRHK037M5HMU0W5VLKu370Ce/Y7bore050yOf0z3qOeaD
Yh/yuPvkJPoxadjYPMa87dgs414SOBmyInk9uSFAUJuFUYt9PmeKqNhClwAyGBX8DR0wWHcTWw4C
9BzLcGW9qRFqDwZv/UIDHchdj0MhQ/3zkrdMfBalM8yJMg4dp0TyN/SmRjd/tL42TU/WVl97ZyJj
3INJ0M8HeLJhQQ1t1ouylag6qnw8NlF61kUVf6AUIZBEVQhKQsgOeUtTy46z7r1KewRSnnYrwJWm
OK6WIhRIQCatMc9GQOy8yrybFATmanSmW+hUl9TVt1o4QkbK43GH+BUdWN0xNNfTwLjxh7Jexbb6
yolLbsASvdCcHk6ty+CTgFR9MRhteuu6PQzVqk4OkiHkona8jZlU47qAHYlKt1CHLnXPQrPs2y5s
W3F03SBBqR0Vol4VSsMoRicgRzGVZz1VWTaG2tr1M7AOycCHXWWVNXdEnN6H9tbHeba2JkTFgCII
q4bcnBigiTwOZAkgsGE1xOZMcXEmHSDiUGPor3TZhGvO0iqERxbFszsB7NQqyIKxB5guOPOx9UVy
UYQk7xzxbubdVc+wpWP4SStjkaQEogL5J/huxhuzPTOg9OxsgaGVGnrwiuHajpJOXXHGbdQhqKNs
JMPFRu8fFk2DGMmo7XKX2plWflQps3uum/i8AUjNfIwTWuJwLAwK5n24lcI1RTAYN2bCdrmNTEcx
XAeC46w7Q4+jTZBrXvteYt5lrC8oCgCwK3q3SO3tF4yU6rEYeWN8bHA3Tdh4irxgEQOwoAcBD9ag
9880kv760kkkdZ5dQr1ZuWnGl+WCAGhIoadREn5JAelBSPN4FTjzg+Eo8rs2CbtvY1CX1iqO0AEv
0yQW6Y0DwjHZTL1VeOucHlZ4HaUFd9/CoLoNB2l0a4NyJVvqjgcpWoValWzzPnLFzqlJV/taN1of
b3w3rVMaE9QjOHrF9Fr4bkz10EMXJQl1DUyMC/ZVuuogrfBBK47lOxXIxl7UAzMvBn6OZhgvTPsB
HPtAbsdiRs5nkaxPfdkC/Iq8CWCodKZXjwRtm6b1Qnfae4h291Enn7wCnHRb1PgY7LHeTIT6XcxE
sOzRWyEKtujuLJr7G9J2vOfQqJsIoaU1vQh9eh+B/a8avS8eAq0hTRNxTEt9mTdDd3D4e6m3mYAx
MmaoOeTHjnR7cwsXj290gES+JEMA7xcHgvqsmoxZbiSDfhuOVWesSpd6am0URTYeWLUfhs6S7sbh
IHJHTyAzb4OsphDMXNdb0ZRxODjMBh1FEJNkIEAG4hXuRkZmepZGd5krmLPBprChTudttPIaK75v
cDoNL0RedM1+EmRFbJjvAFiraaOJOMULOco3GSUBk1yeZdwxoUPSFcK5DcEds5SyHW46WE1nSyvo
C3KWOHlmf1Fpb+2CyEkunqP3GO+m4os26e5R8zP5jJiiulQaSGsGS75PUGymLipo8uxm8MvyrTBt
CMnpNO6CIXe1xdh7+auDC/OCaY6GjdH5Z9nN47xOJN5baHj9YxanSb1qCjtGemb2QYr2zPQ+vGyq
j5Xqx48gGkYaOvScs/tWq10iFDXVzK3bKFrjLkyABXkOfkkmRPp1OgwOPQDhPOajBp9loJzf+FiV
sqOg1GZVgCpFaGRzX4Z1FS7bdCy+GZhwPwZXG5/G2ugrZHORv3LsvKG5C0WG0Co51WetjM1TmOFX
PGVpZd1riVnnx6KSkIpSkhXAfDDhxaFBHf3klqGJkoRcym2CyZP0LZFyqNOa4eKkhnevl0C9i7iL
xQEZootfVtgvU88OEitW1YWbq/DJodV5MaQIi0WmMnkqFUJeDzXHVTACLhKhLQ6ctrvdYBkpDWor
LFaYUWYlacqBfM6wzjEuAfaC5uVP7RdJEX8dFA06XRm2NWz4MJuaU67FsK+nkAh2VsmaMWaj01rr
9UllJDwzpmk7ieV8Ms3WvjTJkD2R/MlDV2LrG9b0rQI86igokr0/uzZ2XtB3AX0FQ2uuYEKw/9Uh
UMHLYBuaOttOEBkXuri40mUJMo8DEpSXRWvOSqQq4qMjKs4gWOdaiiIz9kQ6bsPGt8NjXGgOIrNi
HC7CCOJwb1WTrR8xaE/5WqeJ7y0rhld+KSuOcYmmetBksV09BDk5LjnmlSTDk2WAQF4XKa+8H0Xw
xIUznFJXeNsRiPh9IHPnklC50NILWPfhP8ZXmjWZV77tyVVlxKi5SJE7Y3bJrzzsxAzWIO76KBrp
DiftdGwDy+sWRWtqhxhkD5itrK5GHoih+So9h+aUVMwUelOH88WpKW6CW8yJBIy2MQB2B3FKyxnr
yRN9DQU0xkXU1vQ5Wg7xzBqc8B6sIAFYVDcFd7iUOw57dXVsyhKBEKPixL9ypO9xW6vONmHZYE6+
QXimn73WNU+ZFplf6AXKepvFKMigNSKHhy7qOIRIYgLdaV5gflECAuGmVIrgSp80tDtpMizfCeWl
5IFM4TvbHItl0Iw2xOwxIs6RPMtgLTh/vFYi93HK6tnNZJU3tSvktkV5wXygInqkmOxj2VQerHr7
UE+Qc8A+3ON9TwXt1YD+iz29smEkd6FrZO9VXw3bOq1FvRlNLd2JrkF1wFGmfmdESQlWwqsMMx1G
+JCzQVUycum3xGQx4Uc0rU1tujrqWpONYDvKGallRx24rnI08MNLOZ1TC+9U3anya9Wqr913hmon
4hycz3e+av+dtSrAJCWL78dYmIfht/If7AhzJO+vTjyz6eaHE4+JCE0vwYXsQAnV3cJEjLJnPJLc
/+eXwdGB1shw4BHZP3l3yMIpyoC0tJ0rG7yYSRgmDKpqy/3Nx/nsTpoPcPP9FXhHdE6E/PHzxxG+
ZnQessDd1Bf9azLv8M6s+4RZBjN1KbU0/pbR/6bL2OWG95urG58tSn9e3sUsAWbG5XT788fExZZq
VYOgDF5qtUGN1t0RT0wW51wcDGObXbzarBkJW+o5VaUkKlg+QVq7n6gurO9lBlE92Vx4FA51/yRv
pIuT1zFrup+kHjARSqaZ56aNcXZum4alqnSnAM98hI3f9o+/vm9//0CchHVa+3yxuDznQLMfH4/J
tCI4Hn0121Rb0lAZHhGWV8ajvsaS7bPHh5ln7v7Ti5o62B0cMlSmDhrczxdtAlRtQ+qTIh+H09F0
mV0TRkFKy55xUQ0h6F/GpX94AT6bceZbxsWAefMB+Zss6yczTuibRpF5ebcbp1hbA4h7l+S+57rs
fvOp/v6mmTyWNmlyLk0O2ryfP5WRt4iq6rjYxX1udGdLAHen9hd2f/XrTyT+ftOAFRFEZ1AmGjou
o89XQvViJfZkZ0xxBamaPSUFkI8oZGzgm/0qNdBKAdmPZ95dNLbndIQOcMP4C0kKJV//vfqr8Ias
uqYPpiv5vT4kOYta8de/6t++EyEMHi1UZggj8Hr9/JuCmOia0ot3RGKQrQpVr7uRJRHN1//xdaCV
2X+CnmwAuJ+/EaeO2joM+wiAIYeBVeMaBZSbIMv236/z36bgb5qCkLPw6lm/xHcto9fiPQ5fm+hH
w+C/f/LPDqHr/OGhToet4H9Hdc1M2r88g84flEG4CR3oDX8GMv4F8cIy6PrzKwyk0pwZt9zevyyD
/C8HcRMNQu4/LC/elf/3P582x/anP/8YeSzm5/Hfu6WLwcpjoaBRyW8Bacz4iVXbR47LTDdRcNGb
+gvCI/eJ4iI84SqZ7VHML547TX8LUtF8w4ZXvGDSIAoCUUO/ttqxXLsDoznX1vynRsCHGPIqXAkv
zt7tLOwf//swFh1elt88jEgBcQuwjv9rG/gbSm5LFlnz2v34IP7rp/56DonydB1WCsfGe6AzAvm/
59Dx/hA+1HaU7oalQyXnafs/mpzFI4qcm03L8OzZxfqvB9HQ/xDCNfHDWgatXTrd/8mDOK9Xn55D
ruCxY7F0CsNl6vF5PfMNaHIt8px1Z0fgSMkbUY+RgW7vhy/lH/bGzxsJjzvvjTVjD2i9G3yuny7T
om9ORvQea5j/w8uga96Gzn6IjqBLSU7KqYt/fcG/v2Bc0bFdwm7mvUh4P239fk7CUZ8GzpqSHUh+
hWA/Qt0WwT4uXALM0FTGd14PQKgLvFsOnD5oC37qpVD4cPTaT/atE5l7UTO+MqaeYyFEh1MeTtNR
AEE5/eb3/Vw9/PkNccuteWuhWe3ON+qH8jlxtVSNssC0GZT5Ox2alCaB4J8IRHx65XRB0L07IyfJ
8r0p6f/00hsfVJhUWzIaUBz3ffqlKGXHhHIqP3796xl/f04w6VMLu3NFzDPJ8/jjr+f6KKiZ3zvM
MCrrFE8Cd1Zsz9n17UjmTkJxuYBmVx5At0how4zGuxAcH7+zd4UbyH00VJifaQoehKhQHmkXGQo7
h6fbe8Bz6yF9ZtLDITSwmhuivsu3npbyNld1dfvrz2IxAPrpmccRyTzZw42MufTnWsGLp1HvetNe
V30WkfkKVZCzk0HsYeVF+7EBVbPMTd1ea2U7vmOFLAk3ywtUTkU+I73gTF96KbtnxxpMpr2iOOap
Zj9JkW7a1j65TWysmMQM+CS08FzQyd51JZ0eQCvPlV2jzQrsJ59R9XWn9RAn8NypGC+acnJg15lz
LfIClYsWTJzyo5HgLGAJwQZRt4NqxGWErjzAW9lonpjhRu9z64igz96sDrZTM5ZPkIAuyDbRD2hS
RgW+G63yqsSO8/Tr7/L7i/t5/fCQHNjE4zHkMnHnf34uKjdvU7tV9prRVn4u9bQgX2fUj1j1t64p
Phj8ynOPGGpO68bue9U32fjh1FnzZlV1d6pDepMMPwx3N5ZZhn2Y1jPqLpJpaKhUN2VUtld0P0N5
CAk6evf7Udwhpy0PNPNwF5hpeKwm4IXLrEJJqkJdHr0U1lvXO/pvHhxW1r89ON+PMObMFLB5FX76
sJ7OxHh+CQggG66Zx5BUyFdr7SqW9RtNOf6mpk7Frpcxdq698GBWNsICPA7VlZgs74vd2upbM4b6
11/fh39YX715kTW4A/CznJ/GjVmoSOuyR3sNf89eksvyEQ1qZ3UgQ1w5/Fmbfipmfixe/uFr4LQz
l9sQSAVL+uevoWR/AJXS2WulWvdJZxwwv8XJ+dcf6R8WxE9XmSuoHxbEzEtipzUbe52acfyNcKDy
qPpCI3mrK9Tm19f6hxWBcow9mh0Vpqrx09fHI5lUFWOTNWH2xsHU8ukdpIBztBoTNZ1sWXYLUPRE
Fep6ceMTZbX69S/wD18pharlux7rv8W/fv6wpTbapBfZ9jpj8vsgxhr8ejC5v9mFjfmv+fFthRtL
4cDJkSWcxAX3p6rTYMn1VJY468FubiuEzMtcV9sE85rM7+E+nWVhLk05vssRu0OUaedJQGFjP2Fc
a45q5fc9nPkIfrXTVuOW9LkOJdBta1TMZlSkr6s4hHrH+aiyJK4i058gzgNwQU74G/zFz8+HTWSd
xaGb8Tona/1nfMxkTWndIwlc12w72BUZGDOLZuzmECjy67vzt6/N15154xMOBYzg3P357kQTami3
JwYNBXu4B2OkXbn6NBzCBqiu2QY9/VPh/+ailII/v9UOR26C5O15ZXVtyrPP1x2NzjZyLP/rIRvv
bYRUazP0SLUL5Phk1mUOHlK2txqe7yYcn4muTjYuVp7XJMS7jRTmQO2zQB/l4pJxbtoKvQ/1LkzM
Bq91hwyqDeLnwGify4F5t44O3PMQo7U56XQ1LXPSYeXOTgcI126r3/gOBNWZwOQTawHqigkjdhml
b3B92oBuofGFWLIrQ8s2rsQW7qOiWphVfulRRTMxpOPD+6SwFbPo71LLw1Ba9ufJeaUD/l6QQXAu
ptxeoWYKnxg292etTozNmLR4rKbkO5M2R1jpJjR8nYLghTpLntWkCYZQEL+WPiOhdyPDCWFFFhqy
vDOtZxkbGEz0/L6q0Ox6257PGSch6V6xTXpnACo/1sL8BV1IPOE2sJuNXacpMXaw0WRGUAUUhPwa
tmR6I6QTAEtO6o54XoxcAr3ft9ZMvVOOcHMDq1PAak/pRfsgCrEYcsxbBexSL2lLjnTcFmABEkUn
3bmzMW6tEFJjoyj6npS6qY7UAVoESd/RUC/dWK0lLX7mAFdlVExbI0NO4tz3GDiVtBAqGP6HGs0j
XZf7eui/EdJhP8QzmRRXeL72veExj+p9m8t20/bdgK66Fg91kpgXMOU2srmqzPm7MgTd/kRSg1lf
cn96kGHvnYYU30BXwRiJcBcC6iMvaQn3ZTg3cpJbQbLGTTd4+XvRctv6xoPCGEThBygzfxtOQXul
Q1ciptgTTyQ3Z1D0TFC/HRaBOJHeTVnm1QV5IrJACRzSRo5So7hO4Lhm4YRcO1D9lwrN6LLWGnWv
RUG1rUotvdaqOryaZKPdphRa18RcEJKlG/pK1LnLlZ3qOpi0fs30kNYi8XuvWiCaHTQ9+9poqnoV
cfeupiTvLlGfvTWDq96S+ROOuq1tm2C4wZtDOMw9DWIcl7kib1WdiDdrtyD7x10p0vJrgET7nrmd
WNQwzyjAMVp6dSr2RBhgAulqAPA+1p5ShvbFrcfoOoXatdIrRR4Bws4PT2/lRhsstc+rJj/DVPgW
1fZzoes4XlpRYhhqjFg+YvovrwjDIFtbMVKLTMk8t40YT41Jseib8LGp2sfKHwlX72zRvGWl6B5C
L3UgHtckT5qqXFdBYSw5+bTwcRp71fiNcwUFJds0GvN/2+SXEkQOPsDZ107M/1BJMmE9NmlxywoL
Ei+vR4YVJi54xERbw52pGMM30w4PWSnhkGIuJbhUN6GeIv3eGni+7gYmN+tBDtomNT3vjOEejXCp
eXdmr95aIolvs+Z/WTuz3ciRNM2+yjzAWIGbcQEGfeG7yzdJrv2GiAhFcCfNuJNP34dRDXR1z00P
MDeJysySMuRyN5r99n3nDO5NdqwKfAZJDdlJf8wL+Tgrw37q4oLfidVBeCMz2D04ZjPwoWrjXRwM
OGADe41NUp29FKx4ZpOXoQUFUiac49fWJoGY2Wo+GVhZt7LSzXoiDU9wsaEk4mpiCGac/uCCvjv3
kRyuyRzmT3KqhksrBcI4VbebOE/30kk+NZBTPKVpCVyZZlZr1JusJwcxiiK9QocBLStG65c94IYf
kLdvdBAbmwTAxqMliiBahRzt3J1dOG92qCVrYEShNyY5b3rZDTQQAJtwOhExWHc2o+osfQmzrOQn
VtmTbYwmUafE+jYA3T2rPmWn7w+zs08brnwX9UAKUcK91ZZLHFjF80GP9t3EtAisABNxx2yY3My+
nFW3DWoLhI4+xQSzAYL8LBM0LUnZO8TsXWtfC+NeZYqc5NhfStmH56GrsPZJUCsf7VyYG6WHMuTO
3uLeLw4Lb0dnr+V0PdenFrcKYQqb67wsunagpdetNZjreLBna+1VY4Y9uKYVkwT09WVTOjs3QAhP
9ZwEqV3tqzTNTpUt+kfMZSiEjbI8x1WlHqTLbajj6ifYLuSbqOb8SJy6osNnZHsz9JK3sPQdXE1O
cgaoaX/wp67QeWbyWvZJvg9Gf97HropBHYj0QfvcoXkuT87amjSfCxUc+qTr1gqy5Xmi7bFpSMQc
lS0Tln5JgLrOjEs+KIJDAIZ5j9dPtfkni5kjEFmfmhe/RX7YmLF6JO8yPcO18U+qzqeTN3vpyXDs
aesAB30v52D6wKtJetbKzecx0npfSodnIVqNvVMTNfcrOa/B4etdr2EHKKrBxyQO0ATbEY/beHo0
3CzejBkNeSY77dbgpz0PMCxPJGHkObTJSBHIN14seiZPedLaJJ8H/+wEUcftchpd+sLnf2HNgzeU
fqtCpy+xRK2SOJFx4C261V3z08cdsCuBGEzAFJfVhUtmCIU5N7FbikHTsaGlbov6QXU3aSTbAinp
bchJ/kSkCdq1qdxwK4hvX2yYoM8t0oBvGM/FBxNzTC/CeZtC2KBVbPD4022/B5xeU/abWxKSToAq
z3ELihMa9pRN+9XxhL1JjLRZe7CW7gATHIONaR6AW1cyPnI1qqiDOqRvTGqcs1Pwxg/bWgCkLF3n
CFB8PhKjxC3Teo8+X7/qRiGeaKvnlznR325jccua1TY74Lwu72XdXZcAp9eAQ/Lrhyibo0eZBe5m
nPDLRnRAj73N6xx5iVxrmyog46hLE6ltH4VrNmrhrg6LQTEgIK9BSTi4DWbQ3VpkQq8cMSns0ZQx
SXaUQK89btWv3HuGb17tmc9F0RoXqx3Ugx1F4wWKdvPdyMQAtKnj+GUo+cMIw5G/7dEIfvlJXBKN
hHRmxXydCREYKGVZcwvNpm9HldwmLjfa0w8raLxzAUtfAB2rym0deOWzKr3yGOu0/50PCM9Itwl1
oh/fc7OsbJrzZmK+ipA9SRrjNAApwPO6Z/xTUU2mveMQS+RR2enwxVFmxy+f+h7U7iLaTxonI/tM
7aqV5rYdjI+Vvy3sZRrEcx5t6iZv6S/SAgq3aWfH5H+qNLhSDu13ViaGDXA5Z2SxEfIz0jyCPBXm
n9TrPJhk+N5W2QALaBiKAFK+VvzhDZdmRzCn9rZXQjdAX8R8G+GLsWWqG4VCOG4uaQ8Vwp1/kvh8
72D67OJ4sh7QYIMx62bgDxYf6JnMwxRntNnsudrSbSqpRPG4MSzPY3dbz3oZEY2bsnD1RiF4PFt2
beIw7eLdIuJ6AFOAu7kuwvHYx2RIC3uTFoTpebomKxNAF/bOqUxPYkzUW0n+sgu/Z8d79gfrpfb7
HyYZVaKEXzJrPmLLcQ5FJIon3Rv+oTFKOrBG4Z1zVDrtJq8SIHCGSZS0mjFRFYaqN9w/zIciF53J
KMpin+TL8hLIur2LJstI8vk20TdldVdkNwBAYHpLiuQl7A/+CN2jDmX0lAfjnTSJfSBhWX6OKCpA
Xg2GfWC0hMwpDdv7XHh6j1FAbEulvEMJGIc2IY+9764jqKkKMyTZQyQ1RNS255PsU9WrqycfcMeh
N8zosyTlvKrNDlREFZXjOgoeyFYqgkYMXChUJHpDqF8dPSBib7QDeOj4fk9sNYloLLnVzJnVYOJP
ptFN/vA15TYnIkQOahKEhdnGgO2eZ7pYGSJaqPhRc6PWkMRbh1HrtraC4kz+RdAedytvR/nF26fU
rlhyncpem8SA8EQH/l2MHgcGj6HhawyT7ZMDu3FiRFHta98K+HB3ATlX0kJOOD+Z2JZQtJbfLUPH
3Wi3xg8+wzQwbSKyWefPj6I3gDCQlmIb3NXVkQyRuBjxIvsjSppd8liHt5rNByybrCSBmVf7LvQJ
29iOeSoin86I8cCVMPSyLkroFur47vSiupNGEWv6jtMT6Y+SQ13gPoHWNDCc58Fzl1nWxfIo7fMt
o1/LUvhFcjm+d0OhJf8wI9SVUslSqQhevbltX7wsyIJN1ya/WFjyK5G28XUwpiSle5lVOxNKxdfC
aOZniLNDHPnzOW9xnCL00k99jW+iSpV9xDbTXhOzQCIrrOgdK2V4o/RY8gFi9oKlLTkVbNjeiyCB
fFNTot+z51GKurUjtn4xBgfdexCDmDIkNyaD/RvcnOl7FFPxUAV9E6woSzdPxF09xilzPR1K9msn
N2/d34OpIWLPaZk82bxVn7SfInUhA2FZR+lxPo5h05mHrGYoiy1+yHc69ctDjDL7vWmK+lOnjgHz
weDiYFXp2Qg2bM7T186UwcbyJ3PrFKJuiL4VHGz8qDDOOu7jq6AktDVlpQ59CHBL2CbxCzrHjzwm
0x1xM6ywPIgjOq7+9AZ6kshiInK0dr7cUBonXa/L9pp5SzWbEuPK77PuoPgRBDxkVf7hbx0X1nLO
1jKbfG+gDK656xgjXz4jOEk2Xp2yCwEzSAud2turSSyIGJbB/o5/rWnDhOO2n3vrZvYFoXPS0Zyk
atH/kHGYfpaSxs42NGXbg6inef1sx3G7zwGtGxsxT0S8KqdhZYimZ35QRugKJRGHqsLe81Cf9qPn
FofMFob9VoRh86e3UlDKFpPD8sFyqD+tORjI4YRV14U2GJretMknYqgbdtJC3Azptv7JJAU5bEcp
P7piLA5qpmKdzzbWPJFo+P59BX2BHX5a8WmXiuJuVQy3Vg+apWCeuxHzQhLA9y6B/9OIZ3Przb7a
Tk09WWfGe6GxdhPJRZVPSWBFKFccR/LUl8wOmldag+ma9Jq7GrTHOU34459ZBTOxbaqmD2TYip/S
VP2uUaT/16jqWP6NAQB5QX38ndxD8ydmDnRBACK++dH1ZxcOjYR2oNoHHoUsA/xunHI7dYVfX6Uf
Tdemcn1FdXHOdz3CvjPTsIj1vC/yYYM6G0JiWKlb0gfGtaI5+cXRkuOiN2j/Z4pNiek6C/e7JiGz
CKyHU4o6Eg49ngaoI4OrADIFUCaUE35wpcTnqs9xt7hJdUcH45/DWkbZTvj2z9xiADU0tMBaDKGK
eeY+7eeHLBt6XmxGYKtyFhHcPVKuI4zsnW2o6KSoQ98yCTQCcHpXe6uuh9I1lXN7hKNqbZVI6nZb
WFX9jmm6P6Q8vt6iLApbVnhSvPwkFD3qOc1+VGyXtsNQtQc+qhGd6858VE0q0KNmLeHLkdIeKoSR
Svl6HCdsi9KLeUqOeOFS4l4fA6fhn5bU/pHpanSy+vF3Y/a/60a8GhwBEDwnJtVkb9z4FXE7UJro
tWTZvdUqih5o7wfn1ImS3z0weOAHVTJdmWzxZCjYWK98YeHQ0o7JGLRG8DCPSvxuggXZyd3aH7q1
Q/Nr+U+Q6XMH0EBj7MRy61o9qIe5Tzjau1xnAk6A4rkiNmOjReSHq6aQI/j8Jmsi3GuiyT8TGG0Y
yv2xvY2h94jpQl5a1mDJjxViZx8bJjogD059q+djPeDi4tPxafBdXOzWFEc5mGTo6aYR/EhEHrSe
5i+/Yw4X7WG+fXq1P9wM7dkfwDX4yXkMI3Ckj8odF+SssrDfeDqtHRHrmTIldUdhjgOEe2KFQ575
G23OF9ht+hTA1CQOrdU36V/GbQVhtFBx1hVjCiFZDy0mjxKex4J55yU05RGsGadmxcMKqtfII7nN
rHEPBV/sK6P5232pGgpOlro2dJh2Bs7YY+VZkbFipTPvNPrcX4wyUtonqT8aa7CQx5lyfBHW8aNp
MRcMREM+2e3sSwj8rU15H07uBHnM96vpwG+8Hdaz5XDp6g+8Y+PgVPXBxyBs7y2eXfchm2q1zvzZ
ZDRbjBvJs/cBxJx98ZFkbHy2Kx899PxTgSpqzeZAba2xH9ZJD2QTP+NwGQdob8wSxLTQ8LmtKzlf
PUGm4V3XD/0JSF3yK6pnHsB5WFNm5BqNyFz5WiBEeCGBND8LEXlv3NdXHImSsICg0GnKwRGojtxN
4bQ4Zeu/+Zg/mMHm1r2dSuLzUxKuOQKRf50piSubhHc9LGBRnfXlmqZviyBpLCAws5fc85jGb5t4
xrAWIObo5C98F7ea+i+WUWKerpCYdAMCqDPknqQ9cgvtzwuZURW7JvG659bEu5qzvcczw3hk4Nhl
QbUI5CCeknxKr7qqQjATRbsneAgjcpDueXRKfRgycDW+nrE+9Q1noAbuYR2m6hGn6CMlXPvVHMNV
WVtfSeXiCghgIlSgezBq9HrrwvxtNmXtrtspv9CVkIcoio1neGT2Wpe2/1BMQ35JmuylBH+wMvM+
/qNNy7x7NSgOaF7hEcLbvBW6v9NjAUAbusPzUAzGoctlhgnFWZddUW4bWC7PAIQirHFFsW/a2t1Z
BVNmBrr2ZSidbi/B4cF6/Mv5Z833a9COUS72I11UYNbevoOZvUnj9g+R3fl7AjRsK4EsZ0KdN8rZ
W/XcfGUAMY4G4r2thg6192JAz3notcCOmA5gHp3jl7bDB8p9rK1LfsfcdW3JqP9ymmI+RcNg3wjG
1XJVZw5ENMFKWjJ/2jshRYkqMwQOudbyt5a8aVQe0BQyhS5HApmGGKTQTXO1rLaGzk8+VZRZiW2Q
llfkGd1nEcjvzhfRvhOjeZxKKrqIXd0nurzrqoF0OLcHoTjfVW3knGod35j9VtwdFHtMbk+VkKCL
1DywNHEctoZiZJzfTycGYK8ZPKJIGd6ai4e1ldCMinqipDbMlggmBWeJMf+2WzzNmV1/zXN0RmIO
GiBKKjDVphUVK+72LR4HQu6U5Ag0y+QI9q5RqyrQhYIeyE0WWw/vJAVkUUjXCEZzRKyVLcutbyI5
DZfjBOXS8askbHrCauJs7Mrl0N6NO+K3zcbwoqzf5In8WaGQucNtLil9xVZcrwZhEd6d0vaQT5NC
wuFU8YMUCWht0Mvys+5NEf2A1pXx8awVDl1q9C82YHTOWj3TNkxy24zPrVpzlt7Ovj8FOy4oGGXU
yfQUCie8a2UTDu+CKth7vnUMJGw+8C0PqH4SLjD7YZgOvTcnP0IPczAnX95SNRaG9EUkwEHwfdhx
8CNKQhZiAqHe2tAYzk5uwvmE9r1rQiYN0uwpiAhgHrnOTvM17cNlgUvScy77GRk15isKKMxE3ZYK
Y8Tz0IWIsqyngYvppU6e06HP7l0LQHzNulHuEYEw0xzCElC1m7jepyrzbuHHy+8MhtyqdoKuwGXD
vrnhXLe2MCru5rm11r6eTPDPksd9bvCr5jDYc1oMFekSX9QfDIprGBIDdJmx9R7A2TDDB+vjOK1k
tcqvdP1h3St9swHBN4X6ERsgLbjnuoGsXuH+umG0PoHPEXfHXLD6tFOiJ8mG5MI7LoaYn2pOxMBH
mggW8WR+13IEbDNZigi/TrhdmvSqSIN9XwRfqAWfpR4/nLAZ2xUfXD7xQM6PI+2cyI/avVPW1TUg
mLh2a97oRcKwEVfSErIxu2ee3SVPyIwpWZqrYssxgJNqi2ItWuVzX/yee5mva8duMPkSUC1je9V6
IWcmpzdImYD0XqugGe4gb9vXiGo8REKbIXUu9TUlwEBa90LZg+bD6Jkb048ZUjSE7T84LxQACk1P
U8qhGtOjs/lKzLQp1jU9v9MMsoMClsxSNr4J18K65aFbALjiqmLtMy+Y0ig4TIbZbQyOOhbrT1Fd
jbyUdz0EQOkH5qeJIbgckelnQ2F4P/WsuMxWx0tSyZpmzjh/TB6nNvQrbc9kw+XNcnPr4mMYTPsp
moFz7JrWnr4UTvtDx+74AvbH/Zj0bDL84lqPLdEs11U6BcZlzAWEbc/jZSAPRsuKMlB4sxkN/eJs
yikEvCiiSloZ65bXj1dSxB7eVGnmrxzhwF9BZM0maz0UpnFyAsF9AfLf16LVh7pTA8zn4a2lNMMr
GL1ygbxXpu8dcu6Stt0M19+YJhA3spbMuFNxsyOuFFlXkleolhSVfcXJpOeNtspdo/5TzslVaS+j
DDLtPavegHWpti7FrzVofSTwfsIEPlbb2KJe1ZC06VaOhXUwmAqLMz5pGHfjyOSn1UF4IdSohkPB
+fMDJx6zVdfRWFAt/V1mzGM3I/bq14E6T7IqdNDfc2miTtBmS0kshLsVzLN39mK/eLVGt6n3HcM6
arZY/vhzeXrVl270BHPm2nodO4teJQ/cnHDlYBU5GfAgh85jdDB7nGKYn2doz/S3aUFvLNjqBz8z
UCJQpOQ6YUrTj5RV8dds1ihoCdfcXdLuzIlHlZzk7LCESY8aYMa1WW+FHOQqS5zyxFIcmeiNHmur
d+ieAsC8okQwHvoJiAtXaAoVQByPi2UpB2jIVsyiO97ykq+F1b1hkos5f8z+NnF7yja+mbKts46u
p3gMDrHcy4Yd1IpDqXXhBFetcKIf5n6j9fxUqu8mTcRv/GhiXXudOGfLjneYreSZvF51tYO+g4Se
p48pTusDHyX7MWAc9ObElrf1A4E3vJ9LznuL7nSG8CSzalwjtmPdKq3sTM4JHL23WPBCPZxYcTE+
sZfbdazSexd2+mqq4LivMh2a7znjBpCX5NVVFsSbMrFdcPxBcqHyJ3+BS/Cw1s7U5+gxwnXvHClW
MdXDdR53w4YZkr1Z6OnwGkX7USexvJu8P59iZfJWiuyWucNcPUuiWpCFUV/x5GngBbSSAVXvHA30
AExTsinZ+JkE/1OobE9ptH3XIWtdhaYn3Q8lybbVZKT8xIXoYgr+5WJwjDzI7l4V/3LI0X7K3k9u
k9VoeOeZWFsEFSnzA4fxgTqvLQOPlMxyuEKlPZ1iQUmNVbzntzNU2v8hBvFZ+ngSe9pjJMMfeUMx
rWeahEuyTR9jnJHdpkvr5eTgxMV4hemn8j2SoKbbVyye8Tqum/7A21qzfbQZmQ6FHx/NpdzmaYOI
Ng+i3thUAfSVteCVJTIwIy/tzfAgvaL+ZeERt5m5h57d3jReumNpjDC5M9HXWDvwbK3iNgmfIoZF
d95dyXtWKvNjsGxM6F4TbSMho11YhfPNLZG2a6/jfBlOPdfOuWl8kLpsX7PZYjDlF7Qj09n0j3Ft
IXLx3eh3EM3+RoUIUGGITXeNluZcoj/c8bTIt65Xw1QYDRxWs9FbXL+Yf0/J3Xq0S32iFZhvrIiy
g5wi9PRt0MJjS7gxmXMf9yM+wiuDFtwkcSZ+ZFHkvtkNG+2SQ9KhEXHDHBZC9ZhAfDdbF9n62H2L
QFtHzAqhSbl2QJYSm8kZCOj4yDsyX0TM9Wfl9ukvO8iZpaPlutML61Fkcd5RlLvVkmDA3IiPdEz5
a8aU5GXC9tBBJoLPtDb6trmbY9FcnazS8mrQoX9o8dyQXRJDt5WctQ46wRrXzpnxONmIZDlDFOYh
MON8q9yWjIqpmOpBT38Je9u6xqpiI2J6DG1Q5PF55qOnooZLTH/OX+O6IEIiiFDNTXURlXj1SvHb
Jtr5Uiihn+mIhzv6jsmyq616RKTJm0GtFpZD5L3YY9Y/C2qY4NufBkatO8tJu4+scptHadrjh6Ai
sE0JopzsKvHXnRd2HywrH1jy7Msklv3BUGRXvG7WqcwbY59HGCEizBnrUPbZN1XXZqcHy1jXRZ9w
VDFYHQhYHTgbJsC6lNUi/PEcecy9Ru/72p8/i0jX06qdZutXYQv2Y41C9JCzTz7BQIo2gPGZyy5K
4AbFKhi7zgIavUQjys5naQJZXCiXuY/b7mvb6x7UEEL0c03zQwaIIxho9mGx0klhPjFsTU5wQ21Y
pW3Kd/XGXaWM7Bh1uf2oPN1siyAwN9B0sXeYjDTS8g/co5078szIaSjt2UZT1p5sR69ojRpr+uLl
AWoIB1Y/+vTj+JuU0m+faesaG8guCc0dtH7K/2jy9kpXvzMUNEDHQGckdb4qELSobHI2cdEDK8QT
7VVvY8eyM87eZsy5GBLmZHBvHG/5yK470wEOAW4g79V9aswDiaG1Z/TxYYIZh1gzIYHArRAyhJGL
LB9mgCoaYwWc4TAb+iG3nUOXTmdHM/2eTJcbIb7lofHHdOe0EXlkNSccJrsu/fLUVO8EpOQLqKzs
bnH/9SJLToyLt3DlovLe/+95Qe5Tlwy3HoTiHyKOnQtHYGM3QzbelzChXv8m5v5/15f2v6vrj+J3
83+Wb/yr4k+aRHH7b//1b+nV/Md/d2lf/Je/QY7Cnc5T97uenn8DYuRL+Ub0VZf/5//0X/6v3/+T
LohN4PVfUoP/VxGEq/cf9b/WQP75Bf/sgPj+P2yDxh5hPoNO6d9e0T+7SL79D5tUPbldy5b20vT4
zw6I9w9pIWIKTChCS/KQ2OF/lJEs5x9L0ten4W0ssCIj+H/pgFBh+m+5UMtAZEucifYBiUpD8pP+
a9ZW927elAGTehWazksaOfOmm7hSHj2v2fRwO/a9Lj7jrBiZsfr+Z8L9xpm0WUcchr84+5LK1CWu
nOw9jWNsLv3sXsyg9MLjOLdk/xqrZkea1K77bs0DJNMBK/U5xL2crrJWl8eMWPU+YtPzHthu9Weu
vPYd9RPLuWPTcXQ9MT4aPg/HoDHEGnF2thsM33oY69567ppBn5ymBMVsNp5aLYPKqJ84X5mWsN+B
T1sOdN8mPaV5wI1n4jvlC6ye2TjScBQnJEHoS6SDtYolCSoRcYjwdST6grZAyJMbVP2XTlQL+EX4
GcsEMqpFY2q8hnIa8LIT6TmldsWsEQsScTqQBNZ3sPQCV25cVIz2RzSQvZtdZyutnVXadMmZ/pfn
rGtgzitOclS0Y9eun4Ra5ObUv7FPUr/cQaEoL+RbgCMYGTttaCoMUW8RnKI/GIXEc2jnITCSJBxo
q8vCXHFoJyKInURf4xH6+EobPtojRAPCXUdxnz01jA2P7oCapsOnvsBcOIJmQ2bvFJzLM91teWRg
zn4epZW9Kzya+FYn62w12n/iNmeP78YyFQQYnPqQCpK4zFEMVvqxNfjtxl0ASXH2i+SridPsODkU
W6C1qx2dFu8uKwPTmm3X31ObM8xJidAyNkrtXypjyGC2vfsAsiU6wUshaexP1ito7PrCLUIquSIz
PLFDNJSK7chlQrHKHK5zYRmCq+0i0Ex5Nga3mgHYVssMNIissMHDqfLOTpkOD7JtYSdJ5Z3sVAxQ
0Dv5VcQ9D+dSwlsxnHg4VKyjTwk5Qo4RlNCtVSrH4GqAW70pl2ANFHe/vXALbJ+l9qyjYQrizgw5
u2PXzBZS3GFx3NVuhroa68pTEnVgILKgH8/c+NwLYw6/AqZ4DyJzlnl74Z5gguSHyKotXqbKDK51
xwvF8abEEKt6LqHWJSCuhm8CJoRLzgZ6hRkOSyoB7/Wx4S6UxDU5lm0CFv1ZVO6886eUhFAiNuTL
v5Qqwk3owgTXbS/etFOP65pokTF2Ysc+Evr55NxaBtMjyYEdOhjUQ7XzHsbkezqr2VWVV7tozWK0
JP7wnRf6l0ka51q49V3X6k+QoB0KbYxLQdeuFDCxdnaGGxebHNiZeplc8KxsJmFV4nbFLWQ6zqzD
g1S64wYW0RoYWJ8b95GtRoUzaTQmr4Xa1cmH2tVrQgdU/p0itrGStMUZcZy75WPYvwLfKS/CiGEy
mETJcocx6FPr0v8m5pLXXAkaAmh8JEakD6kPSbz1W9Hzdo3iX1nJmrhhNaGvRLGqDR78eYzjvd3x
4nDVn4sRABvJmB1fJA1GghHWtdEeONgNsgWLOPhe9g0Mqtt1Zip2vptK3hYtMdlCOnuDqBL4Lo2/
h8zLuh8MY19ETsHUZw7DV4+XdplpUPBSEuAJXEUShvEC2TTySG8JzXbk7FJ6PYQH7j6c4C/f1MBd
raTuT4VlERvwwuwxBNi/M9Iq+cMQhuszJvbITObWmHbDlI3bxBbDuJqxOK+QJXSfHIGNg87wqayw
OySHhRW866oMB1fReNYFxJgLLJzNcaCj+sOxGByH9VRz4YiesYDJts2dsr8buVkjuekAZBagGDYW
J7l903E7wOvfPCIhWtCQyul+RmOZb0EEHOZInswsm84t5riP2oqaEzGnQzdngnZPnx3T0s+ep0RH
N7eBkW6JDMdQWdqPujwrrhngtZCEa5NkY3l2/0q5Y7l0Hci5UkXThCiVuBpNCdDd5t10G0jjncGH
pP066wLzAS7wZxgE7Se1u+wNvnd14WXOnopsdr5aWQIQ0bUxEnfP+/AWxd10plBDa92KZo62XWvT
tGmDdQP/9BIXM/HVgQrCllHlKZ9mcKkM46D49/OJG3Q/WQU5v7p5yHLkd2CA0V2geg6LKHv3gxHH
h+IqD7O8/YCYlg1tl89qzV40/dZZ3B3NHmsCx2KZ3HMn4l22/Lc9bice2zKxENpBS7KIEvwyh5hK
cRix9PmFNa3tMkcXkZtjy5zTLsWZE+Qyd4nyfT/wuFe13pmp6eIKyYbnOGhkxKQrqvY+TYBjgPl5
HyJcWSdhmL+LsptfW8e3zjNncYDjHsNlro01HTbMGsfIsL+bCX6oYQ7ZTxkTiN7OZD5eR7DPBGLY
epSbQNfemWF8erH8ZgKYw9oq4+KH3ZQJb+MsvaZOHYHibrgU4zYzQgg4BNnXwHqa4gwwbLHFwlw9
Uf00YS3oZH5BNWpZCxi8e8B35r4td1mvY8o0liDovE/ChvvwKLdvXtBEv72ujXZE7oDHThZ3rlPj
kBp0hmDc4kaw3tLaG148lpof4eglLLqojTzmrgbENC+V6hX9ZP47twHddDasnCJOYJkVrfkZp5bl
HupU2yQO4NKNLKJjJPwtoc70YVay/wjC6Cc3/Ac+Wj4X2EHKzXcP0UOAEtbm3UB+wbC0Gh4mHV4B
kOkVAY2UbN1AejFFVHTPaj4khy5I5GksU/fel1mIdryz9mkZtEdQ6Ww65Jw1P1VaXMEt8YuarPpo
KSH3pFngu4E/S7mmSHOaFtaA/IL3dDcZPFoLO9iR/R5eKXXlO3OuK2SFJoVMzxlfMzWLjZtxzYbr
3V2rJneYzEjx4tMfHp2JqwrD8p+YhhVXOm7s9+wkfTchsB/7uui2dc9grKzTbD/QhoBK15eH0SuD
D9cmZR+abvXdI8TbDc08cI3sutMdTpjmJMRRUFkNOXgjZlzaTbusj/VXQPXgNJqV+8cjtIMsUBIk
4kqoEDzuS7oOP6e/fsbkr6sRKKwdr6ZeJKf8r80xaBA7hqEx4NZcbI/jIn6cFgVks8ggC1i822ER
RCIHaffc+yWP7sQ+yvwrkmwpe86ppy5A9JZTInNpMyRNrZvxm2Bh85hgpex8uz2YpKc306Ks9Bd5
pbdoLHVbUrzohjObzmSTBqVzyxftZahY1isDFaaycdR6yXlq458BrkxFfNSLomZXVC1AUVII3nOl
FHZNrYAuxxg3WRMLyimLhrNg5Eb7YBrLZE1AmDtcuUg7PRd9pz21iDwNfBmfA/kZ74FxwLj3XC7c
d7TJnD9ssiquLLmXeuMhpffjgCbUk4sxlEQkez+kdsF3T+fB3AG2nr8Y/HCrkEtv42CqXPDyTBZT
+cxmcnpIA9QNttFkCHuTgN3coin1wUFBB41M5I1DLe2XnEnToWiYJ5XotxnEpidbKvfKitBu5SJA
dSOrr1dFZCcfiq84WwW3A+So0abWfw2qirzCZ87O+s4Qsj7zeQWIQmNl2tWLfDUDFczQyEPJ6vy1
s6q/ptaQHe6Gpji409Es8/tsumhx1aDIJGZxcbb/Wl/NRQCLKaTcZJkGJ85mtVgU8chiM1paeIqL
BjNiw8keHY+mjruNZgNcZsZl1LuRxaTpFPlyVGAoaSOPLYbTNccqy4trT7Ip33BXcLF61yMTSV6c
DZideFh1yuKbbrD5k4HKv7N3brtxY2mWfpW8mjsa5OZhk5i7iGCcJYVCsmTrhpAsm+fzYZN8+v6o
zOxOu6YrUcDMoBvomyokMm2HQxHc+1//Wt9ybxwvlV97lNgDEEoN8hmgqXKdgz+O8FCge7AMcE0P
GhXweq2sjJpeJeU+tqwaOnYuDYEigtErNsbu1qrtHYY+VMWyonhBizxjPSVBs+Op9TqAFF/R/lVu
IteKdjR35OsxZkMvwgs5Sfbk9P0GRYk5Kgla2qG1A+UhezYMt+BukeKdiuIZ6I0PuqIuuMCxuQuW
CuFUD8w1G4udtowYUoIes/oZrvK2QORb8UqOjl380LF5beJQ24Mi0JGOuXAzIqerGPP/0gvw7DUq
o4YnfKTGF39oFn6mx06uGAfVtkm6O6Zz3JLKvYFQQ0eDru1NbDFbhpE3csXn1E6QwW13jQrO2aCH
L10p6AtmNINbJTZdL53NrHCUpWXUHSTofj9X7JHgvs0kvDDymsUAy8zqeZ0YmihigJWqMqrJMrHR
s/EVROCm7aN9B2h2gwPrbu5lelGYfrEm6PMN3z3KBswAoZYVGA7mqSHa4wnzmBRteA3oKmQvX8E9
J9vl1zrGCrY/dL3g/TG3eBtSLqXIhLvRsAMIhrbB5jhLJxPZuXfZbeGrPjtTnyBHZby/bpPJHQsJ
kHKmNewtTQZP/dK+jTRGEXf0UcqdLP3cI/U61WZeWrszfSnwdsLKe6LZbHztzDA4tZQ52fsG2ZkL
jf0lVFUf+p1me8namBlwjrppxFenCsfcd0xz3lcjRakcHPpzWLTZQ6eHFazixnJAwqZZe5RSUqg3
uKySdDlUz+xnH0yYjDu9cx9p1rJPPGAg6cWVSyCvfp2r2GSvvDBKx4RtQ+v5laEP38XUR4Lbqe7e
hr0JFHgO0Hgjvcq+TrDICQxRW8mKIhhe+GbFAAwq8gp5Hu1yZ3R248RRbYMRPIjIC4/JLMZ956IS
rNzI8PyY9NiJqkEEhjzU1VPIpuEraZR4F6MQ09BGVuuzy8UFVdfJM5yGdNj+jn76v62r3cTfGgLR
P7qflbQPdew/ZLb/Ruqb4aCaAUkhBP6fs1g+dx0slnShA/1ViPvLr/1DjTM+AQZ3XX7HJS3/obn9
QQZCcoNKIIj2QQiSCG5/goGMTxYoFnjjpIChsli8kD+1OPcT/8J1ALWZOoQKftWfKuQfYJR/BgZy
5BLq/WtG20APNJbqZIcbrGfpv4aNg2k53hzaxBI7z3ZEjqFs63apkfuV9ms7BeIerRnGdJXq2DJm
3PLs1xyxNa222yqbdJ7XmlhhBtADtLgTcao+93OxKSjxW1OFbW8iAAwH2VXDWxT33YEaAxMRvQup
qqDukwpCKmPp1JhylwZgGevgXg1zW2AmvBN8wIlUWPguip5X4Sz4DojJQD9StdeKqvkO2Xhad9Tc
BSsvp/A48wz3FuJGfA5dMjYTnV8bTfb1Nhcm/vsuj/22S1wENMNbe9EMwJApehclpvee5A5bQLsm
ZcxdwdqVU68/4GGJ79LKqVmFC7nJ2Zhg6ujUfCQ5xtOXRq2tmCXDoJlRVUW7RvNKDpUXqkJCfblb
WzkOoilV68gasH7ZPddWjquNU1flZQCD/qbnWc2+SD9bs/PS4RjA7YlWaWV7gKLnYZCn2Z7uI40F
t231F1mkNxo/uQ2oE4yvHHdAKZoDWQN8sNRWZtma6EZ1U7ncpjY0nzmPnU0IjTjbEJBdteJ7USan
Jh1dDN25tcEO09UrF1ck3I8Jgk1HRx69R70oXzVTm26mpkFBSkaOUQzMlxmLCJ5noTmPmcV2Erd3
ux8dDasDj3a2fzy6N5NLE81KeEZ6cPJR7oe2xpMQ9sPnwbTJI1U807BKzUCwTc0465ICsFKAQG8x
V60J1AE65JPWrnr2/M+KlqtTIXrF8zBiB+jwjvgBV8b3GKqVr/Op3HtRKQuA0lEB994uXqCnOney
ZMHGsjJ5a6ryK5c3ibFoljuSFek1T63hwglEtyH++1UFhx3IbC3PSdaH+Epp7EVNPQdEa2ktHgtu
d6a293SV7qD9iXtJ/VfMVpLSZzql+EQTnslXRtDfuuQSbrIRoXjpRx3XhsyN88SMMxEHTeRTJ0Uk
1hh2owN4velhjMPxQGrWuAgj6y2fpMnwSvWIOgbpYlef22Q3pHP3ovKlJ76gCw0EovnY6i76nKtK
hX0oaV4yJ6gbSNIzbW0Dftb61uN2zvmgyApsLEOyWWT/C+gCf6Qf0LK11yB3ENnU+GMK21GXwXHy
Jwv0rkLX5UdRp6OMMB6CUsPYZZYnwLf12myH/CgTQfAu1oncStugxy8W8W0S2bRRzlZ2UZjxz4Pj
6RemcndcCWlPD95coomkXYvYVhvlN90T4Z3eTehpwiCBPzTs3LCBUSGDO5pJAxcIZRiGKg3+UNoA
xWwWNwEq0qUlLOh3wVj4rKMzXETWuJcSV8iu01RFZRc9Quh21Tlicb4eqg4LJ7x0c+vaePBZuWXx
WSSB2Mpycs5G1I4nvemiHaSu7oyeo5BbsvzFrqjooB+lxCQtps9VYNGhYnOdejSaXLwZYqbjW9Ue
VIq6oZemGjexRQ9onBnxTsYG361pWZIGYabuWa6N95NtKyznZdPhkpJywyPVZ8G712q92ctyiLg0
BvreS22Wx2BqLobj5ZfYlvZTTSfxk+7q5XdlVnjZ5rEU+2B2tQc59YKMirCfjKDW7LVRqeTElp8d
RCeTk43RecMizvzBEE+uzlDVE5ovq81qbJ7iCEUpNeHrr+hOnH2T8MM2sTxjJ5I0WnjupItmlG+E
3IRQSStCaOF0JUYR4ubKdNXEhFGY5zCP592Ec3hHYNT1DRTETYjsc8CQ730ptEZu61b019prggv/
GByqTskvscKbmYdNtO1EUd8Kp+1v2RQVb4iyw9YyRP4iSPO+eG6eX4B4xjsxaszRcyr4tDuY+ofG
dNauhj7epFhySejn1pq+0AgDdcYOeLDqjcINe7BmI79U9YhzI42/iWZ0107RHquo4RnPqZYH5Utl
zvWI4VBew5pq6XycEDtk+Fgn2fC9aHW1cRpz3HXsOfF298z/vjPNuURFjfDsNJZSW20y6TjrGrM6
V1Lr1rMFtB+ViLWx2/CNpJFsbyegRHKKfSzzC2rnkbJV7cYoB8J3LsmvOLwZtabZ86j2qU0s1nmS
13uvyuleboxmbYwZ6ltDlpe5hO1ddkxN/HGQ4MmsRUlPVZSIcIymXZIdIowk/F2gY/vNSFwnapoX
8IQ8mftS1oTwzJFbtm6rh4adDc4cMfuiVvaWbd1wJX5r534flt5+NKrJz7nkIh+NsICTK5oIn5u8
by96y3lW9Wa6DzxRvdUuQamx4u0p+Mw/giGkBG2srJuIIrzNVAbVxmih6RtK7DpznvfOMFK4rkT2
Bb/1e8qhhYDyGo2UdioqEnhXtD1y/arDGs6WIjjArCvXo6WZ19ZOie4npf5gTSDsVwhP4x1Q4wlb
k2v39CgxEG+cYjS2bLwEvl9d+zEGjXM0CIQ88f2oz9Kt+r05dwwAYV++58DX966o5LET1Qwk0qZ9
MCouCyqR4sWJyXvIgwd+ADnvKdBcWLON++qKicbJto5uKZtG/com3LHtaOwqnE+XzCz0cxvHuAkH
ffCHCLfxWteGoWIxkbSMoR1zKPRR70eu4Xehl8nbKuqbEENMViJx6KrYN1ySxjuniHFfWoV2xQ4c
xj70s2FfjCOlytRnOdlO84ryyv0iLm6yUNOijZZnkLd5DKyjg46tzN2Iuk7UHSVRzRHja3YPTz7+
nvPEmVYR2ZF1NtYLa9yJP5t5nvgJ1921mxrGYyuHbIt/b+74Z0lGk93NFnerxOwd677p6WwvXRHv
9TwWfi9VdW2VggvPxoqeD/7A9tCUY7npR3aIrk5qv+NqsUZSDeF6q/FdxeP4Q1XivQWf8iKz4dWp
lgCLbYXlnaeFDip+jxUOeZoeYFOdpYmDApFqOM2sEDZlQNhDttRJqIzjqdV782jW7iN74fzU4rP3
Ra+5m6ApWiyVhIqyCvyLndnFNmJrekqKgkCXERAjKZX20KU54pxtOGtLFM6Nk0zBu2vW5pbvaLgr
otnkx9Dnj6SVnZvYdMOLnkdAvOeh2yLiGGsngsUSyrA5mwVH5zoRS+DA6jLYawNj4KRJFEEG1EPD
ZuHNSIbRd7UquORxQ4xelRKLHwdn2Sb2bV9istGywPTJrAGtyUx6RpRbeCtaE0eS85lZUxNDPhMb
u5IE9fVom+DSpTQ3Vdoh90rrJF1afYxmJO47OsZD0Hmg4yrdvuk1gYtsQj2BFWg8ddRrrtBFzX3q
DOoQZ0F5kfAHjFXPxrtZhboWf7FJV+1rlVZX3TQ7rJ1xeEcREIK2nK0nDrqM71/jMh0Qu/MtYilH
DLDuXgZdz6OFaCE9I0hPrY3xNS3yHWWKOnKEFPs5xSLk1ZO1lUmgH4qhMqj+CTyOmok+YW4DS2K/
GM+t3t3beovbpNLPqZwT382aZ419Y43N7naYsOUBXgeMUdqfWVlg7XWbZhOXDC0Vprd1JfTxSMq/
8wGm50RlrVj5xCm6NWtESiz4YDi4dLpMXfXUdh51a7ZxhnUBf4NRrpqgDf6GgSasX6FQv85pC7zp
L3wyDXMooLs42o+KuiXNtNHQBo+GSs/FU2Un2LcKpX2uPTE+opR6XyZ3qO5ERO4MDb7+GsT0KVkD
F3xISiLcsWOqHkeAWVvd1mBOyJTiu8bTLgVCdMSXNkb/svgJ6GvP4iqhBSL+gutK07jUFGSsRFfs
qkFavkV/nOvG2jfkyXBjamN5pyVZu6cz6Kmv28W4V9l+UHvGF9H3EnKHTUXdEgKUvPZ1kdr2rZWl
6Taz4a9t8tolQxZJ+cJNPdzZrEOolFCv+Covfdc/WNxQVlNKEw6JrYksVDTdE+o8w0GazzEcIW7g
LmxR3Wi8kKk0ipwtUTBsAnrY2O+iq4kDafCbOdxzLoULKqF8ZoeOkEYNFH7jJnKGM/7VCUgBt90V
Hkfnvizb4Y5yD/atI4+DG4L64rvd6/F7FeDDrRC4fNVF4lrO6eSRDCP3GzjwlAgvOScWxNreFmmw
aZO5pEXZ7eMZ87A+fh9aWvKiud4C9Y+3VpPT7TvWhC9DZienss2V2czxTaBsF7tv3nQExOyZypZy
aH3LmOO7OS04oaOCnnnm10usNxg0zHGIr3zRvcPojepAKJMO02VjbcRT+6OKOq6CuVLjY5QrqmJ6
7guKhEPRy7VraOVZLPfs4ePKnX1cv7EfaidOYS7lSaVanzdSbMnzkvfSVRTdmctN3vy41GPBN45g
7rnp64k38nzg/q80tzt7y0yQLtMBnmloSmwhoH2xs7prE2WwD/Dax3wZMJqPWcPhZsbDaBlBzI9p
BF95/pQvI0r+Ma0Ey+CiaJCCDKFIaESTV/tmX2vkYBbM1MfI436MP4Zsimrf1XIk8eJQI9jYnj/R
ps0PPOWD66XIkqFtyNeqYEnoUbe6EoiuF2tskh056RYSzjJv0bv9UKEmbjKtumrEg/aVxhsGxKK8
5vjm1iXlQeslS6CtSq7CR7pd69MQMaRZTdCxbU36ah25XMNQ+tisRqFuPCNz22sWODizXSWfan4G
JDOXkTFdhsf0Y46kpim9idIOpYAhE3cJ8eCPydP5mEK9ZSCtwH/t6mVI7ZdxtTec8MyW6Fwto2y8
DLUsWeSZF7kMuoy8zTL8ZssY7CwDsbuMxrYWul8Li7RJi4TtLAN0v4zS8zJUk5wpdpRsMWnPy9Ad
LeO3twzi08dMjv+T5qtlUB+Wkb1bhvdxGeORVpnoqRmggnYZ8+dl4E94SOcBm5iOGpV81X8oA+ki
EvSLXGAvwoEAc/B3vLtfTWi/P1C5G8IJFlL+irX3Guwr7OrdHWWgD/MX80v9qn2pr+q2vSeHUtxp
2d/gEP8BBMufaMCSkQarZ7750vr5Ea7QC3LsmsFucNwAclYbd+Rnkuk2HWOYRVwMq1Mz1R3gszCN
3gx77nz23emP2bCXxTF+2S2GoglbAJu10Z8DkyMJKpXUd7MdaM9tVzmPjlzMUJi1iRaklnRT2i6n
Zj/WZX0282XhUczjgYOZr9uSdnWke+3H2d0N3KaYnam6yiwqQ6bF5bbggV4clQSHVgXZAVeQuyPf
qH2mVa0596wV7/GoYtrOMMaeBu53DxFO71cC+wlVZWqkznyMmycrNJevYy6y579Irn8Imj/BQRev
4E/6pSV0jzoABxXVWjyKP7+pLVYMZr1a202dax2LND50IkBXn+AnAqXkvfJM+6JbnWYsXA+iDXFv
7wYhja8txtxi3ZQyfJ9wPBzzzJpOmmu0VAqY3hfud+WT6VZnWH+t3+veDMHQVNcm78hu51qV8tVM
IN1MtBDu9Q7tYOlTNOTGCTV5bF1sA3438arYDrG8QdovXpu5B+qVdw5Ew3k5j2gD5mhKPo4pUicc
WdbH8YVvTq695Uz7f2KV/U8l/Z+ss/81vLJkK3VJB8ZfPjn/4JfdvL43r78h1f92+wrK/7f9K3Sh
+Cfd/t9/l99le2l+EiYBeGyq+LqAeqPB/yHbi088Nvgimzw1XFe4aOp/gtR1/LU2DQC/m2sXsuuf
ur3+Cc3I0XULU4IJQPRfa/z85VMPtBufmgPTn1eCyvcL4DxJOqwktPzRSpyskoS4uhWhWIsN58Tu
L+/T/+EbZvx683RYCGMKBsgNdBmu/C9/VsgnvazsNvDtgmY4OVzhKOzbVLJCtbezV3/NsXJ0Cict
vvD5LsxJE0fmlywUOMbG05hVW6cQ+795Vcte4q/f+49XZQrLxefseHzxf/7eB9AsPSevA7+KJp5w
9YHFBckgqsuMsPFnpwLcRekc2ejFfueFwwYAGPzvEH455cOiuv/nL0h8vOe/vCJXQChmW8LPxF6W
R3+9oeeRrDRPDwO/nfsIzcw6hMDWrghowR2iuL6qbC27q7IBVAtFOUcc9TmGRZvQDMxTQizFi0ap
G8O3kZ3M3g1OlhUfKlnwnO4bFsDqRY7fsqnYDGzLnbK4YYMdp0BXYB5NZDVFvxSXa77Z6mg+uKC5
XS8YSEi/nLf2jV6zzK6SbWUVmySzbrwUa1cUHx3tqkR5pXqStI21sephbbuTr+k9ahkgVV0cQyfY
9XV5bh2xjwES1c2XiSU8t9z1PLxpxcmRTCWWMo/VtMqEtU+9p6Efnoc+JfQ7EWSqRnmwuid6KUFM
kbYayp0J9TCnDYAL9v1s0ZGT3MKfWUN8WqPOsuAMjsxgm9RisRNkkNPVA0ysI8D47cgU6qQh4cy8
W5g501ZTkEfYzmBsXy/ey95qbgau/q35Y5RqQ6hynYFyIf+yNaEitPYzZ8kxoeKMXcrByGxMcD2X
44FsdbbGkrJHfljTXcfbwx/jAams1bVs7Ht+nviyzX3fOTkr6SUciq6dNBujfovkHdrlGT1kFZOV
UWhiuu7hWuObObg+6+21Fj+kqtxrze1U0XHoRa8wrXzLekOOfGkppCV4TI56lYbeXQsexpsucVPs
XYPUmEt2hKB6GCCN6p5dPcQdeESZazdTzU9O9gAeq0RdBZJwx2UWe04XeBdMJ+W30KwJWFYVb1o+
0Lq0whz5HRxYdE8pWfnqYQDBfgmOcu1gLQEAHx2ksh6k0YvPTioGbgBh/xX7L3XxphfulFpK95xM
D58I2BGJnsyAvUdBPFmkLJjoAu/zBzed+q3htHLTAdQw8SmPE/y1yhlf7Qb/cYG5HP9vPYQ3EcHN
s9mbd3bTOvfNPMhrJ/L6d/b2/6y0/6ZchMeS909PyOMrkKjf/tdrXv3v306vCGLxT/mSP379H2ej
80m6VGFzBHIQ2qyw//1sJGDi6RyLLJT5P2epwflzqW1/4vywWXSbkjuotzRl/3E4muITV1bBdsYg
V+k41r90OFof/Pn/eBRrZF6kJfV/uNOzHAyNHkP8DvQKmTotUMQTUGdICMTDbWWlTul7RFjjlaGp
iBm6tVJf1+r6NI1DcKCbkXtvJO1bJOJoo0+j3JBJHfeZWUJp7QK+O5UWGuQYbGPYBC06pApIeNRl
Nx1yrMGrrI2m59HL2p3s4JO3tR7ty7yp7/gapc9hE0AIIF66g7PNaQWb80SxvXcoZtz6Jq4+Py+i
5pjHA4ULXFdfqdzGqR8LGW9AkYCBbSFEbNzEqnZpnubbYRow3lXKaVk2m8lDCbfLXEm2z2cgMWRq
Iyo6vofSbSG0aoN47AoNPObEwvFU1wPd2HDkYGiP2jYAqb2bIuvdIiW8dlxnRCoqMJGVqWB1HYiK
fXjkBJQmg52YUVdPMBzhXbbF/FVLqfEkfGPujSC1j6mMJpgm3FxObdjiwfIyshW+3iP/rwwnt2+K
xurZlPPMhUYfnGx8Lm9WOg+rrq20jRvisEygVW8I4DTfy6RIn9ETqucw9vq9DkPwi4xYSuJUIDeE
P2raweYEBVl1cfOtpxT1aDL5il3EAISSHmH/UsDvSh7Usfaoabkcb2ZLBvy6PoNrbbB4yMYZr12c
ac3JwTP0qlVxyqlqETbX8q7zYz3TFzA4v0tcRTSh9pxgfgt3bF/MpvBB9RibOXOmDVwH2OeOIMcX
xr24OqLPf9SKn8JGsAx6IgaE0u2Shg0/M1K4PNoHAdqINj0JY0XPER0ZA8K73JHmwcvr6GKLXLDP
a4KIHzf8G942Nsnruo+mS0Ch+qptEvqj+S3FpeElvvbkqAzfBvhLF3Vt0yWrMTMWGt4sUP+ZoF0k
bw6RpU3bPDKCHxPPZGI8cFUyfzAiT1sbfFQiFsS1uEqnDV5J3KRwFgON/xkN4c9srZJN5E0euOGa
WpIg7lqoJGVzXwoBW2z2KiPe9jPCihBzfI2tLPxh1xV9hjDEcGbEU0VaBvwc0c6mI/Gt5tZEesn6
fp+4mv4e2Nr0Okez8dnkj4XfqhnmD91TLl9pIstQGnGmqRWlK8RDzbiFY10NGexxLgquuUHVqGAq
QRIrN+NgW3vPzukRFpp0rUsUY+zaWEPDNoxGGSgwNZVzkc9qzn7gNORmZVZajhUCerDwE6N22U+z
V/muprpE1YwNfdXlTHEbyCuIIZoe2EeD3s8Wh6DnXbNx/CZIYxymJfduFXO2p6+0g8NrV2eyo+lm
NmrrwpvikVVxq/Fp1JLw1TLplSPikh6qKSC+KnoAo5lDETBIRPHAfiLn7zqDXljniqGdNzPrTkYy
qyVQ08RcBh2vr3zFrIkhQgsfWMP1GzFU3vdGgFrcjJ3WocXH0RsgFvUWBsmwdUBF3M5VqC5Muxp5
ZTu/UONtd6uw0RYHsDFZ3E8nk+uaNLkCcs0vz9Q56xuVl+ELv0m+J/uqX1pqx9fK8l7QaCuf7aRz
noeswFROu0Y8uNm5m0z7xbVCoIYFFMmVbJO6WHdLoqGSPHviqEqHNUxITLuDsO1D7prlMTfjKtuw
R+CnhnciOCeJHPeTE7t+1BAq9rH5B2c4CRkrEnAbbIHYlFQ+7w4czMryPjtmT+Nt23qItNk9SwMu
eCMbz8Fyi62tuRMVs3ZfPTr24J3yKuOmxRX8Wyki64jmOvn60Os70xpRQhIT3ErLHQ9Wa7oXMQyF
zI4U5uFasWeQjV8uz/RiSiXxJ1y4TjhaX7OwpSo4jqwGADEwAvbS8a3Gc+8mp+zxzmtxaER2MGz0
smmvNs/5Sx0OwQZSC8lybtP1zlGRdXF6K300yLh/N3C04zOP08HvXeGd5nxM9jp7t31f2GpXWKF2
rLzI3ltKFKC6xnYEHqvy5CaEGQIj3VTzW6hhJknSPL7mGpxhNXb3eDQw6/K0BFzhJZ74yrkNlqxJ
IZnZ9uTcz/jMV2TAqEmvPT0/uh2XyTsr6ManZCyjH+C1w2ufYJEQ1Yg7XNOV9xYqmrS1trFYi+KS
UnnuPPcxd+dRn13kjinf48acJZlKA84dnjWYwoOS9/logp5tZlRXc1bnodGsW9oRpSCuZQRHalnh
X+mhOngIstuQPdyBwFUYYrXpui3Elexqyzb34ziIDEhSUfNdt8ki3go5zK/gBkGfdOmM8Kunpb1O
aPc+E7QI1+EUAMPXXetMvnD4KqBvQYDTe/xHOTqSl5fLM96NKlqWaOJGTSiONTD425mBmmU6uIHv
5lAWtwjso5+2E8YR3UW/r3u3/YZrg8LsucDzomrtOLtz/z3HZrstjXZ4aEKOoRXJeOqJZegewzpM
X0XsWQ38NiwzqIR6vp6yJt6iHpvrsHFMiGgWAOO2kv1JKsM4DTlWBY9hDvdvEu8mq+RJp/FrDtRH
pOeyDsZLAvkQbKa+lJC5Ne9mV38OVNGsc46TdVhABEzHsr0qu5lhMwbyEQb/cIkI9eznfOK8JvN8
cgk0RLpREA3ULC4DrE9JsDgS1V+Ebx/j9v+3a/x/RRnLw835F9HhHzSsm9f3aHr97dK8vn9vo5+0
q99/6e+Xc1d8cm0X/6ihC50M+CJP/SFcWZ8oi9XRoD5Uq0Wd+lO3or2SX+DhALWQlKTHC/lTuMK+
yt3cQ2ORuM2oqfxXDKcGNby/KjeUOzjcvYTN11dHzv9ZJ4nJp+LZmdvtmPWRtaEeN9oZbRPdaVqi
P0V2Zzy7dJ/DluKaco4hnRtHtwDzgecheaBlICZsO4T1qlaTBeQ9pYW46LyKBT2LOoxxfR89hVAL
JiaA0n0aggQlqhJiM2qmjgMgu9aWOX6WNl/0LuqHOxY+T3PCPW5VFYrVfZU/hnNRvPe4d+8actN7
wT3i6MxzRPVN3l/ydMzwLDL4l2uA4jnBvUibKSCYyCxgLIN/1RXzCXFRQb3oXbLVFCNMKzqmsvIo
mvpajE4+XweP6/xhQQc+VDwUhg2s/+EhN8rcO5JkpX7A0zNSPq4louEACmWoV+YQVO+a5vbTaqqL
ANpiTr3ymQyG55GtYdXhTwrnw/00pdW71VhlvAs9IB9wfkPvHdzp+DYve729aGDR+Zzm6TpMlOYA
eMP8sdGY9vM725XFgpi1hx/dwvy7HaO8fslEbzyWDoFjswnce2FN9o4i+QNRcpNzRosqfVdmrvPG
PYSFo+nAYFjVQVPDDIscnVsbzp+NM0DiM8j9x2sAAOnSAq8/Wm0Zf+3JG76zvqPxXW/lbU4pjfRb
F1hVEKkQM1deqZM0RLcrQpyLq9Ru8h3vCjz4zmbpm7U1tCay8/Me9AjHOy0RZzPT8vRl5sNxpaVd
a4AvFfpRI1bEJToTaHAhSkYVTBEOKhMsR9Vz/85C9mW9SQeebaViibsp+RETJ9WdfgMHrKGgYFPZ
sIDjNIjD5MFtyRW0ZBvxgPH3RsJz1ok2GxH3iLF8hf6G+TDuzR9hlrvPrHr5kBtElcyXqEJ84XpD
h18/vpkGQWwkS22P35bNZIGJUE8gG2w6MNUnp8uvy7N8XBVNdOYwpvOFAPXXpsnim1DFLaibaY52
dSfdb00uHIKMupZ9GZqxZ6QTNiAQB7NpuJaWIBbc6zhV11mSYYNjQ5xUx7YwtZ10McABuwnbswoG
YmNFcXUTCrTj0rDqnYUGvapMD/+vNXxtLJBqekXYeM3t3MZqObQprZtl4Jp7HZbhq51zu37Gwx2R
hKBpHuYWuF1KFRjF1UFnXB5Wqp8BhJa5Ttu0IVwW9Yy80ZcWExBLEyPsym1pSjLt9cSVBV+zqhWn
Kb7uLbM90KFIUwbt4rEhVxXa71dzlo02QsaWWrALkJqeLSAt2q1ttVGzjW08j1tGGfpJLGyT05p0
smkTXx6hqyRQQcEfkOuipMoEGT5SyoS5B+MpbThro0504FIe/9U1chW8hEkGhnom7Q8bWJdQAbYB
m+1yHSsyIetiWhp6Km7p+y6Ku0c9yeyDa3th/ZC25QT5C8BR8l0NU3UeWA7yxbbJjK0mOtGeoGCR
2rbKJKUzAWu2bwZBUwGJqbl/h7bMWj5IM9nbFhBhBifU4A6Zz9mPxgMFkzumCn30g7Q98Mlkrq9Q
FFiHNdZ9M8TFbUEF1rujjcj0aD5efITJ1bxBQGq0VR6l9SaI7BGxmX/FQ2IUnzGeGZ+xtc8gvRH7
tgxa4d7W6UpisV1huKJ7I17PlJCJDbF77KJpNBMK4wGJv4YFeF1C6QTMZsQV96s0QmBZZWNaYC4o
GvV1YHyjE8ounkuZTOAYbTXd9kqkx6IxcRQ0VUV43hGhhvzgqb1jdOpm8Gq0Ts3NqBNIIm8LqXm8
B5A4rS3MEVdGQqD8qrO51YFpKA9BTT0FwFv4oUY9xaeuU4tI0tSPRiHMZ5Z0ams05rSaC8859LEK
YYVxROb+qOn62xgO2drUxJj4YawtETxubzt96r0zWXVtXWg0dRHoIiQZWUVF9U7Zv+pcLF9wulpP
Lf0mB6cfuE42Q3DltIzdXW3I9rE0kvGt7mLrHeu8elRNrraDXTzApcQ0qkCBt340lA9Jb43JCnJc
dazrlCeva8hwb+SoJnk7cDktCtJYeMswLYPNjaOtmw1zswJs+zVE9a43fVu0p9SZ3B/eAI+tiEtr
TSOUvk+6joYyhOWQ9g1dqL3OFOpnQ+ZC1cvKfQ75HNNpom7ttjYJh9CnkGwnrAc8XEPje1XG2rkn
kQQ/tQiN6jzlJjjTf2PvvHokR9Ir+os4IINkMPia3pTJ8uaFKNNFb4Ke/PU6rN3FagVIkF4ECNDL
YHqmuzorixnxmXvPbeq5fNLZkHkrIh64uxBxEWfpdP05TaOQzFAac5dym2Qal9AWhD2TfZ3o1L8t
aqZQjI7UF1dzfTXjan5LepfWeKCFO9FihOccbiqvhcbu3rXH+h7NIb9uGeDc8lrad5zd5nNqNeQr
kso23wuPwIuYsVILpsJDdZf8kUpkTyClku0Q5HF7w0+veDNZSWxGtzX2Sd26+1I4hBCU1XdPs3qJ
/FndULmM9ElF/jpZID21byyizNJBZml1IPL9sufz5o32xjJjeWdWlhmt8s6f7qzOmKsHfGoGWPqy
fhdWwQMW4lJkgl7qXG2GugQ/pmTTfpJb67wD5ejvxgyJwZHhV/paDmEY3k5ICPkwJk7xSRxB+wWm
BVJHM5a1cWqaANHAhBYHvkvYew84fHElEJXinSq02xGz+pJ/ThFN8JqvtsBfDM/rN3UZQ6pBqwHa
L2jdOycR5dodGk5mfrgWA4umaLdti+KH6BI331QUZlB93ZFOYx7aH7f0AQCkPb827aj7cYeW1K2B
AchAmOIJJG11l5YlnvTGm3AuulmfPGWFLvYRcI5zjGJxb7KQOPm1xxey6jh7SayMcGVfNlw2E28O
LBYkjtGqj/ifC23UxxSfNyy6Jnv+0D7I3u1vGk08GcFX24yI1pqmL4DbKYd4XDEi5rpYhlsToIT9
fSX44wXRg1UBmsJDC6KBTN9TmBKEFIdALpxYhdUGXtzMw2oERJD5SfnOPi3n88aibjcac2zB/u9B
/TLwWvJGEILHRLF9pKigz04QBB82o+otdE/2gYr03XNYassFxO6mR4+XtKW9m4l/Quj/0qpQfzFw
wSFql8yngSL2xsrvSnkfYbu+qpuqeCz9jtdW1yTPlSruUYJWcXMs9BzaW4Fc9sKpP21qWN/zgWIH
wwr5A+ET8bHLuUMEp9MIsIYy9/FA1QFFE/LshCWlPU76XcUJV40y/Pm2JrODfVg3dh9tW7pbL0oa
jMGkGN7a2BbhFgy5lULOcUyTURijVqTqnbNulDk/hRBPHhlTpop8P3++gbFsHgiSLog480bnlb1W
Hz2kY+dftLNQAjlg1HdLbdmiFzanYNdwM18KIqhOUVYG8MLzVh3s0kZgz9yZjJ6Q9+xgxj4pT23r
QM20ag+6zsLiVQjLHyS3DkrPsIOu3sZ4P4W6DFO4kIRc3dxlonX7HXoPt6EkMcyJyr6X06ruQ/mA
lyW+JYdAUuSx3Lp1bZ1+5eFo3+uKg/og7TIkcdkg08HtSV3gxCMmM2tgdE8q+eNNBEFQCrlP/uiX
1g68lLw3u0G+l9j78cNFWOmkFjWbhQk0TEQ8zFvKjOKSm7XxWeJkfzAhqcZn0bT5uegn78dXZlxd
4cwA1DZDQ/hmQtU+gzQETTRn/dmD88Kg04vMZI3hNSl2MqqnaRMXnEIHrXN5wKhqPMlwyvpt1lQN
Tli3PedRDfZjik0TnX1lYz/oCFQrBEBGM80HghmyfnqZVdBuQWpXE7/X0x7Quhi7AZmCV22JrHRD
YGi9HYoQp2/YmEeYl6+jiTkhwCu3meOp44UI/R6UkOS5mqrTGNnqSGjowsgKnTuEy3jyJ8EwJ57A
nJscXvjFomfWjApJnWAiSbTGSjT+T0mKZAPW6jiGQbjVqs12joH+Wg0RBp14Cv4ERtXcOqLk/Jt8
AzfGSHdotKw2cmw/AyWCswGeL29CvywvI1q3o06qZmdNRnGwmiE969Drvoa0re4gKAVqHZA6SO3i
lY8Od99OqgGjQuaH75Qzzbr0o/u44GgGmUE1PcM+HXRKzERfBmcQHfG+ItmJVISuuepEyE0NxWUz
xMMX3UN7tErF7IybON32xdB+p7owh20yZOoIeEG9EyVggUPUsj0NPCAknU01tHOBxKFMCZFv0v5j
Vvobdjq1VeYEy3VKN1ZFRXCUmPoQnIuZ2U8Y7tAg0dXGk21eg/sotizCFnS90aPQ7AXUwlHetST4
qrVGuH+WOm2vsOFXx4mQTHi1bm3eurOLucVI5JVdBo889nfSCc/92D0ztmPWDcdqpdxsZrqLMqCx
MO/z4+zXPhggGrc5ia4jA1nZOpm67Lm0R3AGISt9uk+SwvxCP0mzHT/iKh0vqM4XaJFsk+tplt5B
isE5lgGk1b05YkLhNhznN4RjmDeb+jbNWZoFTXvoLBt/XNGxdjBRzDOnrhEkIkN+ZTrXf1Zzc53j
YTw3WQK6yjIzYsRIOP8UfmAywQQ5rrqx3E3Eol9T6KF7Q7Z6gy2oe4AVxT2ngA+HtMo7nYWovZza
YIQ95+KmlLBekN8jRmlS9nRdZrRvOlDuqbVEvy3yDor9ZBOHRz7WLvO98ez6wfAQhKC2TdWauwET
76Fmg7rDMSlfVKGXnHjiQvpNX/cz8a2zumQ8jXoLEQBTQdlZ+VYb2u3Z43UFekHhtVzhZH2hjnE8
umHDrt7bnOJpg7+0//GyoPUevXBk4myJoqAzaVGEt9wm37UwBnsNRmI8JHNcvI8hQthVZwtimxmy
VuElR8/5HMR9Sfmd5pcyscW7iAx5S/6O9d0kRmkttlYA9xU/h2NHd7OT2M3MlQeZ+TnV4+CuDFWJ
+AGgVwGyJdRqW4WyhTGU6fm1jyr36DEBOo5dg+0AhHBxsdIMFM4yIPkIXcPa4pNc6NX9SBiXTYI3
QpsCqroFL2jVDr2DnrZDqph57YdAiYyZzcoPwo3f66SMznbTtAR6LRsaaCYkEnJFWhsZlO4jKL72
wMLTFtfhCP4P5FFNBpJoMADvW7xNxs5mi4Ozb8gL9YzdSpj7ilvTJpUuW0pGaJ5DtUM+mfBGtH5H
kAXIqQYJoG/+VLDRbjBOBi/mmIPOiBBVdPw2L3mNQYOemOAgwlIgfyBUVGN2MrzEzh/Bb80PRWv1
8iofo7Y5l5D4xg3SeCbeg0FSClMJ3FUYX3Od+1tN+8Yew7Q9TqSYtA0bsek1TWcN5YYbazcMGNLS
EAUMrZnxyGJFXcE1bNaUkDbbdACFfOTi+oYjXzpn3eXJrRXYzleWdOqFyQzbd+4jKunK3RdpVt24
fqW/QC3hV4z90L4adWftLD/KvskFMEicIYCdyXgENoSBuI0vOQVMRjJAzcCARZzAKCkrnDebOsaV
maQ2CujB7ULmEZlu2KaOVetsONfRHaNyGcilb0r2zyzw3XzFwpWPe5NEE1Axk6DmQ0MnlsAanBRw
Kg+Icp26LTkFddW9kkq5lMpNSTBVTEzSI7Z3YiQDJpa3Be0L/zXHMLSOch7MFfd0Kk/azZ2P0ADH
UHdRiGIbCBoVDlfU5Llwwx0Az6fBr+RnmlnVC7xf9QpivxhZsEXGpVSZPa1hQ6lmPdjNBEqvpYRF
sF0fqcTxA8xVmq2JKW5o7wpt6nWVtGw3AV+F746eqn0hO3mTLeGkNF1sEXat13kbN1buF0DLwNgk
Ar2BxGtBBDU1z2vSsIrZAyTU50RL+5K7pn3IcpK4eYLt7L4Ao35A4ICdOKrpPdbCRxzFj0QWV/g5
Q7FqNEwxHPHsWbd9XmKfDETO3mVFzk5eHRMcnth6civZp1hF0MfCjnzDXQyXLphU89xNHokj2Pl9
vmtPzjDY0xadLYl6DND6lCq5yyLrUXkq6rdOqyR1QhraZ9n0UIFDt08+REN84sGJR8PawYmG15n3
TluffK+bX6AG0HTxeEpFsNfoudbKMcfwNWZVvc8LIU8MRLwYtold7JnWZt+FzsV1wVI7wbaNkmCB
09XyNu7C9ln7bvKiBxOvWjcFmB8H9jdynRpew1bP6axiPfCosD1F67tqa6WJ/exD/xGxDd38KDh+
Jmkln8E0tMxBhNDiinMCDwUegIoHNHVz66hGAlfAk/q9fR7yvps3ZFh7X7Xb1U8o6jHvpTFRP6tU
MNJbrL3kNkSS2SO9gJFuU4JOUG2Ulh1+gBTzzqOomZXGfqJuUGOztvM4Pzmwk5Alac75P29SFoXm
xi3YvS0kdAY2Muq0CVa4r24S8CIkvAH1e5NBEmxmT3dvfJJqcVWbLJZCWNTdVWWK3qVe9kACGXYT
fgdWnES4AxcCUxAUhl5zLXGujMWY5U8op53T7JdkDpldq0mT45p0AGH7w96RbI4N0UBS7ytzupoK
g10SXaQRrqt6JGQZin62xI/G853QQVrtMe4QGBemfrPROHC7bR87wfUwogFa120y4yFLAFQMQGU5
UE2/JQ6Js7OHDUUydjmY3dU0uOQvGJpbBjUbCL91XJsMkxpPcg7Mka9umhmC4yrjZqMFk0gxgyRh
Oa7srJbAuHFArcwhZFg0lbxg+I9NcE3ssxvsstwiNc9Q97XyLCaPiZQrxyjbEdY9KEA+xlnFkjSr
ahJ+ODbDlWy1cQe1bFbPImb5HGJ5poFBFcPlYhF0TVvvxD+OU0zvSA1Yrid4alAdgJvlPSZIOBq8
+D6FlX4goCXqd4ti5rmKu+o8T334nOQRlXShquSS6ey1MuxgW8YQO44Jl8g26ATLf9CdAe7MoPhg
oWN8l3E1PYK17YwNyiKT0pRjdwJCyAYHISp8KXrIUWEBXGbZae9/UczVn2ai8qeZiEkCmCvMQzRr
EfQMlk3rtly+I5b/NjBRXCLrKHP+WIYedkwt7N3IQOHMSMdhJ+t2l8acRIeDtbTZ4nrDfLB5cO9b
PVT3wUwyCcQlK97AjRIPtW44s9tZtY8pIJDxHOmu2s3MV8LdPHg9iSfEcjGWqSAM7QKns+OD4vGF
moXNn7klNh7wgBaQI/JfrH6+qmySeA7NiNTuxDRTkYmQCusIuOAh0uQhMkmcPswgJqjYKTcQY0Gl
6jkbvljIaDoBLV6pyUaXuy2J5ENKa7Lqy1SxO65l+FgjkHukFg0BsPiRZ6xNVlF4iFKtX6Rnlj++
oHJm88IcYK0aM/8jGuCia2UvaD05MuzXXYwid8EMYjVxMirKWub7/93V67+wt/8PQYEcC4DPf72f
hcmNcrKtP/79cvbvf+7vy1nzL98UvolYwlXmvyxnxV/SJSfKtFzoPpZj8nf9Yzsr/jKhESGmtIXt
40Zgo/v37azl/iUtF8eBtIWQNgrK/9F29m/s7X9KJ/najnIcD6uSrWAVOd5/2M4KmpqxFcYIP7kS
/YFwShALfSNbDkDnJ1wq1nWbe769Gf1lmKzCXhcri+vr7BueEZMTlPB8F5zdr/nk+P4NmpnldxQN
ofVaWmTVI85g0oMSsPaCEcc1bmhGkGg0qju3juMXA7BbyJjDGco7LcgU4P6L23QN1mygGS1kIDZO
NuDZTaLKV1jGJcFNsm8QOOMxAmzgi5xjmeIZEw2WtfBStKH1YyWls0XpJXyIJp1/1KxP7kUaGeKm
Q3rINiIaHJdPo6XT26GuhitURDkUtsxE0sVe4sRyx1Wb2i374CbIKRw4PmMT01wqXjmpJ2vPvIgL
RnsCfOgQMDUa4yhGCjfi9LpyenQmawDL2NFFSvO0YXrpJGsdAlF0lJHLHTo4Ek4haFIiDX0SJ7cN
G302DGxdpG7sKxJNJw6wRvXZwVDhkJ7qsaJvlGHD7bOs3EmoaFCgrsZEOXcCcuS0rkzUlobrskFM
FGVLFQryiJvyyqpVdDdaIbGclvHl1u3MRmFMy25D+e1uuYwXr3knFTF9WfzCV5O7sA/rC8o8VR7d
rMJBOBfZrHZoJp37FAtgeL0sZ4O1hGLjrxgR20whpxms8VBKKpMA5fB87bSs5mATwpFdm8PsGAcM
mckL6Q8DdO4qDPrroB4nMCtxjLFFDcK9gDWwiDVUQVNcKZPx0qr3M8CqJV7wg9viQVw3SKH8o8lW
uTqnYw4BUyH76jGvDMVBjKptNyCbiRYNZ8G/sxuZJmxdEd66KU377GhOZTNto9yHHYWlg3BYJ6zG
xyaKjIx9rO18EjWvn/KoJLo1rOvvsgms8cRTB6/XzIOp3vZ1y73uWiU+/NrsjrgIKM707MGaMg3V
5zS4jLSTxLQ/K99CYAxkkal/xIAMjy/+vYnBdlie7AFoFnvhOr1qWQHe1bG3oJ/kU9Ow70cxR1xs
2FnRSaHGZ8Rk5RUjgcS6J9GmeZ+B3J99Nz30JWZdih5DiYeg7gk+I9q0FY9xHbJ2tlA86XVnVtND
XNjzdw5g+Lp3zRruQ1dG1m1NTIiGd5uKYQvqoeoPKK3ya1RheP1H5kx6YyZ9/sYoRN/6iWfqTe1X
U7UJTB9gpOHazqOeospZmSIHMauQW7XbFNfyFa155G6qcKKySSak1ecOtjTypTB3ruuKofGGyd3E
LjQB7t76Jcxsb2KtIq0QwYUFoRaODeKLlaPM4NmYs2A/e8SW5mNZfGcV1MqsBkkRBs74wio5X2uu
TG9v6Tp/Y7XN56bym/YWEkC9dpy8PBdm1j82ocQgkU3MT0BAjqfYcexL7bsjslzfTg5djx68iC38
qonZi/xAO+Y8WXnanJtpCAlQx3+zJcU6C+4wdxKP7NlRH+z9ibKGKV/0OVYGs3wmeKJHt2bh3KHs
fIylaRNh4OGecDJwlyustVzlgSezb3gE9QkruA8OZCS7qYPi8qXJ6vN3fWaPOPq5capNnnrs9bOB
bqkPh5tIA80MHLFA1sIyGx6qISbgE5HKSLwIRv4GJHuurZMkzeoERzPr9uNkW7R2CPySTWpTi69n
ylxz7Zq6eelJZrwtetZACEiNd+i0XvGk6CTRgY58UEg981FJG6XrbvCtsa8DnIounkN/79YDj2f0
MseG+dl2mbVVUMi2TpzWO7+LKFgbJVlr5PAuS5oHcw13Vh+k07h8Rn1slAAfwvakp8ln3TF2NrpZ
p5q3gH2Ce3Ro5mM40RStmAR6jNNcC24DeLLkzuyII0DoIMioUp5LCINDMsKH7CE6HcIYYfO1Ywf4
jkKOnDVppvmWCZQJfJ6R9wW0QPhoKY65TR+OVst5EYMvsFwWFCSLFoyRh9AfnvwJbzjnlRWj8+Cd
j7dz5cg76CmGoKMgn3Ydd4Rob+TU80KEG1X3sRao9DkbSsKeqhjsfISLjIgiJRblZR5LcKZO6q8t
DzNd2sbmgYd5No5dYYXHcSyrmCg8H/2mINk42LXa9Q8Fsb/fcvT1S0EveGf0LQkwI+zqL2pOhNms
kAR9GLOacsNf0eZIS5P5aBVOmh5Ab/jAlONJTygHZgz6Si1vAu4Kmps0Ty4waicKhNq2P6hvuehA
pVePU6ma69KsBgQ+6Yhmwkk5WoGD2gBavTC/GWVJjDeN/POAChImU4hl0DSM+T7JTQUuX3VNf536
8/TIJFPVmyFJuY7CtNYVbLlO/cGQNB0YxVo3AZloS6T7UGJ/ACaucRaFc7lRvadwcY1RcEv8JRsQ
h/A5/zIp2YOsGrzo2rBr/00uopmE6Db9q6PxUNR0i7QGFTUqm2AR3NgccpvgV4QTM75n5PuZLAKd
eJHqiF/VDuIjFDyhmNULlmAil6s+YNeP1Cf9Vf2UGrS8OcIS5YwhmXvRCEF179YZjGTweHWeQGij
ZzN04Z0s7Zli3y+Ko3zRHmWEq7MNDJecoEWb1P3KlFhYirVH0MRq9AIIhHoOasgWaJucX5lTtCie
5KJ9kmU0H8bcxMJXsfxfRdVgYy5YFFNJWDIQUIuOqo3C4YxhDnGViYNyW/xKrkgY8276RYfVL4os
Z5DRW9RMj8avXEv8Sre8RcUVL3qu/FfahX+UrrXmLFqikOC5Hp2ilZ/sjpEmwDoWxqlHKmYtmjGx
qMegS8FaTGPrMZOMoF3oa+WNnej+B6Ek4rPQW4Roso0QpUW/AjVXzCn8NUUcJdI6JGxEwIyfoUDX
RmJH3D+XqFbjvSyt8lu7tlnfDb+COIEr2z85v0K52LdQe4Whz2DXWbR0NlNjQgZ/JXbBr9yO0BXS
NbJfGR4hAP0DiSaI8+LUyB+GX8le+SvfsxHy9U2VlieXeTSrWX+Y7iYPuBOq8Ojaasf4gLwAOWA0
1ij5fzWCv3JBz4mQDi6TC1ZZSraXeK4jZO6IfIvEiCFnDfat6RANwnxmwEYOz2mNZyLbIghE+phS
g3zXi4rRLSDzdd4gNh7yR6poFI+GUSB+JEBUIZqEb1N8kI+LQJKD1n+c4sT57nptV6vQqYvbzm/0
czdmSNV+pZY2mvSrRhALuc50CJjCdKxnktqMm6Z1ievOepyGWJroK93fHtNc2s1xqiqIgGnlfHFB
ZhuuLDpTQ5GH0wbNh2DehOujz+hfQ5FWPyiX9Iv1298yBKbXdYOOgsOIp+JZh134OPz2xUpC0Vyc
Zg/D3xrnammi2STpNYBxOuvWwYrgLO22Rd9NvvH0QQKeXJMn9JAszbkhbE7+9rdnZ5FM/27+9vLp
b1+fk1eQ3MS//b7/2/sbv3MA8TsTYCKQw3P7nRWga2ZuEC8jhMbT9njulsFC8ztjiJdxA8ADJg/C
4SqPUF7e43oN73n258Pcz4JZP2rQblPMXXeJVeysgaZWZzNrbOwoVAUxUw/nd/5RIXGiblQJ0eRJ
M0UviLDJJ8TEgfcnr2oqQgIRrOvK1t3FGUamIUm1QtoXM9ePxpMJ1WmLWr9Z9w252d2wxGw0M0m/
7DtIa7MjgDt69Nv7wQjmfcgS7bViKEGE6xKybssiLQ+x4Rtyw8osjremjJCIOr1hvEWt7IwTE3sQ
U52de0+D3UsMRolj4Uape1iOmfKY83LR3oTO0pyVXkO2GZyG8SGesKoQxuIn/Ajd+Q39/fAueBVy
k6CRs9aK97vaODBf945dj++wz1v2+1bq3MaRbT5S4HLCJjMeHnbR0QkAxvgnD/S0k5OXHWuLTPBD
D9TqmqZBBSc2t+IzKeHMZRbtzIYig/lmNPsMnZfs4HcmsnClReE4Yh0DsoTCGldAaXsMvGTPpsmW
D7NF4O6c9p98fOVVk2ZttYosk9udqE+w5GxNq00fZbsBIjyYDvRut8KkGIJ5ZMbWqfGjQO7oiE0Q
cLGR0FXR3gAQc8Ek+mhL392WC2w9tx39K2NYB6helyEwCDC+T0/gpCwHRKfNSiJuiui717V77KPO
esvHQm2ayK0PacUxPwu7jleYMzhr0haBVtEynHdViKSFbWCxRvqHIApFaPPuGJqkEQ+ZmLTqCIGh
QtsVTlWU7oIkw95Rw9g76VKAi238QAbs6wu5ZVrKYJx4kISCEvkdPI2oGG9VpXxUrm3sf8eQFB4Y
/z5Fi5p4xaDTX5UF8r68mr2dDd6XWa2pTuTUMTh1COOqmElfvJ5pc8Vms2bX72bZdoq75r5eHJx2
3XmLWiFuvpKWOfcOc2kLJLMtFgFh1H5X7dzfQulhtZgLk8Wfi5OTSxoV54fTDuYGRKv146QOimsU
H1T2sbxyukjesbF0UDgGwzUSpHPo+fidMqIwMdaB/Usd+dWwO7ikMvRWsSiG8xDRJQlt7psEi9/Q
S/sFVfg3jxse8IXi2Mn4O+vj/IjrESZ9jL8jT6iQR4voblAKp9xteEF9WV0U1/AubuvwnZoiZ+kS
T/LBST9MLE9kKgXLwqmAaTaxiwdx6B5TgKQPQdWa+1oR38nBuQFLZe8tAGvf7JKtQwBS/mhX6WEu
FF5G2aXJphqrYpfktf1QW9aExEmZnyg/8ez3Yvjo6irYAJnJ853fTiZeV5Ifwy2H5PA1d5JlWpFa
et0ErjqBWaDo0kwds3U/GPrDTSWggFlq92rCDHkoR2r6VNrePoERdUBSTbvfV3DolT3dSBdV6coF
GXc1jD1VoYIO+2dKGuQQKRUkco9cPU6ulFeTwDMom8KhJ87w0cOe3ggq+T+EI9X7umV5zWXyqv2m
Yw5cut11IzlEW5mUyboCGRHs89IPD6017XUG2p58+JHA8YrhRyqr9olyVzOgIJF9Pf72HGMVbjT8
yB9FKvnRrZEHQtqZ32D9y/sCDvQI9jEBformnaG52Vnw3Dkumdzs3TI7DgKyRJRZ8rZLHYtvaFQE
xrplQbFj5KzruzJYh17rIu6lP+08R78OtYmYfUJlbLqee5/5YK4hfI1w8B0GRybMWnQK6avObPOV
rWW1YRtY3wz2YEFdm8QOnR3js2bYVAUKeCoa9xLpRXkEDfHEPmal7QmY5ejdKMq8NfJl5zy5wtq5
wp83Au3StkDsRI/cx2jIQmPbcxkDJQDb6ElSMDioEnytrXphfVOx0ai1Xhc2sgtkJ49TRgzuPjb7
8VHKsSFJpWR3qP3OvUVxrSRCLDldDxmpZ5y4E0lWRbab2iXYYw4rQZhKUsHYc8vjFETNm4Fs69GV
GpjsqOfmae59qr0wtV/0mJh7NDAEWZWzeQDFHa3rImy3HhqN8IRmIAONGA2b3nVd6pw59T7BG3xI
g29kLC3mBe2c/0EsFew5H8p7PQ9smeLAuIGQqLZOgG474WJFLFEg3Yiqcu+Obr9GE4/ALvNuKjfI
LUAVPUQHnz0Kh/PgxmczrYujZ9bqj9naFyOg7Ab7NVOQBdNFOjB9R6Od1hbyTkxnPfMjo9xHY9Ie
5Tgzm5rKWT5LkbtvLvnCIHa5SUKok55uq/1Ev7E1CLOLb4LRnT7nOLOf0nQ0f4a6M+gHfPeCTHRP
EN3c3lTGlA4LRCGipjaiA+rvL+1aotmyjBsPlN7TT6SS/JI2rjjoHkBuzSJ8ujMJ9HG6ifhnBdgO
zFRD/tqIjkccAxPyMHDdeIYNR9NyZ9pYrVduYXHprf5/rfDfSfr8R14ANIT/PGvgxGbhP00a4E/+
fbng/cWMxyFBGwLREg4AfOFvzq+/5X4SLLXQifAl/XO14P4lWJ7zB7AVM+1f3Fj/NH75nsD4xdmj
TE7d/9FqwbOWzcG/bBa4+G1yEOAyIOKW9n/YLJi5mRBthA4ltxwGoRlWENYCvgWUv+ncDvGHG8gX
qGxmhlBcxsDPsJD0ODDr0No0jWCtGVS6fxhwksI4cFt319LzXquxa3dEkbX35YCFt7DKAYBLPtP3
Yq89oFYpzrygnHTJcjgMfieH6wmu+nglS7M+V2FZxLdu14U++BwmwUvn7UXn2vPINkz4+N/TyDKB
wuk4TWvXQ/yzHbVZ+PvSw2hKInhMTmAXuqx8VZKog+kXLtUDxrP7vnP1QQN1TTfWWLyCUBr9dRdY
3TffHIA2hSqI0b3dPXqNdIe1MJBIrJDPBntE0h5m2UGieRyK3N6B2+jDXW1rj7KBHqjcNGMQ38St
xWI7ZQOZb0Kvms0TnEmE+AE2XshiKg28Q8LGxzw4Mx6eLRGLMWgxOcgRp3VhvJdkSlGjZVN8VQZl
8qFhI9MBmo65qolgRLcpPATwKpta8NM2aohNWtcNkb99oF7DoezeMpEODuVGW/4RYF5+IsczECO2
VUW2djxdjwNO4VXr0msC3UDcsXJR7BOXJIaLMRv9XWLX+ZedR8zC2I2GlH96MF4b7WAuDbQk6trR
jbxgXoIXjZg5gz3YQCOnKSZJs0TsDi2xNVumuLCfFiGpsn5kZfpLEIKVvc1eawe7zkDBsQpQee/j
uI4BIFd1TUPhLeCJLjD8M8pgIrcqxMiibvSlQtqIzRX+tt2W+j7ihqJ1igmsT+YkH7B8u2qLZqP6
MJt2vDGxhXdrBmeCNbeX4jFrxVY6KS3FSCpXEysE4TMxYfuWTNld6VrTLgrT8cWbgunaDAuf6Vva
PI/4J14cH90pRn/F2Wsq9QokcX6wynFE+wzuw2lH0gUtf7hNLCB/WerGa6fS6XUHfGDX8bUI8xib
TWANxR5BmwLnXaDgbnhJw0zY2GTE87UBzntVBnVwsqy2PIgc30xBC7h3qT6ea6ar61LZT9KGnWVK
FKyNX610fwagx5PP7BBZNFl59z5WjGMc8Z0Onak2dLjNGd8fk2DA5E8VCYGofLrxZLcFza0392tN
hzqtkKAy2swd3v9UBOHFcq35zha92kwF7G6edWIDBXAQ5AYENanBae9IoBeEIrrWwxwO87PBLOKQ
eWoCkZ1oj8RPCt7nDMvPC4YpYBtl2/10UZ08e5ZLDK3qDk7K107Y1HNdp628TCLXb1rkzV2RO9bH
4OOHoNLz/AcRw9EuIuIU10kOoHXFYiNj9pbYOETsCbA9mI+PYU7aaVUh/npC0gPxuM/STT30OSah
xLtVtS3fk8jAtpO7QbjpUS8xCPWCw1TF1hEDYfbtNYFPhaRNgWXAcKfbxAMYgf8zqX5ErC30s2p4
xM82/0QeCkIWYmb2NENGvpvy8eJhuOlXyDbyGvOVNfB9GrrHrKOsN9sGhrrHLFTQAWdZcGPbXnea
OCPuA/wMf3B4jWwO+3F6Sf0iY7zN0XywsYGGK/z79k9KNcxa0LcxSzSpkI8dlkRCRGHYrufMDUEi
hsWHxGr6R4DiRXSqquyC0aUXhBugO64tNV5BHW6tdTjH8w7NCDlUJi0uNdi4FQqoLHke7HbhX+5C
kI8kQwROfYJFr6tNjbrG2uCkgdEyKZeidYq6BdKYDagj+JBUtBaYvlrR3GPP0Pu4HCOkQ3SQDwkS
zK2Utj5if5FnW2bBfYhl8Q3iN26yJRfX+Df2zmQ3cmTN0q/SqHXzgqMZuaiNz+6Sax5jQygUCs6j
kTSST98fVbdRcRVZkV2bBhroRSaQyMzwiTSanf+c72h1b9bFeJlGPeMWDEfpLdgdqnSrpVV3UDN5
19CJ+iOwRoRBy6BikKOUcykyvzvndGYCFILkdZ15tPbi0mDnnc5LmS/9dvOtFlASQER03X1oJvlD
PETeNztlVzwMkbygKMa8BQauGTMF4jK3adVIiJJEa6Z4NXOyMbguymlijDdC1klbo+UmW4qI86Vq
d0uNhqAElsCdt9YiaM7cCsyKly7jqKHV2Ca8cJqCsHgbVRO8GVie9xAbeM/aoRMZPgI8tSqxHwYL
lMbs0p3sN7FP8Xxbv2Oj129A48hGRI7XcR75bF+eB90eBFKigf1s6We2yp8hdknykuw2Dj1qxQ6J
0Zg4ZIDeoaCjukw1hc/VUv08TCg/hEQohO6WaugY2OWtIZe+6Nb06TxMPnukfcS+qyBmeVk1Fr64
VawHTRvN0j8dF3Z4Fy+l1M5nP7X12VVd+S7RJV1I2kESyqzLnlrrtpiwlsN7bW/Laum9Vti1V0TF
JDbgpRi7HPqGh9dSl62W4my5VGjHHr7PlQvL/ocsdKjIzfbkjULHSZipTrRw2/ZgYnDNkyee2bR0
40vFHCmJekHIpcY7p8ZuHwgveAxwTzK/aXsgKFVK93dm98YFFdo0gieDKh+cslkoUhg+L2YSne5F
XE7Oc1WbYiR31h6J9Ip6BYamOg0KLGtXSftuJPh6cjmM7DAQQ+tZ6spnoCM3c6n6aytg0V0Zsuue
6WKs2PoP8zPteGKfLwXoavbzDU0+5V0QNu6lbB3SdZNQ4rn77E7vtMN2yItcL6S2o4ZlvxSt52GT
PVdL+TobNnrYQ3jR5PBxG1wGU++/BjMyyJiIF9PNOb8wBtrYSztmslS8B23tPtC6nZEWx1C4CpD5
qJORSj7S3kGjWb2Um9GvkL+Wkamf7M/us9SmBi1YCtFiABXmKsPdxBw/j08ioTptWkrUmG6LfRga
O4YwcLeNlNhjlWg8yjbBFkxaizfLkdmrTwCLhralrK0NqW3jdLw0uFmUuYUetW49/W4tG6OtuVS+
WY56K5PaP+ilQr5fiuEsGuLcpSpOB8O9JYf6uXXzdj+4LfMdOfisWIQSzT2mB/wnFfZ/1KLB5ABL
JV0SDvMBO/ZQbK2lss7+bK/rP5vsqr7uoi0na/eFWdH0vcaxl3A8JBS8IkzCqp4WUP8OM4gjhDY8
SGszysnS8jOTHgl7T7Fs0zyXNELzJQaMuyabx+ce+oG1nuM+u0mnkjs1qKZwg0/UuGEc9wC+T95E
WCUfEmrpjXVFjurYu7rfYJYhrl7TKvlRe4X50MG6PaT5xKO3itod3ajuOk8G50G7R7w76Q7X+qou
lHdWhWleQh1xtxrVaTVCh1nJMi6OhWWWhITG6Eb5XQ1owLqSRWJdCbbKwHpMfRsyNL3M5tzaUaVk
EDqweMbCWLNBWEqoOhsGtvaOUV16ZWF5vIyahWFjIIEWh4LR8Lmd2SyuWo4zT8SvoFzNXRU7GxsH
qbho2CA+9VBS/I0zutFTw1rHE2zy7moGKOnG6dkl7qymzAcGKX5grNBJuDrbObjS0xTfoN8Y8ACi
aXJYxMb55LdD86KgXTz6uZguRS6RkympFk+YcbxbFjsLfREI3Cs3sLljwFKyhTZIrXLPlDSLjdG5
zry2X96nTc04mAlYQvHPQAwFxV0a58UmY795LHUBKSkniqzWrqTh5VAXHSVsmGs46+e1U7JqTpZB
ppfeoBXxE5SamfIJd91FxIrcXslkK8Gp2oA1XOONeK26x6gzO3AraNqtKf+8nmXev1ZSYN5goFWe
e1+uG5cB1ZrkBlucyR3Ma1+J/FXha+i2VFynxTWitEmYpWlyb+PFrumuAiMMx401jNiAoAtA6xxr
JEzuiKA4hIMdPIcAQ0PmwiFdY5nkUl0XfaOqk5G7RoaeNWFjErP1rBSs/n0nTP8imODVU5gRJY+V
4RfTLYZz6JL0vbg/QQpRI12jnk270Owk01bpEyim8UTF153jcuTI8wqLDuWKMw+9PNA8q6Y77hm9
IkYMH49uT/YarP4XsAgObV+UF6PvuM8sS96dqHgcJGkYLJm77n6cMkUDQT4/6xm4AJpQMiqW3xSk
N/Q3uqIaMYv/L5F8/J9IJI6wLCSL/1oeef5Q3f9YfZTRW/6r8/Kf/99/iCMBAGbMjZxapbQwOf4n
z9n3/uFDARfAFjgF83fA7P/beSmBQJvSDBAtAltKh3/1n/KI55pQKCRXku9J1/7vOC9/F0ewQdgi
4PazpBRfccbsfSJ0auEzJO6zHV51PBORSEhvEJjryun4y9fzV1Dnr/R7+iNdy7JdKflGAj7Iv0J4
UnsM4XgGOKEyFTEDzNIP13Gb28GiTWqcBr0pqOnmsM5/xXU9DX6AW8nrn+Y2pAl3sFEiOf0Pf0fl
x8n6RSSCZcNx1sWZaqM8ARb9FaJMlSL7tqnw99rOv3XUtGwsiiPIhnkHu3NP9PZVAGacdhcm+biJ
pzNrp/k3ZSsLh/9fhSquDsuzTdMWlmN7X95D5jciXLwx+zoZCbRktLn4VlI9/Pkn+ItfnKmiD0cH
Sy/epS9yGAnvIY3n1N87lXfwMpxRrkwOOsFz1mgk/T+/2l98JvwOfBoXaw8L9hc4dWu3lokfNNgH
pRQ7on35Ku05Rv/5VX6DcgOQ4o4IsCPDePLtL1eVTSlWo72Q/giSURRhTUyP8v5uKJL3P7/QX3x5
WKQFrg0+jy++Msk9Axvc5+Ubkk6GxZ/+pAkbpdopb5w0+5vihr98MQBGKKeuZ3pfYetj76KCKVfu
KyJzNLfxSI8Hm8nqLPL1mIrDnz+bvfwWX64/zKW+A1/XFqxTX36rBJP33MpI7hvIgCuG6sGllqF5
l1uxOFac1nk8NmIXd5pSpCoFpYTt9LugVAydcGzu0sxv905ZDBsnE6HFcKlBfXHY8HsUx9x0ds0k
yY/LoDn2Kb3EdHr59HXXMwSeSkPUYZ5qbXomt2AgUsEBqmhv//wZrb+4zwMvwGmNjOj/fj3i0rG1
h+tzH5WxfUwxEx8nNs5rBtKPBrOImp7vY9lGPzFO1lvXzuwHLEr+33zVf3W94qe3YbBL03OWmt1f
V5s2ZbjihXmwz7EqH6l5uiox7uOIjcX6zx/491fC88/zA/a/j/b99TelEVBpDLP+XtLmvR57nx6U
qvimYtPe/vmVrP9Q0v/1AsIhaFqm7SD4y9+U9qawHEPaSu7dYLC3sDGSQ8uKf2NznrwTAHI2dtM9
oDsW27TvpmzT+WazDkVZoyNXoz4Eqs73ExRngEK9J+77ZPDevKHhKCRS8Og4T6Z7zinuZdcN1QXF
9ckeFhWgHiy76bjL/cADTcvc2CxkfzSDyT/UsSt2QYv2aTR0pLdtY28dr6UGvunN3GJXXTG11R0U
pwj5+9zHqXeNhZMjmYpBWkU45Ta4+5JrJqHpGwe74gjZRW/NHJ7FFKDJVkMjj1nT0SXpzO61xhHJ
gclVlFeRVPLQdE6+aYdnK52o++kA2oR1cYzpLFsroGsrHKX1g8uB88VGxXrzI9NfRXRA2Th6GiLi
FcklyfaPOsQyPyRml94bMI+ufZOOX/x4tUYYHwlFjNpp8NQM4bkd4vAJREyyHyi2ehcaIgsBVOc1
M9JnPHEB82ijEhdp11Ii3zociOINtpGD4xrFoRwYWbMCRPadZfl0Hjqx8C9M11HX80CWEE6j2Kum
zfZ8nHrtD3gzQiwsGzUDJzkNVTKaCGsM3IM+WEydyEr9prdDWp7QwpN93ujhgy0T34l2ykv6UBbN
qreumi5kMOE5dn9sKlc9W6ocnsB+p7Tbe5ijVmi7wRPbNqoVvTLoOP8ULuxJc1jrpjE4RXvuZTOI
YoukiXpCY2FNj+zMo59csVUguufukjIY/ITcdtCSwOT3ttH0yX0aynsLRaYZxeLFWZkoU1u39rzX
uLZxMAS2+8pB3yS8Z2bxNQkx01v5pEUVNk1T+WsWDya0rTu1YgWpInjSyuvyJ8dhbDDQWcVgNOUz
yNDjig+GVN1TeZMpjIy6ZtyNGl4oJlTEY34CT4GdY9IBE22Y8Ybp3sebMNPZ0E+XdlYwyxadqGhW
AqBCJJTmTTgJexvl0sb1bRffheMNwQoeIe0Lbtsc2wBTmRNl/YEq5vEsZgAZq9SNGCdVxpIQwIsB
UDO8yvoRqJZDFyxxPqhF6F8trCVAoiJZY+Kh4sFAw7+0dbvrB6s54QBvLyLS7vcwaIChJBNKq4wf
aNAZtwny1E7x3g7aqKJd0IDJ8T2z4PcdGRzhFsYrj82JzELeC/pwI+tpQKS+cKbmo8LrvE16eqbb
uGm+BWEgLDaoqKqG1bYrYaR0sKL9ooPOUGcNX7ibJs/49oGknP2+pOUKpM0xLlufz+pFK0clxRvs
RxJ2paUPPjzBH5lDjRHZOK1vh9TE7cBPfB9KJldAu/OtnoZ4T72c47IVxZnqFd0tBC9an7VR7FvV
+1sMY9YOcj3YMjsgO8gGcZwt9yK0ab8bJW6Wtk/d1VCfInLRF6oCLbguMAN8KBWB8kjDx2gaCLS3
VnRtZJN9QR4neEvIkDzas9dtc87S3gqMe8+uvA0PNlXph5hGoO3oJdwKvhEh3gKHFzWb4wKL90VU
Dy84qNXJr8xszVMPa2YP4LolI3zucs/v17Wr5w1TSHcVCTDeoBTylBM7pX5jwcbb8eYrhfi+HVI5
39uNVOd6zpLvI7xcQE02VhmytvuGmuYbNVT6mDJGfKkjM1qRawoeRePO27FllFZOcj5H+O96rGX7
SlEmEZShWkfiJsyLOzq08yP5D3HU9LfCL0o30TwM+7wnTV45Qn+QogH7l9VZQRtab1gvmMyds5ur
s8bCsSFLGq1HbU5rbDLWZc7BGxeSjzmuzRmBenmld5XLCElZHQcKC1VzbtvhLoRflOxaV1L23pEI
Tkt6WRFyCi29BzZJM+0jKHvQpJ60sLATW8LbahzAZ0azt3VCm2ZaAmqwjJqSXbtFDSzfrKoi6cAn
d9ClE4igq4ah2UpJmj6TGUKtraFDIPlfNboP70owhVsa86aL1HfPbkV9c+AbiGuOILmkexA1AbgX
Cc17TdPvjfAaf5fqEpqYGLV4wYhLRW8eTTuJr9dhaBeFjOQgrrOtmsr6kX3ZeGuXCRl74YT7lvK1
tcVic5UUiB1WYwT3JHa91zbQQ7sBMdrybYgCDVjNTYp9iTiO3MgG5hEeuRbiMxoTGSNFY9sNhaV0
UgI+bp+HuFXfbco74fbIoCV/lE4j+awSqFWn5p9w10uYxUxftOzf8ImQ45pg0HQ+Hp4UYujaQjLe
qAlQagWglcXnipuw2c+pCtckFLNX+o2ak81wYMVQZl5Zk0amovdtlyQZAxL6zVaZbi/aORzJmblP
A2GKTRQYj4xs6rXDQ/5G4FTeKZIlGYwJi4bQUMCBTOFLr2fMUfd0Kd3LRDWHqmbKECD+HjqcYqdx
UjSVNn1/hOkWs8r3ZbMnWWnuhwZMJyEXAavTMphzU4Osa5vmmK6wbxB6kk1Jde8rUwK1bVw6KY0p
vcBti99IBdVPHkjJFsxnfpiFOTyCEiDPT42q/mgBfbmryiyLTUoz8mqeA5M9o0ftDCm4g59XxVEn
6ifY++qE5mXdO1bQ7Fpz6W4ZstM0U+5XBQ7JQMsyhqchywDhz1m7jfltrht/Mo/Sa8KdUQbt3ezl
0U4VGLyDpr+ySgMUTBKUJwEiA6Bg2meHkSp6wKsUAPRhk26h8tw2s+uvCbLZ9J4O424OGYnh8I7K
U4oguPZH29xZTg9Ey07nXTUm2YU7JVjhO8b9ej1m9D/2Xli9gynIL0h7ZN2u7PhGApHm+7AMrKMb
Vz7kIHGRuf3L1I7VeazGqxFuyA9G4P1lUzs1Td9w0zkbXvVOpWjbUOrNwdqwL0yQLYU37bPKeMKf
TmKzhze/hWFbnqqQWuG4HqNN1IvicVRjdxVIXe1NHoJoh9GpnIr20a1jH2yoj2YfDO2PptQzT242
BTRNVWj+fYQVzmZtXjyMV7Iuo1sLCuJamTUQ3cI2spVj5hWI9X64GeP2ucYYT4qkv4xtYI7FpCFZ
sW7P3UKu70f4d6PPvKqaIX13NAiRLVJzLc82BeK8ZpLcsrHH1BhBRZjmkPxD6fj2Cl/uE4JpsqO9
CRaN+V6K5NBrqzvmPVwLGSsbYJmMtr418BRGjD50iTfvcwMfSQCJsPLkbhI0/q3q2vBPQUWHtE0n
wcHJH6AggCXqM2vDEQr0E75DtvLZ1o+CaCviNNzHA4MUh9dftYX3TiIofJE0DyLmczdrTGlzOh+6
unmcOkqy1TCdOqN/8lN7QXozqBna16AzeEbHxrufVE+2k53p672PYCpAPrGu4Qt9RNlHS3PFvkkS
ckFJ9IA1HH96U59qT14mnnUGLEXURfYKcLtx2XIFXQKfzvahdvz3apTpLrKLNU8pErH1sHdEUzzP
zg+kuHzn2421tjR9SXkDF6H3JoMfUCUPVB4rVrHysYWLIJqUv5q3rA6/jZV3GeP0cG3QZapw23Wf
t4wAi/gxtoODV4DJ8dNXUGNHQDH5mmnaFTNu3rs9MP2uB73thwmTygJ0sI0+3biM+VZxY2OM181O
i/wu5a5auFvfkR2YsE8bA9QTk0GcgRjqNk0ahwcByem6DCLveqql+ujyPEA0w7wLUO+Ekix2Q6gx
Qenwe+ZIDuYc9x+6JUm2HPK5ZUHHvcezVe8K5VL1VHi7ltDHacpyar3IPS1bKdFsXWfCyp77PS6g
EvoWNFf4WOXZdttxrcqRvUodBhzutbs3Io4IUHQzTvUGexg+cGqn2BjsPsSDTR/YXPF7c27FamTI
e3rdr11HQ6Kz229DMe8YSXWrErbdqmB2SQcIaz4R3XXjBHdYoM5OGj53U3lViJCR3sjvHhm1ibEm
b5nuzjUP/fLR7Nxx3Q4Oxuy0fkmtgdCGJLqQVN+l4T5TJdWt55Zn9lQrfrQ2e6ptp78BSlc8jYih
K8iJ+aHVkYWTiQQvkzBMFwQ635KhB7wNYYclpUpPssRPMEnqzhgPLaao9hvmgWFPvoJPaqaEatLh
2gP6yhzZqbazk/c/5RQ71xgH2N0JB5uqaVY7SOXdZsrMc8mZZZdy/jlpuGm6F1Aw7fam7ThgeLXf
vMS1AegoDvs9Est9g6tmh1dt7Q0R1tuiu1aN0W9H1g4qWkJxrsj4sukfOTcnVttczWCGVy1j7x2u
mIbdf/vsZEBLCM+ZOxsMyTail3st8Ww92AYJMVnW7CVbbe6iSlbQsrEPyFbmGzHyk9pWXx9saF57
nrfmVd3E5jGqsvJEcx9J7HRLPah9Nqcm30JuSc8Z3sAnZVXiyR+9DzL59sa2ywE/s2M+Q33tDiBh
DIBcQ/tdc23fgLYR5ylxakJDoKJrBib7EfQUJeug0LyepgUXGWcj45gATUPQmCkmljn2fYx7zYpo
EDwd0n+kPCmdQeNjQMvccIXjoT+qgsAdcJHXqWGrGKF4vYdRXG6xwUyQiNgKdRyR90HqOWjVtEdk
qdkfRIO/JS2FONVtN732Mz08zLtpIAHISc99Tw42dbY69fQGw8pIUbKXslvM6pOU8bAplbj9BKAO
GI3P8xQEB3vwLFiektl4Siq9slVydse2PaYmbI1Aj7uAG52zVNFe4AIcILC07CsZJ50DTSAjLQGV
epmFMXmmT62eh3bfj7bYF3nn0cyQTds+yWLaW0EtYB72T6EfkB3tabZxEnbzHMDutbIdGHUp3fFj
92MMHP1iZdE3Rpf5uSHo+Ey29gfH8fYu0A0M9Kg1+nVi9DALs3a4MEyFKcl75mUV9OSA6XsP/zRm
O6yYiq3bEMnNHlWi+KHa+Mo2DbShslXOtuhNtKDCsFAdE7GOoM1B6qzqnRdXYUSfve0+M061wPZW
NclgHtMhbisgm/1AmU7F2WpKRXmLVlE+1oYOyBrH9VsKU+wOPql5w4zS2cYTR0NmfUl7k9nBd4gL
VOdwBF0DpAG47OLm07QurTvayBCYenmZKQjAJVaSrQBsfxxGysDrJhRw7qpibxi0utbKB3ArreQ0
xRNhHgz9sHM+naHl/E0rlxjtHE0vcQVBKU/TFoVDfJdjRaGRF4BCdaxoqwqnvs6dsKJGHHMkdiai
rsTbjlx+tzRl1hYwiqgBUefEl9FQptu5qiBzDgNAJyNDUb3Ixx7EDJmy4XZKTffHkFKndDLoCN9T
awLs3BGzfLHK0cy2rpajt4UelvysuMjk2qmxgF/CRZ4e5iKQkJlMow23vjFCOnOzNn/RwuuxiGtO
enM3P5j0N+4pQOLpOGX0Ac7efSp61sygBVIaNvEu9a1x44+Ek8yShFimau8xzEqCxcOVX1jtKZcA
mCuIbVyGVj7T0wUvLmVuzKeQVHqs4hIXWCfz6okXah9J0FUv2bJ2Epe8Ar6b7dKylpdeHFi7HFcu
y5zfla81KaxT5xXURrmymjYuxSMHi6qbR91M830WDs1DQtr8THzN3GoD86lZwnKdYEnm2Dnr/GDV
AdHSTib9htQr09VuslgTC5Pnr0HrAG2MQYFfWGpjm8gKT4+7+ElzclW7RkZo6VNDAzvgAatfyb4H
ygZRI9+BiKrfBN1KILO1zB4k689VX/j9B3WcxsKuCst9z1ftX/L8xm+T2O0dfhFWr+xO+EGxhywA
ORz9clXTAHrWgIrcCKg8Ss5AdGYgRz4YVwjupIjgUakhZOFljrAzPI07LqubvRwi6ufTet0LsoGG
oTYGJii6iQIsnV6Ukvls1BP8rDSGew9mUBW1eBMcpQ7B4DPTp1p8qwOyaZIg2R1HypD7v0j3eGpJ
ITQ176qLX8i0sLvx+nFrWEucYtY/ZpzVx3IEwYx5CCIbSFjd6T1KrUUVV2jeKJv+Y1BNJm1NBkUB
CZBV+i3y9QQa/kRb1Z3oyn5bDcMpdM3RWHO1gEtEFd6i6vRn6p3s7yNG4nBTpHAm2YNPwBJbE1xY
aNbdhYs1ai+h5FUsXqb/Q6RDsO8nu35G/qhv4aV0d5H2uxefVvZrvnnOxUh3O2to5TV7ObLOTeTv
Cu6+jTnYH2Sa20MwWyM40mgOV7iAw+9osOzw0cvri9KJOjIPrHkm7j4p5a7PSsBpOmqIHWVV0HU/
M9e0RlLGeLQ2Qo+MHQuvxFRIajN45FnaeyvgxKhZ3tRzDM7w0M7HLpjqik23yUgV9ix+AFmcOy9L
HzNQA1sr9ptL2BIaMsYycQkBKJCbXY95Qu1YXPGn91rdebp290VtmdfIIpI/WgXIFwpFz5NyRERn
LwvBZmxs6mQzlunYxhfFzHJdtuXGq93hOszzDW4ySgHxqXICCtfkRn/2c/tYdmPwWI6a0BFW+1Su
olIVG2nNL0U5Ps8KY57bZfYupvHBUHRz+BiT1tVEoCiq0IQY6MAzSYwnpY1kEyRol8ju2TqJZyJH
mD4KLCe7ruLU1UReevDNgMPs4NLCoOLWObKDhUuetJAFdmbHU3FVATSH0VzpgDJun75BV2lCtL4R
w8ZkqmJckXGbKkgBtJdD1gnie8qgvQs2fdXRTql07JK4vhfDRIZOdoImJ2xITKkRPIgtzr3d3Sgw
YZD/pCMeqFRqDm0WcYhsOa1UG2cxmhrO4jmdqHzc4cmnswT345L8FS98rnnXTYVaBhUejeDz0DnL
iSW/Cc0IiLY1N86Pifq+fg3JMtjgeMUci7JYP9IoxmKZDYuEnC1OWvfTVKt9H5T8p9UWQM307I2Z
fIEiJi+ZSFXnHIvAHYNPeRS24zyaXgRsXHg0c7GrdjVFVbkKXofJr9jIGEUJsmbuTK5tMNCo/Yh2
EC+5t1Jqp5qNYbnWh1u6zmPPLfwULobi7NNb3AWquIYkieO4pcyCSirSqD8awzOP4TiNB5PJyH3y
6ViGkaR47lTi2yRdee3Vaf49l3OIYgp7Hhqu+9IbDp4z1UfFW+oF86kuXP651AEyRG5wYFqPBITx
q1XefVCBKllXi9dagSI66LYDikMfu7jJPl3ZfqMiggHQHiiw29lxmDyZKuh+VqVdPTFECp+LqKhe
De593F988ylfJ3UK7CQPU5nMzyQP45cywlJON1rYvdqtId5Qgd1vuZpIRtczFgIHjL2r2MLPziC3
JZcIFTauyyMFKglk0PEnaAdC6eg2ayAc7kopH8QQtTvOk+EV8dEZzemM/z14TS07A66t4P9NfnIS
yMyCOUZX7+qqDd9mRBZugCpvXqnKCk8ze2021TPewYwNIKWXhYoBK3kPPLzKj6HsqxtRtkRlbXZB
K89roy3bPFpHMuMbvA4qKJnDL/WDZrgZrAiEaZSlV/g4oCGx7Ddbp6qLG8ZlREDGCL3LS3I2JaVd
1PeT0sTAifkThpyIY9KGrdKz3en86OrJP45h3OFFpuAgZZMGuM7qnGYNQgFbE6Us+QONG6a56bKi
OrNgAJ1xgSHe2HT9VHuOyaNNa1+z+B8LL104OXnGPltI+91KW32LYK1vIM83994gqw+v6fNzaWLG
nvtQ/Axczz+HS3AkcpcMiW0Nzk9vCZbQ/0DGxKCo4rVcgifpZwYFXyd5FNzPmGvB7OFBnMgvHLhU
6YdhQPqgvIY4pl95FCq4OGXvCGW4T5Esih9l1D6RCy/XJQUsG4pXcLnLPLJGFPcmu5l7Pb0VxLfp
E0Q77dlPQdgiYZPNB9Uh6+GyVMRmP3M2fT2wwTDEkr9J4yWLE3/mctolojONnUc5I1NX1oio9Hc4
8ruLOOX5tcnQK3Z6xvu2KsqhyNc2ZQp7W2UMogEHm+ehwbm/4pKwr8x+6VzG00sMScjoM7ybbaJW
vbjWBK2nkBRaDEVb3cX8UP4OmKz7qBgQTluzaOQPtkbusAqSYnrHhqwRV3IyRodaFnQRMjGeph1X
c6r2ocUzc9W1ahRrGZTiW0/bOqwktvwXUejoR9EtT7YAr2k0G6j2RmkFADum722bzSsmx3pccbTm
PmGPxCdgmGDZYl01PHLRsUfmOPI1Ak//o410iGTZeetYTFhFLOvSA9o48CxwcSvDH3LjjUTBtlcE
bhl4OPyLB6sbBmpsJtfCNxw5BZMOS1bd1o0TpDNlpe+hcvOjdBP8jnnUmdYGGlFCwD9s3ttJUjw6
uvR34rJMJspHDPjauhMvn/ZRhhgc3oo2LLJDm2fOj5QKSZpy3ZID7gJ5m4ai3DvZgK2Y4MdOEBln
mOeXRx2R99pKhmk3IkDOZAbZ8zRRoXqfU1guqJNG+0y6rCA7zm6iiuufzmAFF57h0kaO2+pGz44B
78rltDbhWT9PE6xNZrWc8ads5wqKTg2mfXvONhWQGEfVPxt/cAARAf25iX3vmnB5srejJnqIISkl
a1sZ4LoLCwIoc/t4Vyr3zavM6c4QqftuCKQdqzTJXENN6T0nfXRknJuHWVcB4i85ZTo1yksjqqyr
vK6MO1L/f2fE+N3yEpguLige3Lbrue5in3h/u2Ooqv7936z/GWemrOu48ZczPcNTTsw3En7NNawF
ejSYzZrXg2Wkj+Yw8Cj9s2HC/d3fw4v7cOBx+NkYb764lmbbED6tRv5+ElF3HYi6PQytYopgMrZ3
9IjrnzMZg3EoZz/0zCOl7ftiVw+ZRWhMvZNA8da+XyB21uSNcyztG/rdnJ1mG8+82bZIbGna0e2l
zhcB1ZsPrXCrE8S4+dypBGbqwKjCQxt0cGrl6x6KMOsKO2Ce9Tmu7D6z98WYkbbAHQSJnLWsbylO
N7X3ANOByZierJsmEe8prTNrQw4kyQ0W/LQqZQVcFqcf1DDnb746+3cbIcFRk+yo49iog19pkQWX
El+fy24dDyXnBvOG8smpouFpOpYWliU94c2gSIqn0tRPF4nqp10AxabmYmowMEFZjQK5LuKB0qy+
ENs0cIajWal4XY3GxQi4C+x7xgbYSdNDmcJz/POvvxhJv7itSLgy0HJ9/o4/Z3HO/XLpJTxL6iFo
g73Z1tSRlVAt87U/j/HFbHR3FlUQm4GH83rJRZ/Ad/YfTLz6Y2subj0EN8+ircBWGkRUiW/jz+/u
d9seb44gL9elDHCmfjEJRmh4mMuLYJ9ZCFWMIqPg0gzL9m9exiIy/NuXAOHIXG4BlvbP7O4vX0LN
wNhVYR3sGX+CLSfdZ5B6aPvNOObiu80BnjWScF9phTCP+0HcEftR4wZhPLvAsxNcE8zKsM1ws9Qe
RvLO6c2JzqDZ2LqJ+VB3pBr//NVYX78b1mvT8jwT66Tro/18sWkumGYECa69pbktBX4C7VdS+bBK
w6xeofu7T0F2XZlJ9ZrPqGfMfwAxDSRHJoL5G8wM0w9qscbLz/f1f62Z9P9VPC45duLdnsMS8V8b
tR8+8jdc2uXbrzbtX/7Pf+bYrX980myR0PjzmCXjHsSB0f37v8nFj43XGr8201dP2NzN/7RqW8E/
uG4JskMRWVLmPveKqvou5gGCwRv3JkuV7yOYE2X/71i1+RO/3i2e51BgCqjbDQgA2Mvd9MvdgiU7
UU6qOdea3R049+RQdGx6q8jrd4FR6I+Ugx97QRTkviqmtRxzRbuKcA5iJscdUKpkbgfhmiDmLe3d
KqEJsM9heewwBeK/ycYrjAji7IDROBphQE7ODz3aN8JqN+djSsEeEcrvKglNdUZWZCPTLrErxuDx
U1eX6txUDFJwenWgCFsSuRdynCnV0RoDBP3jASjT1ERTijRzst4lOwog9T0EQ7adSv/Cz/Tw8r/I
O5MdR5IuO79Kv4AXzGdzoKEFZzLImOeNIyIz0ufZzKen1+esUkv6IQmtjTbaVaIyMibS/Nq553zH
AxqEqlVbMKdNL5mJvKD8kJ6hbpjSMiCbrdMeh65KX8rCJymMK3XgipCPrKIMcLYM1kFU3GWj41Tr
1CFWTcNI4F50KJNyP7Loe+GO038E4NXgnfiJOtZBGj4LleBPtkSGl4A8U3w7Ze1QrbQxgtxXNCTd
8VTsX1HnEmj3bSJ4TsDb7+kINCezPyRmN/yqRFF8EhbExN7lXXenstGINwPZHhqTTZeL8GCfFduL
5zjzxbtRldzDQNf0x6npMSCBO9q2dhT9lhM4ABwy4/KF5/auzvjadVwiWUiQN9qqzlDioQrxay6/
YTvB7YoFHc1cniy+SM6uFd1n1T4TqXlnFUFIANCnf4msPZE9EGlqHdH+t7c8CRFhMlsW7aHc9N1w
wncstpYGEbmKhvhRj4mxGtKoNxdCSnkuDDcNYUrOwxc+xfQ0TP6Azveg03DlydrYe1QhbMmJ0crU
Bpt+7KpNJnAnBTOZad8okte6q9RmHo3mxkRDfTQMv1gXFBDc8TyKKEXCYmAoYHRxkIltDrLo4OlC
3PAbDY+W0TWobpn4bOZ5PsVOFN7DeKGOJ+WF2laD/62yctxRetgdM2rUD3QdPDc4jIegrdAOdHxP
vBXqAdnAl5rGoF2kpfOVmMuoIDCiRDaMQQ9jC7e87k2I+qOIEwwm/ki8relfu6BHKiq1ghQEvCl5
KnCvtmN6X1vmWsfuyat3kT9ja6W2Y6VHNOJG1/pA0QG6m7CsjKLQLkqeeR/4l84svMcgc73yINSY
nvIYG1XnCzJ/bIWzDdB5W+75Swl7+XG5dCRtPmHIEs2BUg/3VvDjg7usUBdxySfHgowjVrTKc15L
TEW3LkX2B/Z9rAQQq0Bq+UPyR/R5zbWrwIkAH637FnkRLW9KGTz7pcmGTRHNwxgGkJfCC2+6j7lu
PzhN5nEtCoW5QqSI7mtaEawNcJ3kcZSS680wLforObKPRVa+TRJnOE2Umd5SnwGQGnAb3YVO3sCi
0uZjgKvsIFGyAhgbbv8sA3jTuvCHA+Ln9B3kSfE8KatqD9TJOt+8vpM/sdfbNm1OZoMpY7LiLzPM
Waw3o0ThC2Pfv0vBe20ngQ1uAfjazS6r0maPzIpKga4U72uE17uYZOFzX1hsj1rXesoKKNet0Vh8
kUXp3ccJVJ6N5TXmVhCzdPZa6OhuHlLzoW8jxvQhUWcV18WvlJcwv9XQtl67qlPnPGOJFaLPYbHw
FrhnLqk6LWYAYC00VuyZobjxQtjRQTNEN67Zp2dYCjAZpeuakA0M03xmHb/Yfr3c2PL+9W/9TBUP
so3Eo4NThg5WDNrxqaZR4CXKC2GvNTrIr4EkLuZnQTchGN1m3brgprQ8pQ1wMygh7MZWwdi3eJCq
bJ8UQ9NtM2rkT/hTYhgl5a1IW0BIpuESzbPp+YwDZR5GaRYPWLCHNSbcatsJFshQfLBdDnP51CE0
IiVhkDCT4A54eHTB4y1/ZXaQXIYozHamVc2nBrXtJvIKC4SaK76zmQ1D37tE68qQNXrh+jdUL/A7
tCLqtNk/gJ1K9ZqzqLwhh57O68rVwxYF5RuwUbXNTQM+hlN6b0bc7Dyp31jZ1Hve+vHRzLwtFop4
Y6RZ/xuD1U+Kpr31OoNNbm7Crq2wqQBhOiUGpcKudtlFmMkd8yjVNaFnPJhG6R+mOSqPkRGeRNS6
3qryRrGF/TK9T/gGYcebUftghVxTNhHGg23rWBtovWzN/HFXuL3ccdF+zwW5/bxW7Cba5Ds1+iE/
WY7FlawOdLYhXzAEOH3ncadCp380eye9jL1R72RWq9vWsm586X7qsT44JfGWEqYirPRO4xsazVtZ
WWfTQbngUi8RUz12nTjsgBGyHtXpjWWXErNNPU/YeQkd7JNY8J+6coo9FNpTm4U6XYcu9BCKmwRW
HVMiO+OOGGruo/lXMeXFycs9/WHndRescT8kl3RSPb4Ds4FSYRvNY6OQFOdmkBRBOoQ3farXKPKL
smJnFW20oQfKRhI37J8CmFWy5RHvsnlkgb9UEUb5uh4w+yNkdzwHEqur6KyzOqqO5jz1fpUVyXLf
U8MdoiUyewkz0B94iGEun9jgW5eqknd8W3gLI3dKn+1ONPCqAzVUaxMgzWsYxr/Rn4aP2fXYq6gL
9UV6l3VN+sWB2DwmHrHnij2hvW5xgfFNVQ0hlMh6QIucP0jJYYXw8/GU2tgk6W8j9YNwM60xzw+Q
DzL3uwN/8xnxiVcRBNYtC1uAuoXhQ86p25fK78tD5OX0HPodOi1t7mRNotcF4rKsw9w/5AFZrPZO
vYNx4lLhkZdFcsgVOyW8D8tKjl0KPriSOztSRnnPM2DY6zxjg+rK+WQxkL0m9I+dRoSXU2PJaGM3
jTjWhat4IPnuee7xX6xJeMtjDGiCaIKaf1mNKw5kVrsNfl9aLgtK7jeF6e6z2N3jSHshT49Jkz4G
3wUXWdvtxuoWyDYZWzmWjcYgRdnS0P7YDpZTt+KlmI3eltRHteIg3kCSLTaOZ2w8a3ow7MY+VRXh
7aye3ENShNWXy3lGBRUjhdsVLVUOpdjVKql4wlAFk7ZSPuBWN89RCGuvqOm2KQe0VVCFoOjyEnZZ
2IK/tq3bqNc3ljX9MU1gYquexxT7UaZ9KIXd1pndCVAEo9YtfHhnhzgC0mCOMHfP6OcdWIpV0Jr9
swpb9TI5mpRVMva7wYSwE8X454gJUpvjpRu6F/GUDBScYq+iiQvi6A4gBEYU2x4/+KD+DFJ0/qZV
YKQAW6Q7J45KWgsz+42fN80rjqe5v9d14u9gXzpbNxLGASd2fPJD33+oe57loa4F7TFhdmdRtX1L
uVP4IAhkEHIvs3MfGxkJEWLcWJWKYMSyF7dn7iHFAwsI92cWNK07Kizv7NEyMcdQOqXb3P2BCxpc
PLYyKxrCkydows2NS4Z1WKVNmXwYZqEuHJv5sQFwveka/1eksQv6JXzdyEn1rXJM+eE4CmozYCck
Fh70zEV2Wl/qqSFjAeIowbsRsTCN3Xri9FAYzOax3NH9oA906npHw/WnR/juHSVQrT5RABRuSgO7
qT1m0+tgU387FvE71YXhvQjr7GMQsjmwRk1wRtl7iKPZdmI/vfMTz9xCLwRsHZvVbeunPOlqajhr
5iYg5hzOOvASKnUz940YTsWPWRZ3jebAY36s3uMycT/ZimUn0Pa8gNvOOUtTsQKdI63xjCdR/BBZ
6GGF9vTWqufxVwiNZ+0lPPdCgJcbRJp+19Fxeh59P7qpfPoiVR+9yaUGCvlNbDQDUdtGxznK9gXr
cvpI86+xr/p7nqikZWxG3o3AwbT0JWyEIAnPNQtPSz38SpJBP2dBXZzYY0y8rPv+aLumefJxeWyR
7AV+/Sw8DLFcB4KlZt3k6dHPfw+9CH6TgLGP6WKPYYTF3TDk7a/JiClP6unuWDmsSXbWUBn01A9i
KylO3pUzve2EA5w7w5XTfo6z9n6gtxKpvKq/BS8YikvMHr+/GuCTss3l6sM4Qf/0QdFUeMFLASkz
SqanMEw65oU0/8rMYOZbgS1YlHP8i8uYdexdXDxpaBCNCFTzApN9eMz62SfEWdrmBxqi8VkQB9uh
39cHl1oOHPVBXgfreSy49Chp3reyUJShgrmSlJ6v+yDIdrKecCkG9H5Q+9dQSVx3/L5cP8jeJ5bQ
vLIGYghGSU4UowClUGzyeaRUZGe8xWTXJ1STM/D3KjiPxIzW0E8hf5aYVBNrzXgqTpmHO67wi59m
GA9g+J+llvwzZp/cU2dBt3xeTodO+tFuWtI3vV2pIykXejdFRTdqb7bbwA89FnpWcK6mKvxlMDPl
IHhLve5bF33Ji5wtzhL/Ys95ffZgTn/4MtTMRq57RBVu9to2EO2DaTRIAOB1x32wlEVgQx/PTVly
xDcJKp4Fe5kUD1sQRn3s72Gbyl+k4zyHEkgIc1Me+p+BZ3j+yiA481ozIm1ruuhu1TCDOx2pi51Y
hh5YDI9fHkwNnh3YWe6xFRMhcMr5ITKM/pS58/hgdB27YnfIWLoC+tvShTMfZ5SKx6AI2q9oCiGl
t0P9XvN844jv7CPVGsWW3FV7kcoS1Nio2ttq9lgbCzLHA6XA1DPoqm9/xBz1zxgRBx//sNNdPLfy
toOecIiSmpEfcK3xtHTWnyQrIa/H8bKIxTB4L7HV4xK0E5DDGbAE0el4g3lSX0Z/tk5taFk7Y5qK
d+1mTK4AKe6pRSX7pPLqdikvuc3bFjDW3OHvq2KWWFRdWd195qv6juEaP6kdVdMSeOSoaXiIPkZV
w76Tyuz8WHtEy9FS26e0ZobFzA3liaiQswm4xZxJD0XrJi+7F09gRqlsPFc0tUavTiqTPZQ0W64I
pKVHUh/Wyu2G+UTPUH1qmnl479kiPwdMoQ/aGniazKn9Wlhjcgp6Gv8iX/Mswvl7S0Vuba+yWkRn
OoHMS9mBnycBgZM0zd2jqPuxWVEkQcVGBdrzq6cmrKZWwxZfhWdmpJzBhrwBOvLRWtKgQ3hQjmi2
FBbrG2PuTHa/wDpXTWjMu8nP6gvP8fojHsP6tfcbdyml4GIgVbea6N+4w/spXzw/86GZuKRMdO9u
BsMqbt1mYsRKSV00dAUm/bvpK2/jijS+o07F2redOfsra8i8j9kMQbh3go10LfMbI3OZOpOU1YOh
HRZiTZjep52HZ3CSX/WAAhKnxn5GtNqx1eIfScmBWg0rc0AgXig5XbPByOhKWrQHilWKA4Ehuj+N
vCBDIppTBbqJio+ZhgEDdP9mBLwTker08AkDLS0UmlVN7iEBt8R3zXhreBDIYVtfEsfli7Uo0HFH
hyLV/7f67yI0/6q4I/I0U91/+fd/hOfNl/r6n/6wvZIzHjChTY8/nc7Vf/l3PjL6qZa/+Z/9n//2
85/hb7AWc/6Psu7jV/rVqfir/B9l3X8+6m9J15d/WT7qLIHkJUe/EEj/VnS94C8H86DlubSNIeQ7
yPz/KLq2+AtEBSjTwKP9bAkz/4eia9l/4bdA0kUfFtIUrvt/o+iy6/sXRde0gKZSRoN87NuQif9l
BUhryWiUhsLSV8Cm2hvhUtxo5S6BRpJB3hH2P0N0txShsaJcEgKNZ82M1EsTZNcGmOfRLyTWTxhn
gz2ChqOYmZTmtUbSp0sMztC1XjLVhaXPAaWT+lo/mTX+oPZTa8Pw7LGlbKPIpbBXL+2Vuh3oOEsQ
QY4xkex2y9qRW4o3pdkHpK0ROIa9WDklSaAWn1hBm48ow+iMAuN9c+fQ3JWo0xz7QN7PHHuXhkaG
LSD2DFh0hoOeGMljb9HM22P7pSViKeYUeeh9FxhJWOdEKFEULqbQ25FrcKg49Hr2wk/fsFvSKYV5
CKNRjWuSZHtfjE8cAXoPsZxqULG0hE4TeHHuvOMHx8xI/yZH0W0ydZAhi79rRq+Vo5ll0XqWX6tI
vWstKcwIyJx9azJGRSU+3KKllQ11VAd4SZdqU1ECU+N6vFSeDhmWe+J90LGpNnY/IBlTvqiG2MTh
E5TGqetswIb9tUzVgFpt38h+6gBj4mfG3ky5GyN6qd+0VuQvLaU6voEsdygRH9ti16Rl+m0rnZ3n
1Knvc2zev2PTHF8C7fLgpQwW/XkYm/JUU1lTrex64L5B1u216ErMOdea2MLVcInKqaGzRszafY2v
nbJNnYEen4Nk6T93qkfTY5re8hWMr/2gePxh33/IzC7FsUTV8CFOVLe3uVS8p9EI6xE7Z+KD3Lw2
3cql9Farum9PnjmYxtq+9uJq5kzrYDjU5bpdT3NucG3RNYlIQWRvRcnvjErRFeQu8dw1PZXWoYQC
tTKdlN7fGjUtxG7r05tAlr971Z4HOUvnw/gBu02e6W6+ToRL3S83pqLmBTtZIXRND03FbJnE9sPf
/cBDatdbde0Nhi1GKCMN9LkrHOtBd4N8ydLO5WEX81kNnInFOiB/ch+mSx8xVeBsAQJoUmwF7HsT
MPkNSbi43edUfRZk62RJwEdnN76/9B2bVev9Apfvb8xrH3KrbYxNIePWWowc/C07jy2F2t5HEKUU
NRdmArKg0gZ+u7rXAb3YxAd3HlLkkZCWSncVeJ6dqIRWGEEMCpurQUWP7MAJTzdxGrxDZGzeSAfI
b6+Xzo0/9EidwuAfT5c+aKeSb5qhNl9XNmamSZnOl+8mnrgjqccEVVzLpYORnumG4X/aZCxnTi18
OQzeOUBhDAK1fneruPuO0wg5O78WWLecA+nOymZtH5i/JnfRi/nMoehtTbIyg2fc1BGl2NzvmHti
OzD79YhHheuBey3RzshfMKXWsJFnrDEbiyCdWgfSXCyakH4YXIWakBSIcNFLxAv2q3KMhKqjpb7b
Wpq8J5APu3Rp9y55h2MDEl38i0qH6tb3a5eFj5hhIWie0FZIVziErfROXgvEx2uZeMRo+WnMEGLT
EmoDHRsBF8A0euEVRcaZqXXL7pt6ch4m0wcB/PwW3y/15a1oHB/eTGTtXVOVAQD8/lfaOuPej7oG
nzI96OW1El2npu5uCmVSlR7l3vzEYeMWXOpk+CVTQ97CIqBh3fOb9tRFdfaeXBvYpZI+W5y8MN4a
+h1vuUCIP3qIZ6TitMan2qhF1Of9fRbCqn5jmANRnV3b36XJ6fjqXFvh9bUhXvcdBmjn2hw/gJwh
0HZtlG+Xcnl/qZmX18Z5k4F6VSw19M61kb67ltPTUg9ItSAKSHE9MBf9RcigftJIVvgQuFlCrjee
kAVovR9A/kNkYIxGkAtya6unuf9ygxGLXDLa5X2QGejsPYAn2r+Uy2W1md8heup6S1hCbk22MiVR
deUkT8IpSEeRZEleGypzl7COzHEjBzZgVKvA4urMRCKsQZi/YfT6dzAo7E/uI8W9RWh6Zzejfs0j
EpX3BaBaDhSLfcbKdofyM82L8UBV0Yh+PtSUl2mPPrSkreSWVsFgXPd9PvjPEdanPywKrWLjFkXz
6RIZJxLQdW28WFH1GmpGpQjthm4PcsEvtnQ7QVRyccs2W2S1e932s9jiRY/6jVRcRGkPMr03AJsO
D24u7wLKJFop4GiSWsNTFvjjDWFq64D4Ej9XxVIZaMqe9Jl0ibso/YGhdAiJKVXU+ToOeWoglVwI
EQ798uz2rX0HpuORHMi4IeP4VpEUoUxlafdLFWpx4oY3iU2MmRSy83uMUwzWdE1THlE3a9XXZCWm
hAAQ0k3Y+D/umHyzBTFo/SDJqsII35HuEnQ4NxqdN5UlFBpUNScxmk8H6dSqnME+Ir5l9npymrQ+
Dk4YA70zKqxCtuG5PZyNCYsnwqoGzttKMjFjLH9XVVNRU2cq8zXGijivajaz7mGgUnq8nXn5/A49
byae0zPqOHEOsVCAnaXVMaUyORDpIYtSY2v13Hd1nPc3egRD7fOG6DCuJemxUrnYxmnqP2aume9c
chFIegFZFZlYf+Ri3M2l3THcT9230dgEcWbPSTaDSCu9gk3q3WIT8zDtDCXFI9SQguqA6+udp7Qy
jBfcgHkDCL1PqrXMNBqo1ST9fNtI+EPbghcMCmudxpRrhwqRin3SeKwTAyIAfc9YuTDcVNvK1Pa7
5bOmOgaz3f3IJiTi6+VwaR1s4McCj6iN3iF6+m1GIe/mOUeQmglbXYa5xrGjLIJWytTxN6qpTVtY
SxI57GP1XVvKY1AJqulTWL5KN5Oj8GJqQxJa0tAZ/X3pmdzPldDMoQjXREcnF599xk/5YrbSgrxI
kHSpu/FOGabFdW1VEvOtZ3WvDFFYxTKgXb+6ZmrfdaXiU164Mt6U1kIY5aE03kZtgO0gD1owsjCy
QUZ1tpneaZ+ah5XtuWpTe0Y8b8xMtd65j2i3QS+S9ABx2O3wCS1PP0rh8VCyiOd0z2kQdXPepusx
kHJTuBQKDaDbXm0W7P7aJVR8lIbvv5OG0ti6zLiB+AGIfyMjC7OqTvgnz0nlT8kdpU7RZUy7Vq9t
fMpfrhc0D1bNpjbsWgSq0PIUAWxu3zVnpcXrpHcDvmcynWLXd+mmlQMeaRUnw8pgMH1wI3e4wWpM
1XgIC5LcbTy7r9nAVMyREU81jSZl1mxl7MjijQwDVOu2sJLHTC2yV0Qrb0stQD3X+1Cr/ItBIXyc
oGdHZ1nXMAfY7QEt5cYRFdusSHx2+k1qjSsO6EnRGB+r1yx0TBijPKPvNDzWGwJzVNSaefsDZNx8
RLMBpkHeKX+I2c2/sGEOXq1+pEsGWe2HNJl4AXw73LCnND4mEdLSAQcA1HSVagRak3HBaZTlrAvZ
EQEqF/zlQMniUZTR9FYlE1ZuWgjyN0wotSJL5lClFOUizfaVQgFmaMY5wfpd1TmTssicozByppgu
KcMW4IFkFeXDnFlBpwH83llevmsEDPqNF/N0I3kVN9M+tOMoOXFHz25c7UzwxhwTO2yS5mRzdZAH
f3osz786NgvNUopYWtuOuxRyyxSj4cXD2Jp7EUPBXfPqjZ1TQuQGZoeR1unOBdtCmNgsq8D4qtqO
LWFq5UujJUzyFNQMXY7jeu657mxgjVcS/Www5aNbMZfscTdYNNJmo+lSPRvqL7fEoD9R/LobFMkw
Neb+NrIc9NixdLyjzfuJF+ZsyOIce6oe19p2evt2riMGVsL8ciWk+0x7bDOfsnCi+BUlNUeZM+eS
fNAcRNY5Z/tCPL8YkIsp+0PDFhS12YS0e0z8q7zE4EylNIid5hLPFeMRRQB04FpmXTi3KrXL8OSa
XR/fycHX3p2XhOFwSLtE0dHtlg/Kp9H6zBYqrSnnERb9Ykhi9q4b5zg5ujiV0vckqtvi4LYhZu86
k1P3Wcz0ZAUEcT0M1SAgPqm7KkPsLJHpMyQBPYr4vQ9Wyyan6xgzW6pE16ZFsCKmMswSn7bXd2h5
qh00XZVgBcPEnYIzj+9mOGTS1CdnIly4tdyOzkZhZXsVKWYJK0STiUtVFMcp8VKxi9saia2kRC+9
VI4/+OsZMJfakkjqMB3FvbFREZLxhGE9PGEOGTWoOMmzC4yNH57Ygk0NRnHUSyKllVcABza8vPsY
l+xA3YxTcWFNaflro4ld6idZQcoaDHw5BQeytwTK2T368SsPKa87OqMqGXPEMJz7wZaAbZOk64sX
nOpO+k2wpoexrtW0Kb2aNTQrIiy3ovP6+7QJCIUw3DmrliZ1f9Px7bAJxnQ4H8xI+v1NbDhzvsXX
5TsrPPRq51stCtgsW+MmKbKPIDVCJnJy9vf0KvBMdMIaQ9MYYF8QM3Ja9Jj2jdAbhFTKNQDaLrhj
u0/3bP3qeJOEugH+DiCZV5QR/qFvyIBbj2fE2CAxQJVSeTz9mqLWto/dYEYMrKKn863p9ZM2G0oU
KSZZamqnAtm8YTkwOPmjjsCxbcAQZzfRyDuWqSVMmk0oKe4inxT1350vWdmZQtKfW7FhxezCVRhg
Woddg/DjFL12kR3x+5BzSvlUEpl3E5l76xKIEhGPj4aDAEWZBUyTVgH93kU8mmvVAj0ZI7rOGo5+
iEuN1b3QjZfz9krr9qswvPJoULW0zllWnf06Zzevitn0VnnkUiI6F659B1zFfmySytknNQi51JrE
/G2b/Di8wVvwWaN65icfHJwgEnx85ZsVhRndsRbl+MVeOXpFyFZvUxOpdG+mpnXqbdOnjzeY8BxJ
EBQR2my9ztpCAjSsoDNuht6tqUlsUiO/DbRuOJdsWQQ7g2+MvsssuJHezLKf5nW0pVKG8HRqLvub
rg29ZsPSl7UnTbui3wxahpzYTeBt/78XLk3bXWyg/3s/6uGrnf7Vjfr3x/wjW/p/uQiDkBvd/1An
/3GiOn85nu0JXKjSg0Uq+Dz/XbeUkDshaPm+b5MoRez8x4lq+X95C5iUgQub9fJ//ptqe/83wBHB
928V958//1upi/sqKRU5CNZi/ypbIo9CEnL5LOJ/YYHOTCu2siwu92lvyDtAxewdirksWBym6Xvk
cTlhx50fQUNxCgTL3LpI3luRNQCueys48r5RT8T+4hK2Yhq8Vloy6w6lfzvPwnnhbgLZi6fUkRM3
/eZBbN/qZUimVxonIFYhyEKCDd26MZXzOxtn6CBdo9UtNA/r2WFt0KwSMop/EAKtC9SI/NnC87qR
gbBOZWyb911jgyXBbrSh27E4RjWpNK8O09dCut2pNWT4Kuo4vQAa3yWTwmZvBP2aLu1gC0MAXSVV
JHT9OGITRg7aTm30vFziYYjcBpeOV0W3QWKjcHVJtXHGLMeNobOtLcfiifZFf9WPqbrVpgw28L0A
o2Lx4GkkztRp1Rc7jo3TSCHfjsBff+tYvbPr/Sx76pVQl0pFM+l4r7xtLKcjGMv2xUc/e8zLWB3Z
WoqVk7NIy7R7G7L0v/XY4e25BwcfZuvY69koe2JTlrM1rCa7yyEbwwKeBWddDbBcq/krKOgB57IE
QyUHmGjFFOkp1mLwrZR7ahHOCfDXf8pS1dCAVMujmSX08IGDMXpl9z28szHsnoNQhz+ECNjYOHLG
JgBMg+TbxK0jOXpCF90usWPxUeCv5vAtUgIvcvbHz3RqBmfHwJrcl7IPz+zsx5vAgHXW1oPkcjrP
MtlUOgg2E04YB/SEbci1gbWwWiGNlGeJ4PjHnEYX8rtJVFlAEzy0XVWe7cKB0zW6zVMO3oZDrRDr
LvH/TGMKNSJW4ODJ0Vwgi3FPM0r1Bm0XLIMM9Bs7/uS1wrKEMcJ4xJRY36T9YP0xaGdCxlzm7VQ3
GtBNNI0PlpX+jmP56bp+eKnbhTFJffaNldvuRg8lPEIMnqa55haos9WiVuGI0yndf9LcJHM3nfDb
+ndFDaTRyF7GmCsLvJ6oPwMdK7/ajmqayXIGuuRlfG6nOjuyzNta0RgeKqOD8mnP9nIHktUd4foJ
uJOHNSiKQVrarUeH1Nwb737iJq9RnWfHMhuGzyLwxNeAxWUVx4W9ISctbwa76TZJAGjUcx+S0Wwe
7X5EJNV5/5Wi+L+6ox3v20rbH3VfY3PQiycQDcs3URoS++KQCIs3/NX6lsE18FZgv6Mb7Mk92LW2
vkNe6Cgorus3ttsQ+OJC6IN1LakXRQ3cASxo2FORsw6J75IFK1iZZpwOdxj3x4OieIevVxSdxS7P
HF49LkAnXZGv9GejuoQ+WwNPpdZdMsvuUpfa3CraLE5d77fmSmIagTpU194l4+rQo6Er8yfMWvMH
OVr9aKB7F+LRI+XwRTObrPH6fAm41w38lg7y0eCJ4SVpoVTswdCJfF26OvM3PJuDDUUwHnKAnbr0
vgdNvNFl716s0gdeAOlmB0uNc7DylXA3tYNdb11yz9sqnErJbvZRB/E5NPOqZYn04VNfjiIzemBu
aHCAh4hJ0eCmmQNawHkDbv7UzkN8xsxevdv4jkgOozg8jEZf/u6AR4/rEIPQp8PW1V2VdRd/4AkA
bsmBCPgCm4/fZ6vc0v7HVDoYPGLDli+msLDwNubw3jDflyeCa/jbQHpOR2MQbrlXeIyZQ4LE+I6q
0aoYaGv/HS90IbdBLtt7UWt5sUn0c2gP4cTBSFVmgssbp7a2+kkTOuYeT1Y4MD4olGaqBApMfn8y
uxFeqQdx45AkVt2ubWE0t0OegqYcR2WPXJjMaV53xpC2e3IEMN4Gy62eEq/H3TwQbDWYBVs8zlRq
IB+wRojJ8buWeqpjYdz47VzsdFGrduvrOJowQhXTk4gysAwwoPUHICHPXRfJUKZANAcn2WbdFK8z
bYA3EzRfIKvkSGERW8geHSIzTxNtxkfKzdgjdSxD/rRMiW+6rbp9JUEcri3HHRggxyZ/TDI/fNM0
vF+oYv1Da1/75SbBozOO5K0pxERjBnbn7VBxg5MGovE5yR7Mg0Mg6tO5kmcjmD5HQV1wuEp8SISR
2fuPYSZneR9hUUMKcApuzZnfDrsgJRu/pXBC7bM8UFQQ+ZM3rHMO3xd6csbFhRu94rQu4fDnTrep
iZ+xQsO08UOKUa/omx8V7qcYES0e3IuR9bTy4Qrjjk3g3D1iSuF93/JGeK/RYHBwcxOnHsli04Ph
YFxXsVPhKwrDnshvZL5o3BiXrHBJqmaGSJNt6ZXpO2o6X7N/vfQ73UILmxOqqjuWkidqMZo36aXQ
fxNSuvU69AvWDPZVP2gFVm4abPUHQQyTSIzo+AKBYuVgBkhikWJI59sSxUat1CJHAEzSN5yh5pcw
1fSG1Uwe86t6cS3twylkO+sBaSJCqhn1R7CIHtieQ6i1GZtOf9FDIAgh2U5SvOCp56G36CZhUgav
ON+MF7GoKo49Rt1mGJE+YwWtCTBw2C49eMMPh666S6/6TLBINf1VtZkTu/o0sqo+BhY7Md6jtf3E
VC77Faei8V1eNR8Wyy3kKhaOSPHsTJxdsChE4CkQi4z+KhxdRaQ0qdpmn1qFeKexTT9V3EB//Kvg
ZA4h98x2GvxHSuZi6qgGgAVtn84gZ7Mqu6cMCdFKXQUsZ9GyQlVgw0//K3tnthu50WXrV/lx7lng
EAySF6cvck5lpmapVLohVBo4T8GZT98fVbb/KtmugoHug27gAIYBQ5Yyk0lGxN57rW/F4VX/3uWq
54aX6qOVEU/pV74rENrT4JZQkBt2gY5GshDGdJ2okEZHguKN/hl1JpK3Mi8I4pqD38xK0+/LOCHP
cGqFg8pxktQnaCIDWIVze855b9UlFIk0tUK7udCJu+H2xEeO5zgJ/Qeqe7qjHhjeRQTc7YLqsLxv
8ZRfNX3krdIy4nuPVV5fGnPHcHpvHpINUV+3Rlpe965PY7GZe4zyvd3Yz53HKBzlMfZ0an7BDofw
zx6dnRYzejLo1EIXpRu9jie94UQ7NzAZnMYX8r2tCcHKfJowit8TBEnLkxpfP5dq4Ip4aVIxuxm4
QqUoo50xBO5TQuLuM90CFvrAi5t7zxh6REMQq1ZgMIJnl/PsTqatdx9hM9yGhHex+DXmeTJZ8Sl9
79NqNi3bGOrYjp22RHT43s7N4pmBU8S1h4pscA/De9t3em8BR1FYP/Zpgj8cKZL1hswue0UcTuPY
14Kv03s3Oagn72gO1nmI0nQ/vnec/9/Wg9/rWP5j+1qcP2Wv9buc5Q95yzdByx//+T9D7YKxkK/U
otb6+7rx9BqET+nT+KOP8Y9f/FY8euYnx0a3guvOMC3yePmT34pH1/vkGraU0vCI//j2k9+KR1MS
U8OrI0RxaYbL2Xz4e/Fof9LhSRuAqCRRNY7n/JPqET31j9Uj7Rcd6Y2te5JoEQ9TJT//zsbYgvlw
aXbJnfJIT+KQl8hh4VoTwkXDi8IXSqX0rJHDUO5tS7Y3MCZcCKNIvqdN4PnWXUVNts8bKcGvkeEF
8SHSEKPbmAyrbaaF1p1XO9bJ73v9ItM0u7m0bCCSS4epAOMbweh/V+MYSLZAU6ryiOZu2I81ZYlt
ByG6Fr8J4HeAxVx0WtrgiTK0W8+greW2TvtQClyC+Kq8taGjKq1y91qfVLTqLP18HAtAF0lZ5Yuk
7tQzbuGSVGBm3HhxRMCYlkePYxrrIKgy4g5WPS3rBTord0tbLtshdUCbbEbmzrfdYRXYk7XjyASs
ntbLEjIZou4sHTnTM0u/Ra1LZI1BADfyN29Jgg0xpJ6lA8DCKcICkS9NMiUoHk1EeIxn2mu/gM2+
APtxbXhaOWfcQ/NeFwRI6EfTxBYParLvrqqOYLFlgKs/OFZRE/db9hXa3kOfBpT0eYXeujb8AfCu
hsOEyLi46TaBMdKETztPM64mzO/jhQpcSHz0MZAqTTrRrLskBia3Z7BnTPtWb2R85ne9R50R+0aH
1IhUcbT0YfrQkSVmX7kZYba4VLHYLtLQFJjeWxODpjUhKNn4RJpuOTiHL3pRBhj6S+SuuWqNe9vH
7LeC8hpsWO7ePG84tFpfXZq5ax4J8CpnJq+209AsPTisxRQP/mU/IIeUFeIKGvGZd7JUz+m9iq6M
KNE3kkE8MQU+Xm88E/2WI0n9Qg/d2RWmFkZbRnyRsUoLHSi1LN1be+55AgQt5LjKosa9SQ1tPPa4
XZeCcnEV1U160yRjtQLAgYy3yMMtLrniTHcgPs/l21qPXET7o7ceJ2O69fPI2HRVgb9QxuTZomWM
wB1cBLDck6Kub2gPR8uQ7eVCCwx/0yd9kC2oLUHSpaD5FkUROvR2qdPxWGp9erQd013xt9RqzNLs
qCqYFwsjFtEtd2t7KPBIx/gVi7FfjLTq92PAwIoDS7vK2rm/WQZgvrs+uUDI0H0hq09jIl34BjMc
k8nUYuw5xNJm7kFGURxhiHHuhyjKrqqRQKWeWpVI0OkeLmr0YptEkyrXKW/QHtRbJ2xjrns8bmdl
1heHk+o+1ab2VDbja4EwHyjjaGZrd/CbHbEWMbu1oyUPAB/lTV+MRrI0sNg+0s806jUCO7Hv007b
DMPQrigjrLUkW3NNvAjSmopj0eQ5SDoGG1ybYSUb/M76EgFMuks97YzIeskKk1GI2Hr74M92EUhm
6WXgYSKryzg/q8bQuwisyn8Sfec334AR/9/ffzuWr//3/zy9ZFE+3/Eqem6+l3OyNFjIIv9+T8Qj
9PTMrvivS/X08lqHf/HLvzVVvU86szBEnwR1MDT5977o2LRb0YBSx1iCDW7+ye9NVeuTadsG5ivp
uKZJe/WPfRGdKFNjQIsWpzhIGf/M3s/+/OO+KHSH2SyaUsFOaxmmmLOLvtsXTThXdLYad5sDflxF
Tj1iIffQg5faWD1zUGP8q4fefY+BaCs1FOiMZpqV08dYohGLvVDd5sS/1+aqMBnwZhAiRdbEj6lK
nE0xyZKhSZNUz1WDdtCrq5rZ5xica349XDODImqhzYMQO0+jXphrjdshrJ1rRPJRvw71Ujz7AOfh
LAsZbjot24xee4pikR5AtRDc1MsGy1CwRwqNxAy0zyYqvQsiTKpd6QXtgwwq7yXRZMvKFY4EEWh+
u7FyvM3gjNLhZY4DfWQO2J5NkBtXNtjZ7VQX4c4W3rhl3odscqjaFVackzdG7gWJvP16NONiV4SA
lqoRvX5fgVglgHm67CFBrr14CA2IUJKhcMpkdoGKqLzrIDa+ElwsT42uWWeV295Ote59xozgXloO
iyDTpy7iqhY+JU5U1GymjVLOmrAJZuwj69XWHUeyGwszeQAuo5/R123O8sR8Bt/Unfwkio7Qyehu
Oi4xL3iz9tZYM/8D7IhKLnGir6EzaJ8hxbmHKsJyFLi1/5XwHmDuQ21rb90oMdJQ6T8UFGwnvnA+
p90wvq9yjPu6OCfyrIZ17BIaPlIPr33dfRtEkq9ob6AgTjsSnasEjLminOgzkjwR82F7xClHPKYj
BRdKy2/wMcSbdPIBlxFj80CsDXWmTKudZ4PKxiptzN3oeleazNt6y+OjBybD66BBldXZHahkcI+g
pPx7l87Tyo6M7Fbos+61prhrptD6MrDf7lrTxVojnOwiSme2gXKRA8mOzVaZWAQdv0ZQ68CAptWw
zuzw1eSS0NDIS/vcwCS9b3F886XrR8SV2bEvJu8F7GRwNzDFbrGWZ/cjIQJnbujLWxJPK2riwato
BEMm7kvdvKLpTxSs5mliJQuh8HCotnwhqunCE4os4zYoNy1UmvPJGjNCNuRwTiMK6ZU0uWsj4GR3
KTFA1WqQzcQUjWvmxdhUNJW3jxN44oPmuuU1rSTnMBHhuxl7kODYqF8qUS9ARKptSb7VfVIOGFZw
COP1xgCuxnjV2wCZgbbldwaR8ue4dSbAm1o3rXW/p+uLzDM4bwo9uLRIlmFoYTEjHQ3m+8AOIfbV
Vo93zScCpR2hzjhgQ5/dKcGw69latdOQrG3UQGrxoBIQc8VzbQxnbuLHS03vV1AotZmccMo6q9y5
lQpwksnbEL1EYOTmvsxjyckrxMX53Vr9F8OkmanyAwKIVc9EU89BggqDRXieNX236vlOTN5CzXJA
j80MFx3+UR0rY57Dm3Xz8kjny1z28HtxBD6kQ2qFRDuhtxaTQVZy4OctHs6uf/OzsF3lYZ4eUFnT
84xIXTgWgZU/FFWqNjXIA3Z8K8Rp1DDRnWXFU3LtvT/P6It4tq2wtnCB81zIPaZk66yHsTouEXuI
fN0KLXn8+Ud3ZiPBD5+dXES4gmCsmLUTH6N/WPFHrRHYrQJyZezgxuNw6WSJdaO5w6M+Q1oMcK+Y
1oKKnGwknkuN73jjdkPJ3aBKoks0xssG8sIQZTcxEAOdnRkyHqfdKw2UmcM2jHsHLQQVy76yJua/
Zqse4dpiTOfEY+f1mZmapKsn0XNVDcWSeyu7HFpX7ZkjwmgY0/bMw0x7ZlZZJtBVdxXkk8Ta5+gL
JZlResPRNDGXfg//s5MYxVB5Zpet03uPVFj549jpWGgliBIzs9pzOxir8zRQ4SbsjQzVT+88FHNB
IDPLvxyzqLvmPzFNT20Eqx/EwdARUuR5DRnxGXkefVtO20L21tHEroNk0QVX0ONz3QToOm/GVIuJ
Yp8CdLx1iJIa6vcmIYhvq3o4Zwmb7Dq1kpY4btbItap9dd+YtrEKLK+8p/PlESCVizcJP3YVNUly
aAETLobSjg/0MhEStLVp32uNbV54k6vdWHWPRtP3iMOeXL14RTkw3BMyI+9tp8gvQ79Sl9jDuzMd
ScnOMkR49Ctd7ajJ9plyV00Xzs5DNM+VWw/NwmkN5kZ9318NfZacd/0cdT4jCwgaYFiZjsSDMBtT
N61JxUcvnv5PYZhfRWn5t4UvChz66V1IxUbA8mQDxiF7J3sk6qc/TZbZHCfVhIib6uGQU5sdMxfr
CP2k6OjYIw1cBUV5o4iqm6WlOBp11ZVoGnr/gvZ6eSWZ9VbbwQjGnY0WcWULC14NApw1ALPkEm1y
cZLDRIY0yW2LLLDKswF/zhVGMyAIlc9xBbQQaG1V5BfAO27SWcTXp/DTg/E01BJCrcs5PGabWBI2
dFnPa1YgWb38eR2zAiO8yiZNe3PnFQ4sn7FMlYcgXpkL0UXERdQpvvX3hbF9XyRZKcSqnVdONa+h
rgpZZxAxTywEIdkPxDF7mKtZeYd5DVamGM7yvmDNLc1qfMh9OA4miJsD9NTqGlNXcZh0o320mfms
ihlyk2jK3OBTZWOI5z3CmXcLIzWA8yTzHoLSItJ2DnOTaNm8b0E6CviAuOqxYaRmVM7tqBf2Bf0A
4a+GeV9jlASF3i2MxN7WugspuCvLTT3vk62Kp1X8voPmZeB+7cvYZqvgnrbYp6LyUKYZjICyIXWh
gO6/9UMSfFbqfUuf9JovdtRqlJh21G0M+JxIPGq+Iuf91DDOBwhcoG/TfKRw3w8XuCniZd46NpB6
zh06x0ffCyGLoKdGU5y6LjyRdjhkqUF6mqcNex8YG0llWbYtOfqsOjeL93ELF2rRom9cGZ0nlvlQ
AKelAQpoHIXl3mqK5hQHmfk5hFxz3tS2ew0MHDGSQvoDjVd5r9VUmpcDo67nLm27y6geozsyU5ob
oLpDTbnfOvsmCCFX+koDCs0Ugx6s1+N1j0LrXGoWAWga4BHOdEjeemFKfP2maV9imQoBSZfZeYPb
HdBO76ivg+oedMaCcyLXPO8B8rXJfNfYujSXb52ADx5TNeyVhsmBelx2t4HHeAe4DxkRViK0S3si
2d6Rg7jJ4kJe0oKyl5HD1oW6trgtyQ4CPKGrdG9pUdzQJwhx1IedSwSaUYJ29NCgniSRQmtJm4S0
hkj/OnhT+4xAnhK4IZCNMpsHbdP3k60vJEOgGUHBZRwZ7G7JbeIpTgcZnTmyZAyjXO3MAzW1y+IB
noXDXAoTOJimspLBVRRo+hdjwLeFIukW2SOpoYUGNST3ozPiYWr0pEAtr/D1JI+xJX2CTXTbgo6a
NV8DRiyPZdtQbjsC2mKR+MTr+F91PFVr3pG9bjCVHczS4+ZHepbOKY3RlUaXjAAj8pwWBV036OFY
ZS4jPgZJcDTlJPEHBUlKRTy96qbGSJB8KJrUHACA1KDJ3rhRg8wepNtDUSfiDItVe7ItpgJICds1
ATQxv4wN2THDhA+QI8p3ObCvUS3QxPDkGaTOt6z3vmKPtrZsYGj3Pb/I946yXZ72fk5YiqvgmoH4
uGXl4WDtJ/p9PCA8xQB3b4jSfBCVQbhim5afe9uOPwP9Va8Jz/vK0+J61zXTY+7paJFTwFIxwNG9
LYqTKfuLmMEuh35wz+0AOSNx2St4rNC0r/WO5A3GqoXUD4oJwd4l9hHWUGKfMeqydlNTxmtD2eOX
SOM+1SdhHoZea1fkZfnPaCfFNiDAq0cQNh/rp3zgoDy003IIxUvbhv7WE5W2kcZoopvMogM9FaLo
2lwrrqXWmbch9cuwJKCmee3IO4qXVlK7x7zKWW1IYoxvSG9lXj/1NR8Kw+zGwamGEgCFgxeXXseT
aBMo7nhK8le76CmNOmznTqnOzCgnCdat+exdOsfbuMSiGfDmXT4oCDZUa2tBOXKRyDrc5cqZ1r2X
1tvSx4iMlcdaVGQl7gfPM7eRzeuT3eI8ZJwEo7VPkAoYgnzc4HrGA2K0zmNYRQZKZvzZvquRwEQf
ladWjTr80zyMCaoq6n2MahPRymly9LfZxLruDN94ajrNuUDIxPZY3taJQ7ygiY322gzUmG37iCiU
GKnFwgrd+6zJOVS37O2wIQ00eKrfEnSL7Tm0hq3ewg+BM6ffN8FAipM/shRXqlMsSV0DYMMsr0rH
z8wlWwn3d5q7zS3tielWli3wMJIt26Xh2NgEQ+Q0BZ/5kiwM8xRTsi+0d3yfgFvTgqeSK9EoN996
jqfd2GzVl5aR928i+eqD3cj7ckC+H0yhvIDGC2IPZzzT/vyUobEXeiVXqoYMQJZ2vJVRi1R6IIjM
Bi+DtP5lxLEaAxXEKo3APc2XvecY+Nf8Y9MzXeVAeGjM7nzulrnJYzFdj2HA1JtBV5Wb8VtsB+dJ
kuUbV5X6lWP71RfuLzYv9BYX/QRFIw3z8kHvOsbkpJNr9lJjn90yoGih+NT9HcYs64uP+PuzRF+x
bPRa7Gumx2fsBOFRpljD3TCeWbkpNiyt5lARB6AOY6ZuToRrCpreFQIneY2SfXy0mZYuNDfI9moS
/nKKses5eWKnO1I0bUwojTM8MA0jICbHCLpETxzuAmFn+zQaycViPIGuyhtuCLcqt7hcpu1Iqslm
cIp4J+aQjijkJAtrYVx3kTHsOEPqWDkKQksXyqL7bMOy2YuqHTYBudDrxDTCOxVx8utMMNXMPgGK
CeXtgjQl3gg1vUGsh95ueA8k0wXZtO7KJn6ounEWFg0BAWdRdh3kLKKLmozXTTdvuK4M0agYyR0c
q/IsEXW7TfySA1kSThvMwdT8QopbaPf1emrL4ixmzYCwP6YlNPfCMZdNSot1mdUJT2BCfCVPvyLS
UrY8WbyVgsicjN/oGsAcow+0HjQ+YchowJ5LPLU7eDd4GKwMZEfDkEFrIyKHTYa/TY4tFBIaGMG4
YDXre5h9QWKvxjZBNWX4kH8Y5+de+NWmMRMnc7wUvxH6B5WhwTCTwVq3EPgRo4hl6MAzSe1pPKPD
BwJSedfU5UD/gPcnJljjBar47BQmJlmsfees6BNM62iwCVUxI4fa3E3SA2Rrh0vgG/teFcbL1HbA
2kFTvYVwpdDuuhEezRGjgOYbMCB8xGM5vOAXMy2SLwB9VIpB0PSvhdZ5p5yD9iW1Ctkjkd0SoCDp
LCF3su5jTLJLKHqQBqWVLc0yLQ7xHL1gOyWkdBQJO92K0q3oVHXMrbzeIY1flsAEdLicWIeFN6EV
io0tT5h111CuXTZaHC5yBE7rKKP3EaIKNHTk1k2cHArThhO1G12uJxLiL4gnl+hp3Gvytzzmxk58
z7hD7CuGcUfyMBmc8Qju/T6+DCzZt78iOv9VKQy1ykVEBQxY9z4MBfs4N31Aau4WCAepAQLqlwo6
LJuVDckSLhP1r5UOwW0gczJEFKoL8hTDUrtCYjp+xRaMTz0Vdrgeo3gyFsHcr6SnY4Ff9PSWUL9w
Etoif+9w6pJEjYU70CAcC+meRXaB47qmQtT+e7r2/5vG1LTH+XL+vh9/fErq8Omlf30tf2jFf/u9
31rx4tM8mpaeIy3wvbRAfh9ROyZNeuN9RGy7lvc9l8EwPjk67AX0y9wIHtCGP1rxUB4kw25+MrPU
BcX5PxlRf+hJSY8xuGM4jm5IaLu64QGh+L4nZReECiuiW1ayJzsxw7UD2O4YZOoRymG/EI7OgK/P
0ZC0jEWxf9qOfk/TUT8Wdfdg9fGXtoQIoKa5hd61u6ZqLgk+YO2RxqxZJcGmKklZVHb60LgcXPA2
P/RENXjdeAY70+Q+laA0S3Io+vjiu2/jLzpuP44Z3j+ca9Ft0y34F4Q8fvhwmMTDZhrBAw5ZvDJA
Byf+W67KS+QB327+vxWKf3wlwTdpS5ehBv8IgW7gh8sYaMoAzpAJBsUFSUI5oEeNUFziF8vgV23E
uU34Tbq+f4HPzI4kHTFr5SXkKyFnQPP3X9kooz5jvEvUtOyeHQyrdEDzz2RD0tEgQtbvigB7Rpes
ONaUK6drQVZIQinoroVo0Ppmx163FZHzhf/rFlrnCTDTtLJt9RBo/QEM2RO0F2GXkGhk8VUN8JVL
KySmOa+OowiALjEmIdtFP6PNVe8tSlZctMmwJh6nX4X++CS76UtVRY9WxQw2TXT7F5fbmL+5D9fA
9WzdZhKFUgOp/4/XAEdP2I0WUUCF625DNn0jGwD2hQ1hMJzziwfci08aERdmyFl5ltKJLntJtfD1
53fY+wv9+EYcg96mhYNBwMQ2PrwRgvWGIAtYi8lAgxFaVeOS8/ODG9RqNRjpcwoqAa8dx7r0oNrp
trBHwMexswVbmy4yz7yyWlBJFFdotLcicJ6mOHjMRgMKtX39izc7M1a+f7OOlChTXSr92W7BEvLj
VUPIQTGAfngNJoDtlv0btOGt6PSbSpMMm6NbchH3sSd30yBhnOn3iNDVohWMsYZwpSb6ngbQAbZd
aJW4xyXDh1KJX+yQf/p2eZ+e7ZqcBnmUmGJ+aJTbQeUAAHa0FSl/N6UL+a7PMoAw/XDRgz0i64NB
V0wegJBoOhM1PWIJvCG+eN0iW/z5Rfsg4REf3svH6ApaIkaaOqm/8nPElCUxYJ6xAICLxt/cEmn/
i5d7X5M+fEfoH7mbyD90HfNjoxxgLlJWJi8rq6EyZkrD7t3AGc9Qq4/ihiAic+OCNl6BdQ2XVeZE
lzIc90IPH52RU2ocM1sK+gzdjpc/+K29DGpvk8X1LelsyYG5BuEXCOLoMUZXHtLzVRN7C82ajuCq
xC4m5GxRGjkans4ETFoYaxJXDq7nUehBAFkLUR3xlgaQUlIgFXAid42rj+vCRrZtE+u0MBWwyMaa
Ln/+Rfy4xCL2m+0+kDQle5XhMGf98eYdwfbWuNnpwhAsP4lgE5fnQ+yukuz08xcy//yYOFhC2RQZ
k7P/2h+2DXtiwpz7PNNW7KCdTl5zG6kIRnQYrZ7VrgCCfY6H/kZU5NG147U1ml98opMZAvqPigD7
3K4JApoWuT6n25i3TGHI8U63P3+f4s+35o/vcz5ofjdP0n0PgWhJRidJjcfR6DdU60hY4uzBZ4OG
DUJgMoVzRKELSjYd8pMaypGWQ/UQTEjACgArwHxqDWl5Ze0sAGQnVSsS2CGOAfB2/W1QSXE2SZXc
IwUvlmXVnHcF0zdRtrAXGwRpmonHN/d4Yal35MFOI+6FSpgLrSf1hlSdWXHVtNtcFJ/huzz54Tyb
L/vxcbTbe8DaEjZ62L1lZF0uBz8AwdNWwQFT0bRJwvT+59fszzcRpx2qf45WBv+256/+u0uWNB7H
DSv3UJv5jBgBJZI5HllEt5Tm5ucv9Z7o8eOT/H7mICjPRGpB9MmPr4WmpmprqwAKb07WWdtOn5mT
WodSITlnIiQWaYVRIx9PdfAWOJQ4BUlDC9Njg+0bogWIQZJ8Kba6NLzxF29ufu0P7w19Pk8tAhCe
po/HvjTuDBAFRHXGGbnXKKBt7TBVd7+4Ah9PKrOQRPdYxBxewzCdD1dAmQlED5kG65gJgzs4w24k
T2Dl26gdorBY0bu87oOyfEor+w56z5UNTTzWYWY4grjLakLZV0E2wvA1XNKZCI+p1lAR+Y74xYHi
r97prNFE9CkstCkfFhd833462MRnuqB0hjjKNl2cEerD/DHQ9XQhQ2dDoNrBpa3/84s0V3s/fBOI
Fkzp4umw2ZXtj4sN44JmKtCRQclw7v3Zju2pZeYRmpib11hFllFW/eIljb96TYkEVwpocSxwH74X
LxuJikpsJvqVv81MDQ1IVA5npXCslRlxtM/a5zDp7qpQPMWRfDInE/iL9hVFU7AMgZqcQ0N+ix1r
bxTOMopvf35JxJ8WYBf9retxwJ1FRzxFH54crTJoOTUanFP0axhdfNvf+DGPC24fSUU8IcThJuoH
k+ZaeNZO8rEuFFRx6X9RDE4WdLSuzb57iyGqZQMR3h2Qay2JZqnMtqQ5tbALemNl8SzZb7HCBJsu
0Lx9wY+nEo4/svxqkTFnGYcWqL5dv46ZftuO4otRIwcd802nyAoLkOV0FqGZP78CzkepAAIsxHVw
8nCeMrT5eL7NIzqarhFiau+cWzOzr8CbgSWGH1aWQ8qoBP9ObYencgAoTijAMi3gaKsR9nMT1NeN
6q+FitkMCBJbRolYDibA5MbB24khwmH8scq8ul8YljoGdQMpf2TxBtG/Ub005uE85gPR43AH2mST
mSED96az8FSa0Qkf+ypJGQVh6uxizFm9zmhpaqcX8vbKVWtW56pFJMwbxZmN5XI4DnF8TNLExo4C
brNpVpplBTCo+m3TyBOGv21FDbIevMQBN0Fwqcgtcz1Y1brQyF/Q8c7jtxlWSB2HTQi5yhrgpPIj
Gl7lc6+CiyJ9cCYMq83rL76Kj88nkTuSIt2htEMy93FlaGXu5w5etpVlLqtpZzu7rthVzLSK345+
/9Wyx/9NDZR3uf6s7vv7HsrqKXvK//WUv/xrFbU/dFH++OXfGikm6UN4ujmSsVKCMmeN/s0orn9C
44/V0DAgPNAR4SD0u9Zf/8RPUPZS+ZiG6Xq8l9+1/mgapcVJgDISVSN79D9ppHjmh/vEdjEO0tTg
H2G4oDZ/XLNKRq29yA2xBgHy1jpgk5S9LaV3G0P0hq9vrNPRGVDZ+7cRM4tykl8cFWxb7zGEVUIK
RXDww+kes88W087G0LR1DApRnTV4vQbMyIHfncJev69Ma5s0AfRbextPaqcT8xr6a5GWB0PRmXY3
knTuuMqPaax2okr3ibSupLLPbQkisBJXwjfOBch5GXwdgnAzlh4BcNWNq5U30+CvffwDIgQElelI
Ab9O6c0YVOs4m7Y20ciOIASgdPek0B6NUpznYrgvsYyVTX7JkrYGR71NM0nDqFnBJ7zlPIjj2xe3
sGl3ihZP5ot84YQeabS22k2go9DXpVdN4Oysso6Xkd09Nsq7RQnwgDRiYAMWW8uXeyZga3bLZ62x
6CllR4Gk+rs77/Lbrvu93f+9Wv9+M37/EjHxexY3E3fNhxM1FaRZ45IUa45mqwCBfOZkx6CvLuxx
vHCUhlk3TCBkOWuNwqrjm/n5G/jTkd5GasZpSaerQYlj2fP59bvzaVRhX/bMyF/jY5xA5h/dVm2Y
exkLJh32OgnNC+Enctv64Emq6b7LI+vI0VPb00sHy7t4Ha1GbTixyyWg1GjjICpY+8WEuEzt2ioB
5e4G2l7nGJUhBF0KGyzRNu9HjzragLXXp2uEj2RFpUyhCx9HuWcdqkERj4JLhALbfB7xtDJZna5a
PdpOgNHIWTA+W5V58J3h5MbtgUxm+MFVGRzer88/WiJP0bMq6uKt+Wh0+sEN9bf/1/xa/zPtUHzX
f79Mnj8FuKHylz+vkLO4+tsK6dmfkG/AxJj11ZwfJGvUtxXSsz7N8ZECtbXOiQIF4r9XSPkJtxMp
axTXHxHA9ieD+9ED5ovDij/5z9xQ8zL8/VHX1WlzWy4HOxMkGYvyhyUSN7pJiYihaYyscZ07T1Q9
UMOZxZ+HYoR7kLbwFbTsrihJXkLlo20rfSA7QNjOieE5kVy1u0VNgGqk7C9zC9ERHvK7QGRYHRUY
wUWL3mQ5JoTIJqK76hTI0t7E8tGXbXpTh4m2jD0FXSsUX2JQvmYtT2MNB861o3UISmPRdP4VKWjU
ZdkM8cCyasU+NALf3ShKGU5G9hFhhHxyIgPqbOKt68KUi8T1phMOy2zZ9A0tz3SMCS+od1Dm+k1f
Ixw2Y3czCXdmULWgBiqgeIvBcFZtoLRV4fVXHLZ3fIMvPYLjnuUN18l6rM1rwkwPhSoZKLfRsi3M
N9uIhjMt9JF4K3pFW9RCNxHX9qKIsmLTTVq5hd94N+hoebX+COVdrohhsI7xyEeOrORc5M12HuJh
ia9Olk2DGDlfhku9eS7NkYH2Pbg93MdV6m3Cqj0TRkgmh9bcS3tcpTCPU7Ei/UJUS3Cwb43oUC1C
9TIsYzW4sAKJpam8AOMTw1rl9MEKQdeCDL1gpU3xThvbKw3R+Tqo6+GujSZ7b4GRLFtzWEUgk8ey
5dI4VbDLiiC8yTN1HVrd19mEugiIHMbWMrrLGH3+hW2xLjH3RBPqIxgYAy3eug0j7dR27b3pTeOt
lRXXVlIJxP6WaKl3Q+zuqY+/F+AnEUpaHFwM8uRl9p2lxxSmscwve0UudtN1J/aeizAGBZjIz0E6
nqcxDZSmHQRzQ07Oqt5rUwBqOPjck292GKL1aI94c9v6XKnmLclv9ColtYUdh6Mjo+cRQsK6MdZi
6JY64MwFFFNt6Q+zEphzMxLSY2KzJY4w7fCBbYoK1Uet3/nZvZmWtObCTEOSPb92vK9IKlYk4t6Z
kYqW7ghBdoAmVW8QB9eA6XpjW+Hso331JHwtQtXnvaUxXi9SboSekb9SXVqNu+zyeFUk5rWaQuNL
h2JYB/ocrQXBKTeezDe4NCr+7ujgOs+UdoHM3b4kD6vZRJ4RbnPLtZ9LpvmHRiVRs6xHW16m+LfP
LL8eD7FQ7pOtqhCGRh4cNByb+9xQ7T6FdPE5JnC1W7rwNY+IFfU9ukW1Gzka3dYkMK64VZkwEKX8
ZUxqxP9VX1yGkgBbx8nTx2T0nZtJ4DJLiTKEaoHkiuAO71B6kdwYsu83jWEE+1abBvTeIrudYEXc
umXWnsV6md1laoR61tGyXKiSyIbGZzhekeN8LnrPPkFqKY9J5/ZXRptb57YxtWeNrowvBJ21aweD
/GYgtvtQpTLZq9CzLyZVhK+WGPCh1dmoXkp0QpAiO676hE7lhE6oP5JN1RxSxHXGsug6/dJ1B/2a
uLjq3PBN45glRXiHC847VZ6tjtwqztECPXHMRNHQdvtP9s5jSXIk3c7vwjXRBuUOYMEFA6EjMlKL
6g0sS0E4tHCIp+eHnr63687MvbThjkaazaKnu6qiMhNw/8U530EoEa66+wNBGMCu+AK3Sd/Pj1me
mOXxl1vmn5REzh+F6181EckEaIpcZvAc3HhivT+G9b+UJEr1HoMpzC5+HOe32m0r0lA63d0apyy3
Q2ROUBPwbM+2NWwtQLjIgPxiJyYj3rn98Aq4zthD62x4C+DoodG1CGqPU0yG0A1CovbiLz3onIln
LhYPsjSzC54H4jkRi1AQLQ+1ZHPvRn5+N8eQyHiSXsFzVlhLA3GEGE8SigUhMJnFC847Ar+GsbiX
Q4ywcJyH6KUeR9s4BOR+Ac7wFhil5OA0wcYek6AOpVfPB2JaogEwDiiYg1nESbbT6IsJCEJItSUl
qkJ6bpWvjpf4Xzpi9Lp8NUXY/tPgGYcy7cH8OHJbl7MIm97D0mRCpgArfzWgsB0h86EGHZyneuqv
Sd0+R0iPQX6b+EYmcTbyFFoZqsOdwny5cQw0a1idZhb5xaVbXH2J2gplAq9/Cvh9r7t4P4JXDTP8
krhHiorViIy/JVqM51LDEjKAwm6Q94tbBcmeMwb060pXfaLtICGd2v1GoqV3CKKCR2nxeKoWCtPr
WAvvOg9Zd02FEdxBXk9eExOsYpzK5sbEyHyqLGlCy2OIFgap7i/8rKdrWcv0bjT74M5C0jFSRSbd
dy8ukb85npP8KPKqDKc2mvbt+qbM6zvjr2+Pvb5Hw/pG5cx6zkmE3V4Z5fRYN2lzdc2S+znp9K0e
uSpL2XafzVywdBkCt9ur9Q0mK2g4A82dXiJPlS/oWqY77BfxqdZYCJr1HEjXE2FeRnmpXUa+Gu43
z0HjP/vrGZKup8mynitYSCr44Zw1Yj11EEHVW4g98Uu6nklYiM0TpMX0WsaSI2vq2+Kd1KvhlKki
ONU9+YYsAZNQM7r5zHJ7vtSRUZ9N0OAPSRFwMAb86gsFiPzG4BQLDGD3va5T+cCvNu4Ze8vQqmZ3
l6YS6heOjAHNS9T6YDMXojd3rJ74sv2AJExcW142kggVTRnd0CSLkLFMOx8LNyn0rfQyPzRFQz7U
4gUo4OxgEsHRGoMoO5cL3O13O/BwBdlCkfeTlY7qj1Xc6vhq52Y8baouddn89ZCldqA7MMUiIIUT
aMYGk2sfVxtRIDOJmLtiETCBJyFgarUuPEheg6w6+E3v3DvIKu/8eBIgeTxrnwdOt2szoEbd0gqF
BSMqzAPxs8iv2aD7I4TpKthUiC+/OhpzMhCzXDYoEZfE2A1FTgW0Ujry0OPY/FjyPGURCSmKs2XO
soBHzGqsa+v0NijZhu9L2Tx6EbwcYG3jzuyAp/R2eURube4zr3/t9VUuDJniyLxjFlffkftpbpg8
RiE1KpL2Nl3tY9D8rYgOCW8fQuuqHjeO6xGNp7Pfa9Q5+zkbv1kluAy/dUIfLP9DZDbjDc6rHcqu
/Zp6X1mZBWf6YdBL3mwDy+UaIHjP3WSeif+3esS38ZRV7P2m3H8gyC86JoADQpQYNF2w1y9gAuQx
ryL8PqlzRtb5hGdmTeaynKvB/b8zl/obKzJj/RkxW5uJwGmT8YHr/HWx6vSncMfkBEYLz0heLZdM
oWacxqp/g3QzbzOrmX8GlbXaPuKqdsKu7c2MSWNKosK/3sWB8eZ//2ct3K8d3P9N2AsPZAobzF8u
4DVI5s+AmJXd8T/+26H6/LXD+/ff8e9aIjtgiGLBE2Bh8Id5988RmPMbQd4kaWKmXXNcHEbmf47A
1mhuZCIsvHADMwxb48P/HIFZ7m+4GjDi/ukF9v1/ZQS2zib+KhQYvPEXM1ERcetKyoS/n4DZ3qhL
kY/jLovjiicLjSWhEnZoWWBWDCT451++M/+kNFm3FP/4eXwgcl4IG+s88NdZCZBRsi9yc2QZ3BFO
78Y/9UJTNY+0b//1J9El/+NncSYgufrDwSbMv9tIQGqwMSEm444BpeKlFKIOYctZwE3t+k6Bur8b
ANIccrsvtzFhWN9lTuBdV04KPI/LAcL0yjqbM0InUIWdq9ARxO27izmUXDkqrxtuBus8mHb3dcbd
QLCHRQW0ySYfAwHE+4mu0Kl+YCTG+uIr66XwCZndOx6UwUvvtuZDmttdTA2zRKz0PfdHLxPya0mu
obzu8uHnQDr3jxig8VaVLHqqKF8egsaWqCSbOT400PjAfPX6MZOLcWlMaOvHxiU+eKOSgL/K4EXR
O7HwoHrspIFymBJ7DSWKfAkXf57hHeoFXjBa8wxYNtkeXCOd28JHg+7W/iyAYZy9Tp68mOfB0oO9
M6D3l7N8WVPG6y0ZxdEZwNtySW1RPkxTfp0Su9+5RGyEyEU/QLlij8DbmrlLeSjXUmUaYF0HmJya
um1CJzDa65ygTDGHQYeRiVo/t4KcbFzpl5tUEcRKXpw6G3P3kQa0mQUmYlpZLBYS+BzifO+GpB2P
MGZSRn2gjqyp31ELUQ+WM8gK+5GolU1nG09zo7cCzv5GWlNy8Nk6b8mmPNlw7UNVO3x8S3NqWvHP
kuyWjRgy/gH6MZKb6kj9GISa9AKibDvgmi4fbsvCxD5kPo4Dg7ihanl1yvgzttVdUZJQsc5rx4hH
nUhgn8YIIsZoPlaqBenOd1Q5SbCN3OSZYJ4Yqaz9XQzR1VLeqakyFkRYEM16wh3ExpXBh/MYOQo8
WWF9z2Sxd5TZEPrYE3uT/TRtSep71H4I/o+O/JvjZD9VkF5JtD0T2WGFSkfNRifNc9zKgyGYG87g
liOo045xTXJuIzL1eO4mn2j7Jmqa+Jo57mhuMzfq7pte3FKj+igh0ocj3dLGGfOLGUw/JJbkrZpa
7IsFP7x2ovYJyAtBYT0Gu8GhPF580ktSsGTokggTQWp/c6LpKwTO9ym25U7YI5gth7wEGRkvkROT
VEA1tThutAEUGYW2x+ZZRYRByPhCZHN1kK39ocyALyCCMR7xcfmYMnCgyyeyapOzpwzpglA9wHAs
TD5a0lGckKNofANiXCGGj0kx40esyFUz8rzbRAUvqmrs5aU3OpzsnfcymnylJRNlXfJzcM36axBX
1d9m2P/SiPT/xcvVWpfZvxzr/3C1Xn60TFB/vV3//C1/3q3ebyTy0OxaEO+YTlp/rZfWW9LhYPvb
lugP2PC/3a3wpwhHI3TNc/yVJPXX3YpOl1wZlAToHkg+Q6j4r9ytrBz/7gYiNw2howBPBc7DceTf
rSY4rIxRKQuqbtTvZLRCrImrgCqJdWq4Eljbct4N9kU6S3U0C6cnlbZVeQgDu0b4b/Tv7ohIDPJ1
kn3IGgF4aJpldcoji9y1wFc+qCQ8jnucbQRMJzQxJy3lmF5b0VTfSBRGeFfibeKOkoRUDWDzoSDx
OhNMgq9G7XoDuDgY+5p5WQbNeZsUefwdooEo8BuA4tr6DqmuMNGdpNnMeprKCwmE3iuo00zt4L1O
V5qI6LJ0DTG5fmLKd1If7feITc1LlxjjPaAAFBl66QwGtGZ81pYvB871pPPJghmCs22p5daVI0kD
uWFikdVu6eqz3UYQHMcWp+RZzon9bJbjIPaKMy0HprE0THBjC17mKAASEdZAlON94lEs70Sy0IUx
bGT42+HeHe+lLrzuyrS9Z4Ac4Xqgk1eAKzHgTJpbMm7JRMyK+id6xepqI4HGJJjOLdGnmSkAeOC9
D9H2CqbXdPnP44JdHP+fnSb7nlCEHi8LmrztGIAr4KQBTK+w2NQnktnIoyEtkw9wsbp9mGmX3auV
pM5PxmVjlunjHEXzLarm4AH9A0jQNMjaadd1ZvVKCYNGdcmKKTrIuFXnup1MgpN1O72R1+w9qsaU
38zJd9Id8b/Mzoth4lvjxz5SxDEj0nsQnf3eDOnw7sfCxe2eu53PnYyOMHQ9r7lkxQBmIykasIN+
w0lZ95YxnsD8JzM8W/onotsnfyt6UxcgsBznCbBldUTzmT52hdtXG7I85TeL8OmWB5KhY6gCe7zh
9E8uBF8RzDxY8odbJowBokWAbyDPZuJbEC3BydVGho5BpHa0xZhv8ess+XvjDWR0kU3sKELFSAbE
zuvWpBHhKRdHImWXiDBaDEbbQbqL3g4aImwDIKbdUNF3585fJhKiar8Sm8ZnPbsx63b4KS1ivLb8
EWUUpmZNqAygSma3tg9nKbJcP9ub5Ek8FnrCQ1fPatwThsE7yNwJEu9czjXUQ7tvr+v88DuBhLF5
8guDoPlIDO1W5lnFDhJsms+2zumL5yBI/W3nDfiGNjpHuWOvFVb2Vi/BjUSpaQc0fPTgtBI7djFt
Zlxsoo8snsfsaBJN/FYSHUUs1ryQz+Qu1zjo8sucaHvfTOTPohQZPdLJgrK31jqnemtHLJ2aODhL
aJInAtJKsrMbFOXzOiPr827WB2Bm3XIqWp6URmXizhz8FDoqkagjHwCGgivVSOuvkOGWq60xRFMf
8ZycDTtS85twfZiOzczoG4bzPEm114NJBO0GIifu5CJT3MWESTyRXiK/qnxsMH/GfZOcRrx4y33K
OIRZGa/MsCc8Hqf6yMgBvi8kBcc/SRzEy70TD/NyZxhG9tbPhHiAF+0xBDDJn0esXIk9QLgkfo9s
jKhLfGPl1mC2NZrmE4rcpez8bJeaajvNCInowJywFgM6NSH4ajf/XVDumEM9gIwopvqhs3V/sGpg
zn/cWP//cv/fkbHE2t3959vR/1l+T9rPf4rF+uN3/u2K993fGHkGiPwEBFnsIHRxf7bPkv+Cdxup
FSGZ/CJ623+74oPf8Mb4OGSQMFLF/9U827+xF0VByR8nXXxc/8r9bv399b5+hEXKAVmskt2UXJvd
X6bskkwNbeHu37dDPHbPyeD7L/Cwy3orGJbeuwyeu60BlWFfmlO1d80+w3IQi+0v37Z/0lOz06Vk
+Q9tNX8NRl1MCpgnSIfk1//4NzEFVjRjDmxCubrujfiaYRvJIDppcAUvg0qJCZdkqLCELQAscvcN
hBUFpHJn4Of5V+nesKipK5UUq9GU9RNh7A1FdJpuizgSD2QcRqfFht01B8FwS7I0KcBQ05u5jWE/
Jl1rMPe3y5OfFC0pMgZ0IGRuaCJaNW4d4bE7piUIE3MYP5iHeDa6P1Fir56DixwUKd+BrVVIv6nQ
KQyTdSLiY/oEbWyHQ+beCsz0R4DK63C0651PU5g5HvqcZW/fkM+Gubq5gD0KUzlPXx2E+N8t1QqS
p03g9LOjz70aQbjnCrV7lii6x3isvvbYx0+D1O19gjHxDIPf3ko4U3sZuP1DLJ2Ipo2EIxPMbF7V
xyk1aECB+77ObgAWIHOhEBNXLT8sBPphJU37NaEI2A81FBpGtNFm0Y59bZLY2PNLTNa8kdxWY9Ie
OyYkV/CU40n7EF4QAu7LOeYmXLdyc2+kt/V22dWcnYgdG1uFRLU5ZFePYkfyIOlsQvYvojHhP6SV
s129Qs95OQpEdX60Y0vWAto0zWPdOQtfWsOwnMCrggXzXVyo7GUYIXyNY6P3CJYJqwSDtGkrO901
FWRxZ2n196bI/B3z4fLRBaAO2F0awx2b7vacxg6gDGmTojTeuQne39K4+E0i95zjcq9N794D1Dxv
TKq0cEF1YhfE4gB6EjuG/sFBOWjNuw67k5vM8IKhYpQREbxdVuw62RERtcIPANTAnIEjNhZtenS0
Syx63za3mh3XBzP+/lB2fRUucYyZtzSMr+yKpp2vy/lWCOz9AfbL1arf7t2hU7uaC239J/k9bvsA
MWodvy9cyUC4LT3fIZ+kj0wq65EkVOthoAq4N2tjCZtaT9tx4e7HtL/ywVoiAIblUMd9/5jnQh7y
3F0e8c5mSKANIo4dCUxMLumDmtPyHqBevHPsVHDbZ+QWN4SQiaSJt21p2qH2+vpIYnr9lpcOl/fK
lighHe/KoPjpjDBfWQIUL9E6wPbmFgFCxp8+JI08wl9AJ5RM7qkSK5sPdP7OIbaJmPYCT2phBMGu
jU0/nAg63+LySI9tD7JGxTOxQZ6oTBpvZNr7ATS8xxEB2gTrtNwa9eQ5m7KYi2NGYOV5Rkq0GZBw
3qed4TzpaSRUubtN9UKclq7EnV+58yHLS711tbTuYj+BupkHO4aPUPaKME/GKYxNgFjactJvM6Gx
P6ktKVByVnFWsESrH8K8XzwHrwOn/tEZcnluta7vSghKp4VYgj3xePK+468dNrD4cI+7zqdd++lZ
Zr049uMwfGvdvHniZIaR7lXt7zZZehAJsigMYogwYZ0OhEoKinF18l10ejz8oDy8YZgPYmkK3HBx
Vsybrl4rwoQCUHSBX99KbY7sTlsyuAaAGxi2jWyfxdoJE5D5cGaiOGH403o9cYqmQxc3aBg5ljNK
PFHRm+Ma0b0LVWUJEQRVNrKAnJ9zkOKe/1JY/iqwoDnc2GbXvnUN0diKjL97YvwIlRMSaJ+TzHvO
tPnQsWQ6j3ORfMH1oxnZgHnYkMPC3GNyArUH1FiiPbEIQWB1CYsD9lfk7pw6+DErqdizQZ/bjUNf
nv28Ex9uGmAwXNUZzGywJJf0zZg/vGmhyQzqn2ml5hrHCuoIr/OZk+il/yisYDjWsronRuu9mcbu
WK6y38CSYkOQJMkPNXO8YjPLoOf9X9wvuadkgCw/rj7cAqRMkAErDMzRw7ed+sgsivKU2NGYb6ky
J/yJTZQ/WMmorUMRje50kqhhgmtdRJb6IZlgDU8WjcgzfisHHXlt1J8dr8JnFNnlW5Unxh3bORxg
UcUFDYWETyuCZXytUTcYXFKR+xZr/cEm0LjMvpiii+nOyDHluABT7VMzNFMHTpVcn/+4bp0nZkCF
v81KlBpTOsufYEnEE1dh55+wpOfZY991FUtIK30e2oaSwBomuXWsxhY3XQTNz7jowB8nqSffYRQ7
yPL8+dTXxADPqZYXOWv/R1B4rOsim6BQA172NcpcFCJIVZtnOxHyrpz4riqVewdtsYzCC9TIJ0Ug
1hca3ubJ5bR+noumOTIIo9vvYlsQaZcg8oFvN92xwHOOrkhjHBrULqSeeiioRu8NFWXu30NN9rKz
Vk/kCfmXzIYu5roK1K+qoholltmY71XQpl9GkQ02CgxyYBgfx72zS6tB/C7NpCnvswXQ2K5PSVza
MPkEdGAZLQtrO6BJKR12C4hnH0lnGD/ytrZekUo4zxX5vSvOTextZ6ruo9yIX0sZJCeqGlVvpOaP
oNYaM3wWrd7mUzoeGoxKF+THfkiVZjwK3G8HCw9PWI5L9cNLJ5x32jDm0EaL+9pOFrIZhdBWM4wg
43NWBdPqZZltZ7MkusB5V1TTMbPGYTvG8SnqKsaUnjFuYTIn77FddHeeA7/PSBKLuCXCitjs2+Gi
uT+LrAHeOPknwHbL/dDnEEoaEuoJBCkMajH/QBw18Q4l+pKuC1VU9RP7ZmIRUJ+Ng33EMrOM567K
wMqZDWMD28qSF8oG+eISQTFhA+N+PwSZZz2ohrBKSEQ8CksluzBrnfaJ37UX2Zwe2mEa5xAEGQ2p
6V3GuJt3STXHBXkwbfdRR3LZRJmYT1Zm93uSZGKuIyfYl40wNpXl5Qf0p/G9XpAu9C7PqJu0/lXS
0bFBYJgOQrV2fyD9mdryQ5rDJ+7eTeaos+19tHpEd08sNzDzyei+Ul9WSHpEPW3LadbvhK43D4yb
MwhUUa62uSv9G5nnEiLJH/iZTgUHTK8gplSQ06oKLI5xLA8C3DSZ5RLNTZVy2PpisDYWqprdFJnW
/NBNoKDPVbWIOxkU+iERiUGkkZNnl1QF6kXDdif9xDQPQnc5ghiRPegkYb+d1dX8Q9tF7oUx2Od3
vw8iVI0CLlmQAWsHduOsjnfLqbDGFb497aaS3jzaCM32pNJ4m0+AiNKQgKiRBFWmJkcxje5pQQa4
l03L0sQbzBvkisamvlVvU5U4ZOTFZDdmCCWiY4BgKz9mfkY0lO0PhMwz5+BLHkOpLeOoHW19xSrr
PLij3VFXd7P5zGmTCB5ccNPbBMv0tu2jXaEjfVZxcEVpyK5J5bApi/oAizK+joK5vz3kxucyRn13
0LI3zoRkfDYYs+8btDIQwRc7/zGUXnyvOBW5/XvIrO3k0j0Mc0T4OhKPOy9nUNcZ2nyrzTR44IJr
wHGP7iUIjH6P7xruy4QqMpuq6KcAKYVOxvHu8WvZFNAeooBq9CxO0dp4M+TCGTJPUTSFQV2aB1UX
3c7LRfOEAIQVwNTbzq2NzCBMg2X6JEMqepw5xQ82OLBN0QvKMqvEI5t3P1q3LkIZAzn3hFVzc8Zg
hxACsfcZb+gywOGMzsXhJ7TLZuXttGTKVtueC8JfW5u8brJdkUYeGpY8ebOGlgwzJB8dAPMDrE8A
Yx3NDQPWWF2kaj0OEjsfjkQ5UbjFiX0yXTE/uhOcbjcvL3mVv0q7YAfo3/faZ+UD9TtsJnjtoNTG
k5GSJt5mXVh5f6yl+uUeHXsBObAd7iuqr01PFXBNFpUcUYGPZ8/6qkit6/ue+DFmYwg/5qNjuAm9
FHTbOYEMa3EhxeCvZnZvaUwiXQooNLLRtCUnyO7nNSukRdanFhjDsRdbl3Id/7DMG1W41AJKnqUN
Ssbiuz82McHHenypeZmw+MQVanQ0GWusCXNBrR5j8qNOURu7F78fcCpYhX/WZq2RTDIRZUWXHiLe
9suAl6LcOFVrUYISIMpjKEJv5tEwJmIoK3KyolzKAwIOyK89EMhxayG5MT3NMw3plE31lqojPaOA
ysLWzqZLawtzO8M4o8+qquFkeYW1z4gJ2oA+ajHlqdbFfDwdXTDPDbucE9Isn3wsFlWxzPJTtBSc
f1rzo47qygjZCBm7isH1JYmb4MMUtXsgcMhCNUTJHjRxfq6nBdGcYcV3uSHcnRgDfVx0Zv/OQsJ5
X1EvT1TA2amPUv2myqg6OWVtPLE9FU9qaRRnpfBXFXRLJlqfJXdMXsHoUrR9syyLFtqqHQBXffWd
mbvYGG5/JRDo0hURpCETXN3E3efM0JyUCIfUeGmywbjYsyaodgw6tLq5d5rsIbgb5Rg8+yz0tyXU
5LCyKGC1Vzq7Dh/7Fm3r1USIE1okAEqQswkaha1nFk+ZnhR1Qtl+WhLMSGE4UejS4p86xz5OaoE3
7+ARXmFotz7ouzOB8U+iSkLhM/u03fZWMXE2p7tBmbvFgU/Zyy8qGe/L0bSODOqf/SDbE5L2hHsD
ZqC1XkuS0bDFro7S8L2Ng48CgTg0tM+WwQYMTYW5wy+Tp2waimPQM2jmmimvrhptnuO2OrEOufgi
Kc7kvS8X2aI+8oSfHwtFdsWs8MZkSX6MzDI9jX0eHxw9PDPqTVmDljAnchq8RcNe5OEgUhwdFkSF
pFDfHAjeVwV5agkJ2JLbbOCMtMlmSKrMYSaem4c4KKJ9RUzWZcqx2xtB3B0Di05/Q7apd8U7FK1W
2u3S+frU5gpeoXeyhuQCdPC4OEWzq61UvNa1119N1lavYMtB+rUojliNzlyMqijw5xCgDF0Ns4bY
L+xs3gx4cyxoaFEWic+lWJggJ5Wpn2uveFDQFjP82qGv5S6xszPAzR/lJNo7wriMAg2AWe444M9m
7UN4s0DjUeufMhzGYeMwO7dVO98ttqW3+ALMbw5fH+EJg+rhjk3uBzL55qTBUwDkLcWehb+1Zde0
pg7UO91g4JSacBIHYbKyiHqThvkERQOcjD0F82Nh4l4gtVK2+x6uBJC6stqMuBJPpvIUYjF2x6Nh
xDHaWeT7pQvuppbj1Zsj/6qd6i5O4WcvbAscdOLd4p2D4Hli2psmzsOckrDUp1/BIPyYWXc7DP8r
CnG7IRtFyLg5dlZb7bk2jXAUObsv2zCxLRbjbVDaoss20iM311FZ4oheYDu6RMwCQ97Qhx990rTL
GPk7t+0Ptso3IAvBAZXqURjWRfh62VBrIVHWXwZ7jNtwchx1argOnlvLnFl9J18Gx16AzBpvTooC
GaFN/2kI2Nb8902pKFs8GoiT09CNUaIYz2AW7yqH+NtsWtNza3ltWJBtMmF/cICTDWo24s1xCmtr
JOR5+LP1hhQt2GbSb8MFnjE1dNjWChR7/2Mw1xxCrmZIc6ioFUBlGJ3yJ3TzkyQSu0BkkIzFSyNT
ykt25Sly2k3DBQ5eFJlZ4RyQF36Qz4KscMbilZLOBdHdzftnmuxun7uopiNoy4HVI8zPKfXIV3xg
i/aKWHAOvcnRWwv9N8s/JkYopIht69L91KRsJlM7Z5RnuTdok93Wz+EKqzaLtqTk7OzO3Mm2qtpQ
WPrsqisLzEsN4ZDXsXweMvAbujxHQRcQrDzc5BIQitgNQwBiF+573FTTB6uSc7Z0pAjScGyKejrK
Jp8OfZ3a5S5nW3BK+27YG0paJ9TE9lF1ln5oFuihscKvxxv6Scv/4rBGHB/sekMs9HePOdfLmNL+
WZS++CjifldO+gpMmIZaYo81J88/unYOq3Yc7mOCWdAXV/UbGSbLUWXzAEjQ8J0dO4hsU/a6RQs5
11cbU+KOtiHaa2+Rz0sypmyNUcxWizsxyyRb4UTeCoHXhHySQD1dDdhCm2DMJn5QZnyoUTDuPNtD
DNnUTvqqCbu98Zzt7GG+zjLqruS6LRBITaZepyWz/R2/t/voOtc4sTBPd5WD2JDPBJC3RKBCg/EZ
TeozLL3kAD4QnmZQqzeDvEnWeO3D4JBDmJH9tVMNBFYD+O4u5p6nTsYMnSWuSxVeP8Ge0BjmNITu
FVhpGk15Wmr0O804fhEVnIqZU/wk09i9IzZXbWOdGIyIc1U3G8Y3VMvj5PiYnmtwacyFyBMXGb8u
chhCJWXChKoR3z1GXZtOzfZDKbPpMesIdUOuwjw8ML2RSeq0V9D93tUi1LXzq/JcOnKqd12agSAi
fQKeW0T06mFUifq9zcb+0CtH7CsqTQoqRdYMan/iUE2kQ/A3bYNzYc4tjAge0lwt50spMuMtsgE4
ZjWtx64zLOslEMKa2TsqheCJUPvr1FGSeVFtHfVomZcJLTZPZ1lge5lm6d3QCaaXKO6aI78Fo5Od
QsuOHPstDXJxsnrZ/OySmtIxcrvrSCTkoTQc89EmxxWAJuDYJmmzQwP42g8t2Vi7OB24eXWNPcqE
7dlS/BGrbLebjCnFNWiF/TwUCOfz2bZfOPjLezgcyUHHDVhls22ag50VToPXsbAJLEfRHNL811x9
3hLObqMZszUDk7AKkvanLzkvNqkY1att+XdDgPndm8cST2SFhnpyf0RoMb/ig6uSLXlP0fcoT4sX
ypAvWSBY/qn20R66FztQeqvXgRdy+GO/zPVeUTtfSPLhcRUMvoh00kcWxOVnLVLv6NduFtbIhXe6
6nmKGA9u41ktD+agp5A9AlmVs+czNltRi5HpMqADFrkpKmJJAHDeQJAPYFQm79An/auek4Jvfvue
Wg3EHQwDBwUa4baAR3yCXN387sa+kbBA9cYDRi0cV4OLLrkWNDZx9JIkQXDC2Ue5Qw6v9AccSFnG
gTdliI29nynlPwa2ot8qRlCcBBO6RT34wQtxgFwm3aKm7dBbJTLo6GHwlgeJtv0x8fwptHROIHJv
fytham9aQbLtVFAbg+R2Ll02G59axjHe0uD3oLf8o6wTGGMCGuXMaprDA8IVK6I8O03ato7curTG
9pkte/ma5Za42RaPX+kZ8XmYfONIYzeS2IATOMXaP7GY2ntNf7Uo1Du/1wdnYSq5g6XSnVRXGjc9
T8GKz31JasnHqYL1SstePDEkG3w7Y4SPvt3JkXxbzr2xNOYVIOOy8SORnS0/pilG/8FkiMBOglmf
LBuMQ9SSNeCNI1yBKHiep969AKl+NnmJNqYY8QB6wW7q85cqz25zj+Q9kfBvJjtLrc2iIO2FYljM
oyzbfm9T4XAWMhp1d32gOZNHT1WXoMK4yBSgdXmYR1hxluRAtoK2fp0DQ34HDM3UskoCJKDtwo9X
dHApOIZmv64IwlhUva85Fu/6pIse2mVZzqSO+nd+0OfrZv1VxPJRdlmwH9zgU2bWBZjk1WfafXAF
ool2dh4D6qJLmgwhqv5tWrRvmD4+yEBh0NrVYKUqEhfUY9TpZLuwYHluxUrqNKr8yTGr9kKmGtmP
sUzehJ3Jo2pHSpqpq7Y9KOCY+Mdtk9TuzvNr41D0wSYeHid2TXfxmGTnjHftEw0K0vrcqym7e0LM
NoPgDYhLcbUGm71Y4xbmzq/7c6xdH5IaKQ2S83TjiiUlj4aV4JBSLSCfn7lOijzCKYFMmJGjLA9O
UwT8GP3CfjOxVa4FUC1O/kQyg8WsgfdnsKsrfyheCH9+7X1GVLlh7yvON/J21sAWQ0/Gt0VRmP0v
9s6sN3Ik7c5/xfC12SAZEVwufOHcU0umlKm1bghJVcV934L89X5Y7Rl39zfjwRgwYAPGAN0XPaWS
UlziPe85z+F9OD7G4zxQnF6kEXzOznxTcYO3MMjF3cyl/KKLjEAIGnu0SfuoPfNcaCGT9zL75mh/
+IrcjrkO0cCn5AC9Vc14qTC9ot7K/kWBWjwP9HBDN6c+AYBgMkanYMYctJpJtmQoCTTgZZbTHiOQ
+TyuGnN4H01XPfeRRTl95qJTFSGgDpRMCaiJ1Vt2DpVnFAtK1IfOEeZAT1wvltUaG3n83Gdjc2Qd
xTGu6O14x0QtDyQd4nnllBWuTdfOh7WPn+UtcYsvaOAkIqfui7HcGFY4ZhP4gvZXxoGPhRvZXlBQ
CZJI25ve7WB3MU+Kkv9t+qpo7yenjDhSmuoNYCz3Ev/ZbO8NzDWfIoNAu27toNxV/aC+JxzId/NA
M4m3EJ7ZsuoTZcLQeAZ2wo0zwviLM/WIVYcnWuSGXCi1y2+vJxd4MKDhs3/CbJRAa1yULsLCrRh+
8On0u6LT9tqF0HAwdXOBVM8aEgMcuEYJDzUJkuy+Mxx9RVmLdnWZr+d58M01NpC8w6HlAGmd5mQI
N64DD49svfosy7oboC+YVKMZWf5sdxRE2aiyB5cGl3OGw61du4GHL5Qk8lrgkukHaa1NEbq8+HS8
Y6O4pyaapqPZ+yiIW+28OoA9O8h6Oxt+fyzt0j6bQ/Th40LBxsyZdtWPw7usOjJrEjhDKueHPhqy
jU0p4Ko3KbINsE6tnS6f8be9VfEmbc16JezyxEaQDpW+tp5DKr2HKQU0HXvzSzFE5kYDGd72ST9u
NOFkwOzNjSgUU4cLaYIpMNq1wggufWXyrO+dbxTSRdM2WSjzpg/YO/EQvzQS2EWmQQomvVASDy5R
gChKgkf6FuNdR9P1e0DpeDYjOqR+IM9F0+QvRcy7o4QIv8ILGUP19sV+UE6WrxuaxOMVWxRnXie0
NwFlC6DTDWmSPEUUK15cm4XP1s7jEH+ubca39DFyJAgBvNF2wjtZpe46mIW+6im1DrHqh73UPgNa
uWzV4uMkqd7hYnG3y5vaZfDYuric1hWGgFVlQULUfdWsdE/hgewoRGcxa22SeBwA31VPTGacUnDh
76H3i3u6aIddPmUxPmP7G/u34JaDSHKXcZpc5zUDzRTnzq2iL4I8ExgLWsuH+yyJ1KsLlzkPzXGX
kJE/tF3nHtKqam4rOoB2BAfMSzTaw54lAzJnV43EkTm11PuuGINrNGjnhFzJj5KwFHTrQt6ymrYe
+FQBfjhyqu6tAHIF2zUckuXs2tgoKm++K2bt/pymIs/2bF+YAdm66Zux8YkVy5mrBy31KZxlfxZ9
9WCEINVR8+5r3TlHmbkQBEFalLdhESLG1aaa+T80lFYmFd2E/lzihVxCnKPDSoU4af8dRIix64ws
OAgynSF5s8reWxwUaFjThyyfuo90wMZD14oxkvtWRfzC7/fbZNfJXiMi8Opir05xi8XYpgOaHds3
UyYR3TFxSt2FFalmJZHpEHfY35kbKQlWrmbRO1RvOawUG2sgFaidtVcX/Xs3iekhmXg/VrWbrLqI
waAR5a1bqJbMraN42bAz5/xP+WF86WqvRi5OWkJuIU9o6qoe2DXs4pHrN1fTs5Wp9Pts5PFTC9H5
Oxs4/0711k0MVx0aQBPYqEX22BQ8Cy2Q5Bo/vMFC9lxadbNSRUH6P7GMjZmK6tvoJx1IjmBIYefF
DlIwZ4YvNFAmD7sW59A2xRZjUAIsssjPLP71sYwKH9KzluZtmMfc2knHgslQ9bbojPeg0c03P+K8
sXbKwbxFfeZtMyQq+QoQKxkT5OjsBU20NP4omrfKvn5FGHqPo/lz1H7Ga9xpngV81WNcqzkFZtDE
bxbzJyhak7VOb5rTYWw4pzNrtExTYNRSj5llExIc3aapLh69KZ/XAajwc0dd5tausvEwF+lAYE94
3Q7UVil3BbWycziukmBkEu2M9ZSJ9a8BJ0WWgATeAMbmBIFf0ULFCFt98AzbZ5VhwNjG2PhYSnO4
cw02rx3PowsmD2M9o/Rj9NT6IaN2/mB3XfiG/Vk812mX4nXAtcK2B0OzAa583/aLPm6kjXUCjrhg
jJvcY+GFBXhs0k0ZK8xEbsibIC4mhPYhTskMQj7oDMu+M3s6A7rCXro/ZseuoNa6ycapnWLrue3P
hBrCTVcGdU+TNnYGbNvzlt7EJxdtfx2blr93eJpu2e/md0ZmP6ihmHetgxvVVrN7mpoaGFWs9eeQ
iRp+vTd6j5LlN9kYhTPUjK38wpLWv9qG1A8ssJ1P24uKW2PCPS0Lc7hJGpeUJAHvfi3KyLvKiS3j
JLq3Fh0a4l7fzPfUzlAV2sfNnlcpfpd46s+9nV8AI6d3mjPXIfFbsZGj91LnTbRpkzrmKOnp5LnG
r/MwknXWK7OXyYuuZ3YEhjdjboqHCrzwfN9wQayLNBjEKp/cI7COfZSP0Y3KY+TIwPNuEqVOVZBS
CyRy71CUU0GFRTSswSrm3BF6vAFIND8CTULfbFxalQJvMt8CkM/33BLi1XDExWuCZx/+5EPUhDQK
BkxxaQPSLR9VtMl18hixJ4xxQx2k53L/+P50OyUVyisAzVNaDs26aNKj4Dj7WLgxugFD1J0P1wHI
Piav+8r1ywO635fXVk/SnG7DkIWRZ6ibos5Z2phQtA9JoM03esncXUtoaK+kzJ+t3uXB1bGTPhZ0
rFqlQystSWsi8goyhmXXL1nKB+W1AQ7f3KYhsGFRbbJ8aJdHOqGr2hmzXViHycE2YmwdVO4seZVq
N6Y0FPH6mmw4EyF72YjWwkce00O2rOT1ljdHuWMnad729vCjaiy0njaE/hNjYl9lrCJPPLfUGv/X
dIOfQLKdDvUTjYb65BXBePB7b75gscy2cxwgSflWcak5XFzGbrK3YZRX71M2QOmPej3c6twk+k8e
46ejRfAytHTVRDNDKYp0UKfc+XN9Zr3kvxZxNm2quEQ1iEqD6JqdblWhomMCRfyYRy6JrNiJT/QE
IJTPZI/W/ii6B7SB6Cujt4p8QFVIwBWpxu5gObc0Ecg3iqQ1z7OZVjhLq9t+nsAuTqnO8G3F7BMg
5nzVgS9vOKiEX4iEnCGSRYoSdfIYM4TnDAK9uvG6t0UKejUDXFn0Gpvd+xw49gvqRvyOP20+o22I
LWXexnZu/ORHZEjrgsuZzUFQZk9BEsCZtRPGexqvabSu3OuSs9xHfa3WcM2iC/SBOVxXsqcqPErS
n6Ulhiv1EQOLmSk4136tFN4JGrVpQJVbIwmCGxAzYle3vGsYngvzASDN+I7M4tyzsqLrqvT6lEue
Nkg2BvQ19QzgRjml17Q0PpO2ASLW8P7ss+AmCjXYK6Gac1hr60MVA7Jiyj2zKsoOBLMbk/iqKE/q
6tk+tvQir5Bnhss8sy6GsYCRPSvcajc3CBlV4lPl4NvWT3g4wS0OnaqgbaFvmGuDPnpwOBwABdDB
TV5yH44N5Q6k8iaajFzUArZR9oUOxeCS+H65DTECPMFNuPJ25cyjmKV5/YpDk7suu7QovW3TTD87
RFEPU1exeKLjnJ01x1rqg/r01QfnghhtBNHbIF00Nz9bQvU1+vaMr4ZHVGykO5f47G1rO/NHQVh/
71HNvW67XNAbqdjjweEihJ5PV9Sw7qCUu7j7Fu29Mvv2J+YakLuQLa5zTQ04RE8wt/ZEwM+O/Rvy
Ag6aBpsYbtV61cl8RD5pyauxVzWsFba8hWfEBjvXJyrf6IOzOpxxJD97HyYRbjLOnGEMhILVzbWl
MZGJuVUHU9Y2U5VnjYqhcqLjzCBjOlGb+5xGfAZgf8UuzpzyWA5jcGqSvoEs1qY3kcX3H8LZRMt3
pcdHbv3ggWPcD9T3kDzKDMzxKst4Bv0XvGJJktjZtIuGUdFO55U/CAsFWw3h5D3rqNAG+pfGz4Rh
g4PCffUwFEHyLfVBOlBaZeJEKjDDpnTP80RKisf/I3b5/7eIiuZiR/+Dq/s/BN3+W9MX/7wmmmfH
71/gd0+87/4Gm9j2TU9Q/UiADSjX75543/qNhxzAS/V35/v/sMTb/m9UeeKaVDaOZ/zVgKkJmXXR
f/3PtkMOneZpny/nOoJz+L/jise5+mczOjcrTnTlcDa3yXm7f8Xr0/RTTbEdsemMY95qPZuWs9uq
vtuIoF+OxLrPkkNOm1C/cqsmIu/k0SK5KV3cE4Ynky3ExuYIIwKzG9FtKsEGHfPPlhXROwcHH5nG
01OzNfImvMH9hG9JNba5bUYm9FNJeC0+GAxO75ifomJTWjE9C3MBJ4HIGN6Irc1P8NKOodxZnTsC
WGULQc4b6Zt59rOapxRAdy0xCRgUSGWbwiZOtZ5Hf3z0cfwvu8GGA6+tzck+1Dpp9k2Oz3tlDIjr
D6wZh2AlqyqnI1LhEyh4GD12mI0D0qUDyWsrgdqyro0ato6A7vozis1y3tYheiBDjyEvRRTIbGG9
hG8sDu1+73nB9MUStXuosL9sWp0Xyyq4outGNHL4iJJWH0kpgDTPIbu8S8NpD00gvXw9lqb5qEcH
pFpuO0fLQr6nPkSSEksKQGjCGoOnzrGnN06/HhWVs82TwjbL+GB7Lu5ZrOCps5Jg4NS2wg51b+fW
eA9N0LgVeKb29YJzOmEJ6K2r3ZSCc72c6nAn/Ur4r0NX1Mepjlpwmj58bbA5oV3vJ22hTa5wDjbx
sW5bZZ695XNJmdMF+PskIz9BhHBiBumWWHbgVNUbIeh0S4Jp+bCiI9f3ckivxi1fRt4KX+JDT718
OlskFTlHUTlhnUPXC4el0I+KrTGpN1ZQsEDqTX1BYP9JWynhhJSS2BFB61gapNCNKsDaWFs2YPOW
dogpmE++60YkugiSTbOEopVaE2qFwtHEYW6UG+H37pVU2xFcgFWtXSJ+UIJ66PtJcG0Tj8hzNrza
eDvWqVPcsT2q4I6o71aeH6mrPY46LPZGZuZ7/Mb2WpNA34q5K+5DWxQ3DpfNJUeePzp6yUkIyUdX
194+lzmm27K66Z36jpQBMUUPUsEcePcUyrf3iAgw44acBoCIoZxTYPRdYn/be7LIX+NOFadBpOrQ
D8jvoV8ShfajHuGuxf/lVfQOZ315cRtZnpoCU65ECN3OvouOpyMwJWGmr2nH4D11GIunHsWydt3m
pnKiJfINJJtlr0GPWPJZWom41nSG7tAchjUg/GDnBJncygJHkwVNZTUQooitrr8nXTfjyo5MKKaY
GJ6yqHoYqmY/aHMmRQvcf90kUXcOoqxdq3nqWAjH2DFyqhSVvR/qZh1Ow0WaFnOfa3D2qn70PW78
EayTwkBMEqcjtYm779xhcHtjZ9PTHwpgjwGueJMWXgi2sTRtcP0zWa1UHnzPIKdBFfMfjHk2f1DV
xpVeLqVwbs/k6HDE9w0YV6n+6RbdbZ9H2NRHg998hRRv5Dhn8LgsNecU/DKiA8kWmbEScefu6Lxh
ERsZ9Nm1eYYiRk5ndF20zknNbwbf946aiHkbZbLek+0f7z2qwRadc7ymqrw6RA9ucJ+4nHCyYYdK
4W49qelpEwztTUugFVsnSgkyCruqtAcHmJP+iayAzPtgDD1yjC1IqeLxogauRjE2A3t6iRPynZMI
EML9tNo6bCG2fqTUV1c3P6uavALhwfpGO4HYReQUsH1JcvzpkD+g6DmrsGvtG2TV9LPEdr4z2YXy
w4/QImRnhptsoDuMK2GhjBkm3VpT7b2Ovh1+r9JhjP8FFQTAyl/fTso0HSnIBJu2BOH3l0w2zgGq
yiMTu6bdsvSkWyd3Nl1cTucWfOQzbB3JM64EeT+Kes5XnNmLp6I2pm1DzfF3Tnx+cjeVo2Vt007N
B8N2cLg0y29/XXoWr6kRR3u1Ji6BwAr/ESJvARb8qHrgfmctl5Rkmc7jS+uI9DK5JtWigEWcQd3i
pfbuZw65D5FH3FoiQrYrokeiA4HUtZ+GsA2H4KPzmrYT8ZIinQSLb4NZwmROHUkxOOO9H6TtcRzd
aU9jZXELnUPvsiiz0dEGfVDa9W/gPAD8stl0UWsactsH3YufGBWNUuxxmt5n0i8HxjJsuzacY5Xs
XM17q2MIWZVyhsA2Amo8eE5joPIzOQ/ZHhcHWrv2QJA05qTyO1diboScxW6/H4wfnutON21ry2MW
lpy/G2kaFyCN2HfLDg/M1IqHVkThtR4nXGOg2uO4UqDFZ6AfQ2KV5xziI7EKwzsr0mOvhVGJzSA8
yhVZPu9QgjD1mVO3rYjC70ToXSMMaetWfSuS6Xbwu4+ys/Z9hL0CG4k8VcnnMDQX37C8O/qUrbUy
ZsAcSdJeIjMFJgLsLOO8wbLFJBVdjtI4FGYff1i1srd5BhmidwmWGcWFkSk+RVR7YioQDnbY6ODK
QB15rWDR7JzsBWcAi1h6d+vjjArPyrlqhy1raWPl55iokwlwvWlXn0B4aFOEk7dCByoOFtfmuWa8
ucah+nJLqS9lxJ0niLqc2o7l4M7wopYySQA0bB57S4YA5Qjbfc8mWb3hri77lZfCQ9j7ckCNwXJh
81BWSr/ipgUASKNM9THBD4Hpl8v5qoIlEDVVLsVIjh/W75YIoxOLPXHCs+p8jgmRgbQaemZkJYzP
IUoBCuQUAK8Lq1N7MvA0qkYurro8ca5CGN0XGyNoxbafX236GiM4jCls6swb1rBJ1b2ro+a+L3sY
bTRdh99U7oUXU3Y4PxKeN3U98p7v0eYcCa/TcQzvqU6lRTOwoOrA5aHE60SH1mGE3XkTj7Vh89u0
AIO1mZFexgJPydrzsL9sTXiX5jrNGLzXtGKO7ZaHXUVfgAYdF/LEqlaaevd6je0zPEFP8fk47YTX
vjvPW6sw6stUJvkrrxb5A5xDf+Do1dG7I+jAENiH8fgmNhOw1xeHavJnnn5eTJsvemfx4qgkvU+n
VJxKmQ+XkJn4jcYR6ynOpbGrmyC84OvkyCPMprjybaRP1jzz261jXk0zO6sbxxuH26iWqsRv2bp3
UYpDatm3qIUx0W7txn6fqoI+ZNciJ21OacJcF7tvUzD+HKqerLplDQNWs2JnTzGvLqIcNDGnk/7W
iImxPtA9Rv+28PKP1oyGq0Xx91ugcdjwGx2CCqSrTYI6dof5AEtQfJuhEGx4KRnvThcnl9gK/I+q
rfWTJXVxlzj432gis7FccQpXB5mYrGNQs5BfLIhou1jMzhfLQaokjZ6uZKFnLPaqT3veq3j9xzUw
gukbeHHjNEIQJJgWJAIaZBGkt4ZM6nsJOQB9wB6+m3kzx9xzrfdqFWYD08C3DXELKzVk0rDN8M3u
R+rjIbPG+boymsZZdbws3j0WWlc1eikqTwBOHU0OCBOr000rg8Jfo6iTEhkHv73hodf2GxMeBr7l
oCYthtnf/ta5AAMOqPDR58QyJ1hjpRjuqwRYcW0HeUOtmtvOtx5nbNOq0vB20jxedmLs3O9h1Fl3
QewAVExwNexdDIIvHWXw1dbqrBbYgjaeC/ojHjqn8D5LbXXXwWKEItJiLMMTOhgXQchNSKFTzC0P
z5sOP4jod/NQWccYbw/zj85Hahm6kLIp2g3Dh0754G7M2DhPhIFZQJksYzBWZsZP1saoZ21OJSlB
TVOdZj9meUGv83BPVTM9t5EQn6HRwmPlkq9/TF2YHi08X+m6jOvwrdAI2DQCudBcmTd+2vHSbpSH
Wb3FnUn5cB27mm72IaXNNEnrFytP5pHOKp1vQYEgvC5L2K1PoDnidNBiSqUFtrttm8Q/o0X5Fz6f
4jR2cG1XQPve83q0th4bu2LTcHipyBfUVJbS3E4xCO50eCsGGUwrHPWxkQYCHk7ycYNIjaE8cUuu
x6QieiRlFZ/72A4PtSHglIwyRKEqYtVif8ApjD8nhZKGEwAuEbYRn+Amgj0FJe4zzvDpkzmGkBMV
cXjdanBZZHGCuDk1k56sddz5+mFqxje4MVdCe/VTPtC8t+11UZ578inlA8180WGYbfUB18vlP01Z
d8JHrI81Ium20nb71tei/anJduYbYyy9a2nqHLBuEr5MY8abKB0IpeQNDpz1DLqSRZ9VpDsOwsZ9
CLCeyGdlELgDO4oDXNDlOzj2zQShu7lJ48xM9n5vDIzajTee6LRtzjiMBtKx9XzBF6pXypXt0XUG
7921TH1tOG7pjaWN4Mio5IQ7S4vsWHDexOELAXQz91yda9ueSvdcWxkZdRPhYz17w7Q361F8DLh/
jn1tlieTyhCsti5bGdnI0WeerDiBRWSXEGxrQz8YzZhT0KfGL1eE3fewoi541Sde3qBeDcuJlefE
B+MsdBdGeLotlcPmvDBsBAg1uhyLkuklHHE1rfiIYVb4fpUwS1M0027yIV0ME9zY0zocZrExXMzO
ydx3T8D3E2sjA11yNMtEEe4pYJxW1FzU9x6rmn1WO2LVe71+I5YYpOfcyDFJ+c3y3Kxik5gIz3Nx
W3e6yx8qNFkMUkzC8V7XcuJ84WLoofO9gqkd2eVWECjiYs58bD51F37NzWLl8jyc9V6tZ1BbeZiy
Cmm8BodXxoJTgPqfbsZsMOD/Av+JtmBxp2+Vz7HNxCH7rJGff6h09I6m4RevSqXRi18MPbtE2xz3
o2lYRO5kt3cc3R8nvGRkDYr+Z2qNExOxkJTUYHvL9LrG0E6/S9BiEFAGVqWy3vjpxBxHcnKT2y5j
PlY7SCihq76kG7b9yvEr9TRDt90WSMCrkHp7l8713ZRl7ENbf74OejJPGerMxjZSPMpBq6d1zKL0
0gI1+AKrY7Mka+prZuqJd3aLWbcvO4N5sRPxZUaUIpUeZa/SN4ZTlkr9VFZucWR0XEhsRmmeY3f0
Nn5RBfdtZqqbgRv+aeo4+jdGNh1ClyTXFNOXxNKvOCu7UU9c9pyEE3ljxa04aivo3lgdytscosyt
O1OYHSnRU7ERAVnoRLG303rVuurKmbx5HF0NZycM5V3Ui/KQOrHzbvKb+wwE4DdmIAjBwFs3wWyl
d1VfxA+tS2bR9yVOmJz81WijM7SBHf70ZPQcaCMjw1ltidHSLOIi0JfMmdsJyf+uq7p3f4C2V6ct
YUG4NUT/6nTjEaVc+bP3ihvKvy/A8R9VG39ZrhssagWUqiapVp1QnAfs/saOgvjghF12G3iJvelA
QqxDS2ffSAkV97PEZOELRgTeDu0BmFJ36JLE3RgdCB1+nhbOLXGS0qfZk5fnH8TRf4C8+Ct6w0Ok
98RC1aJUlVCMs0x5f0BvGDx+6b8o3SMJEZtj53JK80QZnkg+y3GtuIRwmUMMwzYmMIhOvXscc5hz
/+obWZob/oje4DtxsaKrRVvlX8L7C3qj6YNa5+jvxwmqXjK03Wfki3F+rAbpt2fPg2X0kBJpENts
zsfLQO69wfWZwJOfBu7vSA4vdGKxNRsmkOa0PvroZyJSef3hsCmWGwK+6rXu7OzB9wM+eUdkbx6E
DWSJRZCjG9z6JJFRFKyeovoV+cPY6a4TV3sYja8mCjh49174zEqkh3hVh/FbFws6OI1B3vtmjCjg
Dear14RcKHGkH/Hj0tGIEutjzTbpQo0osxRTiXFuEOF5xCK27rymu7CunW4NrcV9nxGCRbDNdkJn
b7YozccO57A7Wh5mWkRLd5Evq19K5oABBanUSO1oi+SqLtUv2ZM8BxKoq2zzZ/VLGLVl7X53QZw/
aMVOcg5n69URJo1iNeBD5K/lwK4hAtmbMPTiQ9yzN/IjwXWa/TrdW79O+mT3OfXTg8sEQDHk9KUK
8LxMqd45+TUnWF0pDoHmjda1tW/vxa9xAjXJ+Yjp38SHBPzeCOznUE39sdINlQgBH3w6T6SzEn/x
XS4zC/X1CxV/mWTyZaZxlunGW+acIAKltQVIlV8TKF8r4sVMRMts5C1TEozSeNNgw97bdYNGuSii
a54mxmf2a8jSy7yVLJOXv8xg9jKNTQbydo3dmmqDtGdcq/zInq+OatN3hbv+Q7kzPaHF1An9Co+Z
D0mVmTp1M/PlfpSsvfkjdfXWBJVTfCc00tOmofrwZyd6UCH/6/vV/mtLj4fc4rKVsJXNfsLy7L/C
WFm4DiLidYLrwrqvDNyt5RjXm7YhGlPkpnesvYZFGp5oVlFNefZYP93hnATUYjijvnG6sEZNm41w
gwJQVEuKerww9eCflOikb00+VMMqjEV9lTBNqGZIJBpgPG4dV59xm54BwbUYFUZruLMoJSK/KnTw
BS1S7Jy4coi+1Omj7ZNDrLWT3EAeulYiOlP9/uBn2roLgxAimcD3a4ZX7nFxMvP5nsHMXzsGdhWe
eCZrevQ6vHhN7TmHCJvNsOocDqi8O8zDULnZA+ZU80GU1iC3pVThk+Vifw3hZm2hYUCBLsXS1snY
1p54uNQPXtPqXctJptsotGXQs1L4w1bpLL3BIZ3jL7caGmJzpyq+w0qplwMzNo9MdQ+2P7QvGHGC
TSlgyuLEzSgQBL+/sjI3eI/YKrxrNeGaG/OSGs8ujUDgw73lrStddhYQArDrhofCU9xy0hkdfr7G
IZuRJ8P3PPB9Xl+9GeyZhAsKkVt/SjaR3ZBAcfvBPzhmEzwCe4s+c0sG+84N421A5P2iUUZQCmIA
rrEabrLEG9e4AK0T0uLMVcmhk9oLfZv6kfHNL8iU8eW6tWV4xSWNE89G563qZ5NE8roLQYANY4dm
xiYn2jl9zyttVgOwnLp7x6EWP1Gnar/USV4QAZzNiBKHmkeTHpNHeEJwWIjy3yqeUqR73G5bsmvY
jmHkPriRlTwXJj6xBam7GMD4ZG5iYcqMIcYBWpLO5t5xI5P72k8EeIry6vtjtRsyBArn15tojlr5
6BhNeD/OejFHNmaP7UkUnfeAfQbqaLUskaxf+ySr05QJBL/2TOaycmpQdTH6VMsmKmgztlJ+TEXA
1insT+vX1spnf2X/2mS1IKJ2pM7cl+zXpquwDUOtyhh8zirm6Y19xkmr9xB1Lz4I6Vjhic4qC145
77Hvsh810CANDY+DANu2hE1zTwJP808mA4G3F3MAGcY52Y6sj4+1XQNtH2rJcN1jGuxXnZ+kySHx
HGyXEwKG2jSxVd4KkoDxof6l6epF3k2V9QaYT3mrLnwC6vgWN8sNYidshtz4pg7mmRSC7+4qq+yX
77rdKfaktzpiRdQapTpU6dQCD/07guwfHCz+wqfmMWVxsOAhJU1HWEIuu80/nCtMlPkUSdQ9+qE6
hf6Z0MldNfxvrLj/adfVn0DpT/+QuP5/bR2W5PDz90/7P+y4Nz+yKP4Ty/X3tkD+0O97bRecK/2+
eM88sI7Lv/+213adhYe+7JXJHwneHmy8/7bY9iC9Aj5bdtsWvzX7f9LebO83aS64t+V3afEV/63F
tv+Xa0Oang2NXUpOm5It+19PenGhKtLnbC7jhsZk6jvq7qkfwvEtGrrhLPT41BuNceE2QecCHlDd
wggLV6qysFQoJs130ujDB8a/+Bikfr8tMkfhVvfRuGTHRjGL1aN2WEvy5ZHf0BAewjjPfiQOmivM
KiwqMNvqBPubU8rygVqa4KkmsbJkM9tX9MecXKKTgs+ZcBQGafowlWTOy2zAakemXAtnfBGJY8Iz
A58ZRj7ib9qV17L037TB+5IFcEn+FISWYyCP4DjGQG3b8aZtsVL3U30FUxsxiGMwE1Xn045ipJse
ze4qETC3LegkmsyJl3I+VIc4SLE5m/74ak/smtivZj997EMEeMPo03NyHtg4VD77wmufwMnk0D4C
h6pqh/JOOQBKp/xJ46lBU7K+EeBGkJaq35q159+NuAeZkeYez3/LOP2NE1VcMTsrBKxaDuY7IBNM
zkGFCuqFBH5JVKt71eGYRcxNvRfPyFqUVIvXn/CQxVezX/bj7yun/89/fJoq2g8+vucx3TgtZ9Kv
7o93twCfzC30z58HTx95nP2n08f3/h/8sd+fCB59n0pQqcupy/O9P9MfbcukWYETP9YV4fJX/Y3+
KH6TPqR7GhJ8zCwet/3frC7eb+RrbP6U5C2uBA+Gf8fqspQV/LHMgO0h7aT8Q/G32eZfu/GaWni9
o51mG4cV9R/5wEhVf+MgEa4bJF9qr28kRJ8D4LnoX+0xF4/Pn/5yzzRdwJg2nwkWHH7QP7+puCnM
hD1jtrUyYz4EnROuDXIdmNJJ9XQ9QNk5S+y7mDjYnuhHfNeVlvkFGS7c+pUmwhh1ssWcDRzjNLBH
QPLFU1k0KEoNs89N3YBUj5vWx0Pcepu+mejQBRsUThygqk3QVO4jORuV3le5F+NidZ4EBKFlq88X
dOeyWjFqWGfsB9nC6G0J7Od4ZWP4AaWiiSlzeIDgSmvFyZWz8WSZNScGtP35kbZ1+872WuPJJeO8
JkTmn0cRkm9yhbwPU7PYx4YxPSdxLckRBVSxJrDKoszp9/Zkqlsiohh043jBfUgYTboxDBoQoNuk
/529M9uRG8m27K8U+p0JzgPQt4F2p88eHvMgvRChUIjzaCSNxq/vRWV1lRSpm8IF+qWB+1KoqkyJ
7k7S7Ng5e6+9tyHwnD3wDgLHdDqAYGmdmn4cuNpmh7U72sUp7cBOi1za2InyP5OEmlnr3GzMO3Dk
kPhFGWBI6zV+NYHjQ42EL/Vxp+1l3iblbWnF43sZKf1TZQs6ThwKKrXWkb00a7DI8gWyVJIjpZbl
fWWJ56HVHLIKSEQIgFn5GEACurT7OOvwWnfgU7JW++wOegCm14YnVgwTbM5BDCa2tGxIT25mTQDc
ygnXVdPO3Kw8J+RpKncFkO+d6ceIFbPWr88VW9whKaYSlGIiH2Krps0bMVdLuwF5uvBRvA7cbmHk
+mtRsVO4VQN/P0DLuMtBBJWkuZ2DPI23eYNE2yIFuiZEHqevXHISNOEzsRTZJuDNcTidD8aZI1jS
rIm88pBsyAgjpFZw+1FMbYOhsQ/Ic0Dso/7fjrY5h24/iGdyNfxnL891picNz3TsnHyjtVZiec4x
2hZrsi7sK6ZVwcPoEgsOjbEPpWD8ZekMUh0I6s4KICYSZcXe4plzwUDV6fJ7Pxa4vTApOQbZdIEm
8P/VrYG8TKTyc+YPlrFtSCYmSHfQqxYT1gjrBGWDQ3b4PCNTt6QJRrtM0Tz5lWd9qeyov1tQIsnK
y/pipzAo3ksr8t7n2OzuPSmCxx4VBBqZZNA+Z6k5ndOhtB+s3NWJX6yn1rvYSR6AVJlG7HfR6ERy
a6AO38Gvp9sqdTA+qylvY+hyeSy/NGpixAN0xjxnndEZn31fqN3sOWpNgUX1Hsxu9kVgzb2RwJjD
Nh6KB5GaDhL89iCYZACAld/mXmtWJdX9Nkds/y2uveZrOolsr2InvWrxRR7mjnIDNs6M2Km1xgtN
RDDVTtrwUjODeoR/EbxlkRUdtNqdQ80ptHUlpEzWsSidPZ0aFFepIcTVbNCKVlbVPVsRE6BikMaF
lo/zGs1jtR1knX4zabJtMJxVd6DrmGjIwHgt49m9MYZ5oI0CDFRNvniMsqTeFaPQz/0Uly9J5rRP
0FisR4+E+kMimBg0jepBRuRjLtfDkEuk8aLAx0nbmkDNKDW6twLeQ3xKrC5GM5cVvv1o0m6QSFD6
6KWbo12UqeQbs0DX29tKByyPQame96bUZrQQaaY4JwKcVokFvtaZFzTg0E06lEtA5IwEUb8IQws6
fDyAbHjSJuAeUaJYkLwAe4+WshrT5oe+loAwQmTRSKLZQb6DWfdaL6CXq8rjbCmDxEM7RzqES8Y/
RK1vfHY0J7jB4zEeWt2LnoWFPynMNHp+AAplqnHMHnltxlSLXkGCFDgDCbA6xcqRT0PGSOQQmURl
hW2Wz7dGm6GjMizc2lGcTq9VNjUXpo9Id5LSJ0lFI8xRAuMNVcwPU40Fkio6q+9tpMaDmGtaeZ5J
7hghLpW/UqPiVOjSV3jh4Z+XwLFxitdS5fgD86iHwTs4rcJ2JkeXgSWndLGmiCTh2JaN8WlqRpQd
fZIbWzRUlb1yB87xWiUFBuW8sZ9BwesvbRoz6KUv/5YOTOMsew4ITZ27rV7E4lpObvAV8i3TpHYK
Mqz4Pc4gA9M8yZNzVDOZmEZnzb+WMoxp55oTtmc9gHpwEwZ+vPQoXXr061nHB0C7lZPpk4BNw6eW
9czA8wxVWC5yOgXzYLNeULanBRBlBcI/wm+D+5pkh2nr57RtdqVbo8I2l32HE2j9xNYTIbSiZ46Q
fBqbR2I4ZzxdeMC5ZTRkMtxUNlr4MzIgNjwUHRSzrdcfx3qEN1ok6CqY9eLSaSMxrB2b16Ehm2Ft
5Mq5Qb2QJBtYktZ1No7uxUB4tI5BNJ+JuJSspnNygkgpd0mOPQiXsZtVkBOgGq9QbSZ3GsctThyM
TBDvjVJfXnQs/nPf4QzRA/9rplDfrgeVBrgSUYd/65TuX89zbtVM3ydtK/SYSiio++SltEc7JK+2
v2Wgs7OIRbtJpBHczbmMn5CMIK4xCQ2IaIuUcFHBJSFOdNBQBd1ZJHFyLTzBa0sn2X4s6nYEj5bm
vDNptygaY6wGYGT0mVADi/mX7XRX/pyclQ3OpRvZkIdW7Gy9BsDhmcnDOGXyMs4Nfzix2/xi1ppx
U6SFdbHxmhC1Bv3njg66vlJI1EiYQY4Ef2nxJN4NGsQEkh0M5h6kFOo0VChg32xMeiEKW5B5MV5C
km1XdtZwPf4gMOSo9I59LevdnLvmusRDurUbSxLBgw33RiY1MRauMKwyzE2b8CXaTzWKBd9/YZej
5VbzUFEHUQh9K8dkvijRTMXBTzVGsZj5mTdaqU0SxsgHOphJiYHSBNO3SsXQvQ9q9vud7af92+An
ndqWpOSSyNE1zd5j4nfOgfaaq9YvkDplpaccllYHLVVggF09VKmLYAqzLNVa/j0pAm3vSQBSGEhD
somS8HDejBjBSZhAj2Q+y1YvEPj4qOeWUgV5hbsEU+i+b6eE3JNXgYPdu7W7SD4ZMyXlusV7d4x9
ZJII3ai+Nt2SfYGSXEygj0fepxLu+E0rmvmS6x0CsyU7I1tSNHTTzLBzkqwxfQ/ZQNBE4Ebug3A5
RMzfCe0qXT7JyALeoHTDub6CW969B9/DO5ixoyaxsO3fO9b3eA8xYRUhDpnYD6jt3XlAD4tGiNSf
c7IkhNDCJMsjzgyG4dwXQkQIH4AEZLg2i1iKqUKcu++hI+BB0Xl1sUYYSVGOaJbtWMP9ExOmUYVZ
vISXNGrmB8q+h5rgGu2draPIOhm/x54MkRfrm2w0zfEYuO3ob40lK8Wvi+A4jF7hU/boExXwIkE0
lE06SISfj2qN8JVmluYzbUn3mZc6G4+G3VmncglsmVl0cpZ0YlxUE40V7JGc1imoyVYiEMFwEPpp
0FGyNlNzmitokbjp0ymMtJn0K0+njGJyUyH6Mjk5jNted5FWcE9ImkkIM3kucI09ATQf0/P8PZXG
6WV8KODwbjHQae+6kUXH/HuKjc6uclCTZCmufWJuLLkk3qRL+A13m3RHYyYJay6t/uAsMTk0QM0T
wXFYxpyoP6N1IU/H+Z6tw1ffKD7EsJ6QiV2a0SFFzEtiRJQZ5dEQMvBw0LqYLXC1H06uv+gbfhxI
2pwyAx0K/9LAolVlL82jHxqHlTn0Q5Ha/SYy9OJQ9/GXKq3uW6N5sRbNGw6sTeQR9kWR+Vlk4/xn
S5FmYPxe/+L6i2r1x6PocnlX15ccP0O3GYz+fPk8EuALpNZvugiIBYSI6syPX5z+/lt+P9F+vMzS
gLMMnesQy/DzZZSYR1PiKN+Mcc+ZcByIOPc0S4NrlaDjIGKsKc2VGVTJ14rtyQxN2RbMGsYC6v+k
nINCR3B2m7Knh+8RVstPRkdHNy+abNSLaXJQSHMXT9jAvtjfWLpbR/+dx/Fe9WmvftePoU/C/frP
+zH3aZ6n5U+9mD//yD97Mf4fy6HNtB2X6TvRFzzif7qOfNoqS4qk/hfTkf+HgUOE9gzQBsf5nlsh
6j9NRx6tmMDEwuQtPdqls/O//udPj7v48L//UQ3lTZ1WvfiP/7EEff3w/HMIsi0+FURzKhTeAmfp
lvzw+kGrIB2qMs29DSPsOC8oq7hOr2w0YEdvwveAfGMJGhD1Bnb79JjKHJWsQUXV6n0SGpigV6U5
+m8ZNpUw6hvvriJICTdI01+VqFN/s14s485/v0h//bwf9AsOLu4+BdK3D1Ls88pGO9bAAwBKHYV6
owMbaAOdgHsGaz/c0ps/L/HjL2XZv/upPiwVjWuXnNxpW6Qxmvt56rNLnrf+dm6negNJtA7nAFMC
M0XYf6ZzPRE1tXLboAwDGBvrrHG6vZorhkoaEqw6aKH2dMm1GZjDwWz49Vxrui6sKL6KerCzkEsQ
xHaVvhdzeteM2aYr0sec7RW0bavRVW6Yk7/k5JfMpDrK9qZOynqX9OVwP1p6fM6F568og9NN0Zjl
sQz0+spBoX7VVbP8lAyyB8ba1GeIDOYGNkG77Zp+o1dvCjjKoUCgpfVLsnaQQDGACfVoy3o6eCMg
7cJiC42mOGXGObxlXSB6rDTmAHvFwc1bAfifa+BSGUFXyP8dElJMUE1udD0oedtmTXcQMpSF9mKL
Kjj1RVYeVRY8i5nscgcYZ6ds8LSJyyl9jq+oIVOc3OR4+hwqSJdMgTU0xWr0vde+HOeQ2qFi9WT0
PCILN0d1PemJsxXgDTbMWC2o41Z/JIpiwpcUmSGAtEsNImU7MTrr4voBSfoxmlUUxl0TjuS4mFq8
rrP26IK9WcWIJ7YZcqiwobLapqhld3Xm2xtT4t+BzY29WOk1EwYC2+CLsuN2rv4ZgmW8cWPGqyvH
6BUZx+mtHALryFsDsXA4EbOMWcE3qQGT6WEatfEWNUUfTiUlaOMOJM7JZq8n9PiqSW7SLkbQh90A
SmZNSMQQW5vRsopzkEDTzTNjI3w3Ovh0n3Z9mkQHxFnklQEbJJgECXKWMjahc5SG42TND9rUHlsA
9VpNEsKYlAesA1bIKKrYpD1P84SQYssBrEaUF5ACnQ8KHnqiow3t0x2JZl9sr3roaUt2iCJ3eKpW
AcYzXWezJpAeVCG/pSNtZ4WnZe9auMjylnDJygMNVJg+k3To2zIgHWMk297hbq5KRt2u80ROADYl
S1GnOU0R4qTKFhqiv4awFqJIISzN80HyFfIOqbJ+0mIsBYgdIPlAx1jVTe+dVN3k95kFVUR53m6S
NnZv0AK5P2nrUiFwz4fs4voTAnR89SApBswimT6FSjN3mux2yIG0DXqPu8EkwZLG2Cl2oJGW/l3q
Q7lr1fTQT9B3mnTd98llpGbZ184cSrDLE+KBor3+bq729OEuATzzaEJ+3jJZ2eCFeM1JbQO33YGC
oDdQVg9C6zYAXrc0Qt90o9r0M1aawiNgtTVFsiZH74LGHhsVmdZp1kLpwibXGdfgDo9ZVJlXpYt4
H+Ki8rZx5AKFRQ8hvhimAXeorfT7SaitMAvzTuOAuYV1gL8mGKe30SS7Vq86iPgmKRivSZHyv/la
h2kWDrcqsGFID8zao7Ypti5iZTJJFmd3a1X7rkmrg5lzxG0GyBJdmTu3fsRBtBjz+SrDtrgnjiA5
WqyLCwH9kfafuWb1kyely+GhC5C9zb2Nmwsm+U4mSLaLwkshSFXeQrGb9EPQDt1dS8jojRxAvaY0
TleRzPgXM9jJyEwTjCydfnbb6LpBwtmZltoA6nhQVdZTLvfsD7n9xHku2dB+z9eFgs3dUYhvNLPp
LmZLm1f3AZr1dpHDq2HuRXOHjA2qTtqsIG8IwtF3WpwCBNXxqAa1cF7KSjt60cx6xwCwnP1sX0k/
C3FVzPtOejNZDfU3YJR7nSpk57jA/VFs53sRpJ8srcO+l0a3XgomyUgipGcEAqE9ppOEl8g4lE1W
XUiOv/vNPmb+dQf1XYN9H1GRpQfeB0ERXDmZVWI29rzB2K0gzmtrC/ELmZIeKsTO00JSlvP7nnPr
Pkcif4mWtythZnEC3N+ewNJgchL1i5tm3W0uKc7zpGPli42quiCfWui/GFmysYgZZPbV3pwmsemg
ToSi0o9di3HNa4gKJoaYYY+o14itb/kc2gbV5Ovff9/l/PChYPjp6y67+g8FTmYXhVkjmdhrDiQF
0U3WWtHYDksfIeDfX+pnReP32sR3PR13KP9h+4Sg/nQpQ6Ju6wk9RFDncdoFgKMc+7PlAw/vnObl
7y/2YY7116t9OFJoKXOzqc7MvZOON/PgWM9WmQyQQuKvRko+dOvmPZy0Ijn6vTnve22yIFPT3PfR
pl4FGVwW7mQoeDSRuU3bTAz9cYh44VFTlWEKhjbMHVKMkz5zQsTn1Y2Olm6F8npao+rib8MuwRxH
I0aJjbpdtmyMy785Ov3q/nFII1zaMjyK3g8yUQNAvwFVztjXQX1bQxLbY3VYDWni/OZCH06if/6g
P17pQymc9xM8OhO/whgPWG2i4N2YBbp9sjFA9bhfXJMG7eSgTcLBF4WNJ+vw7+/pcss+PKtU/Ibr
0GYghO+jiCYvIbjgHDD2buvEmJ0jHRCxmVO6udpNOmoLCq8t8t88tr/64j9d9kNNbUKI6vRawhO0
HZaBbkH/GuzMXZQzyNS1Y6WmS6SJ7qZYqhxPMtj4+y/+y4/ATQ5cn1RiDuMfFqVCNybRlKmxt1K6
rYItEcsIkE83Wkc90sCica8dX6fetNzPrPrtn2fbn85FP1b3v3h1ATz8+/ofVokB/H9N/ri974vh
M/qtiWT0yDqWrctLrMXnv/+6y0nh4312EUAvQYvMwJ0P3xbVqtb1ta/vHUtkZ0PmSBPBjmz+/iq/
eHP4Pf99lQ/fSVi6NRZObUPKmYwVIz7iKBY4K3LH39y+X11p+So6mgFOq39Z+JpgqObZ1fdzJOVK
+gbC2eDAe/ubb/TLx+THC31Y8zh/DD08G5u3s/HeU9lfZwSQ4LfxoxWELus+j3ustLQcE1BBFMpm
0zdXf/+z/uLITJ/IA9Hh6/gIOLv/vMyjSZatl5IFRbRBs59lNz40po1PLJ2sfWNNj3UTLMzt2EM4
SC48vIV27bUFqMdSe8WUhA2p1tgdqC6qE1yNZ7ezyOtKzaesI5767z/ud1/2zw8bhkpyO5H9L5/Y
+fAYaMaYR+Xc8dHi4VQpiN+4O9NdPRc66tv5agrcadMMOmoLhr6xXJRAFuUIADTKd6cqNmPJ1oGb
+0CZGm2y2gjLhjMNMG6YB1P7rWnoUeKjpoSDHWR4Y7tKS4/jmfJdfIIpvmLmXCFMopYg33cTyBsu
o7Zc6+5on4UQf5Y4/y0c+k2jynTxSP/wdPxFSHgzVNnrlx8bVf/8I/+UEbp/BJA+LNpKrMP0g1gl
/2xUeRZaQWQ/Pl0iz3aZnfxLNGSZfyzMHI9CchEe/qgiDGDqoDXiD2L1cEnw/K90qv6UCf77Qabb
BRvHMS36ITY6U8f+sGrGcYz7pzKr3TCMEFqMfHhdRiwgbazoBhyEOMkW3H6h2fUJmgyH7rKKD93k
Zyey2o314Dgo13gDvgadXq1b29MIUNAxS0HtP2l5lWxm4C+oeJzoSN5gvIqn+dUd7BvqnNAaMMC5
U3nStMLm1Mph1atJ6oIaerFIDOUYArSztr9GNljB0SmPuQBVSjSWASwAGM+2bQZvrfD/btLMMx4L
J9V8HBlJcbRmu7pClDtfV+TwvAFq5dWkvvyy4ID2XE9eE7msbU1bg5tFIyp+MnX6/p0GTtAmzDvs
YBfg/R4IDJ+5KqzmmCZUWjRfR3aBgw0z8dkuBZqdagk8dckmaavytknz+jVXCbEOhioPsvOnaygB
/o50LHijpGQZ0ypn1b1B+jLtCXaoTnUshztVCoe5WoX0hvLQfFT04eJumu7TDJCQSGwJeGysd1rp
3Zh2NT72gR6/t0XavaQwXwgx0QlV0v3gJvXbRWZUY8lygZuNWWkeAugZGcsIQWSpcW/lrXPA3TCc
eryg5zHxqycJUnCXImRbTSJOsbHQLmjb7FW2DTgBIBASarNhBLAHvPGeMU558ZrkPbIjLHlpDkl4
cFsOMCpaL7yjN4bb31Sm/Dn0gukZ7zBhO85xGODvpY1h3I6LbTD1s/wm82TwYjMkOxuqgZxTdtZh
GObiq53raEfzBd4sgNteMIRql2pu0DrpTB/eGmdod40flwcsdgpNfCePpW5HF1lU7d4rbKByhm8c
cCWbV63y3qPuZJgvGGZRnRKlfC+0sgZUIkQ4R5UHDjMbGKDHKgbXozXVvOImlETv1vklSGaBR2BW
j8h3jOuqYMoU23X7DGpQXQoV0OjSR/2sAC6FMQDLteWNMhwAhndM+s3gqkStXtNnagT9p8gKB3Bv
q0Jzvw3S9i+LTG6Dgj3Yun1L5EmNv7anBELk4j3CFFzMjA7C3NSD2qY67yHAM7WF2le8ugl2Q1ek
FsMnV4sATcfGhn1PrNpZqe0M2nE9qaFea4ooMneo9Q1M3gF/imppcdRqb7aDtysyvTyUs3eN0HZX
WthaPISoVxGSM+irBFX17spTU7ObIRg1yGXJQQE2p5AHmPUXJ1E75vopHR1aO2x++W2DnAGBleh2
OSJc28jtrYs7ZEcGSHVC1OR/ylNC+OBkVCMQxlbeIfD6ZLvllwqZhjOLs6i8t2ys3Js5yn38+J29
JRwoYvFZ/kZ8phY5eLJYN/Mdcow736DHURZdH7ZoQe7jgFw4YsTIQ8VHQo+t/IrY4dKlM5LiHnSx
MbjaHW284TmppbnSGWjuoEvp1wSJoAxUlcHxPO6PNZ2izUAj/r0nkWjr1q511Q0WLxMa/k3E9Oje
8mB+gbgxWTyCaS3GsUVaWM9bnmMorVgjqlU2N9NzDIr0YHlZsilyIbYmHtvjxJB/7eUjGXh1pg5L
Uw0YgRAuapYYy9YQzTd+PDtb+rUkni7kb6wmYPYQBi7Id8KuZsYHhpb0uzxoCTGLvJpx7kAq3UCN
v2iYvzSZwWCV8Cl17jvdgOvZT8clSfOZrOJ5PdZ5c0aUMx6RqJA7Ukif7mpQfaEP3J9ksuB9gly/
4yWnL5GClFkVcqELTqa0Ht209kz47lhjcpga4yqyE/8iYhY+fHy+tc3GrABA7MZfSQx9tGRLzhTZ
kFpBwcMPsS/smk5JXjkv+KJvByEvKuWbR9k6GVOIEqNyYBUhDHnp4hLEdeFjksclu63pGqMALQK1
ykzH2VgIhVYiGHj/e+WsRWqkwK0d6MoeuX+QdFdJHGDrj0YsMt55yEilgvfO2ZBCK5txUnOUuq/Q
CJ0cBOw2KGW7vycUgvTxQX7NwdnuZQ2SFUnTVVKltxyfbGI8AdswdezWKTSXLfqKeWcNUYPShxUc
R/+8niKr3QyIj96DuL9NRu8xc1GtI5yziBzJGTk2GcsGLKYyc/ajGwGJnO0I/YoeCrLF0a4LNBx6
pD6n6MrvdBcpPX871MRxj7zqE0kw66lIH9AwX8wyJkJKIGfCerMR0IxQt0ZEyk2CoDdNz44TcoGD
l7ntOuKbP9OLtT4JUE50qqBOsEvsqz5q7uNC63aqpYlBoMcIrqFMquZlmr341NK2vMZ12ZxqeGbv
ZUDDkSd32QYVqKi8rLbCIfbJm0WAWxo+VTkNG4CqLyBiL1FWnkDVzhejjK/IX8Y4yZuyjjDIowQm
H0AP0Q9E4WToR61tcR1b4mxhvi4nc1yZECpQtVg7cjR2HYYL5jfwZQmdKFEIzv0B/95qmnwii2zi
B/m33g2hAmdL0iq/YiHQQlqxbM+N/w4TTH5LyfK6QNuCrxA55skhiKLawXzqCUivZf8KOLB7z2bd
D5tJ52SRJ0j0lQuIOPQYoT+Uld8/5HpgaWGwBLmuZZG2t2rU+1AxpbrSFNpOpy87B+6H0glzdLMQ
MdW0Ey3yFmkqHA4mGIrZL5hmy478EXRE9xoJdYeSwIpy58aKdqqViCX+kE269a99zRkQTfraE+yU
ed3UlCix3rzDE5keGg4Ma02AuCZHgt3bssrgFgTb0+SNNzUYtk1VJZc+7fCo+YvZengx+u6xm8H2
WVVu3RpEQ2+roFJbtj1c2iCF0g0IPO8lc0BY15QVtO8ZU9o77M57YuBOoF32kuTrUMoF3TXbJfm0
qLAwYtDiLRDj1plTY1ps6esPN0rT73I9eWNDe+LQ91U49q6dJGCgOG63MRi2tZsxOnLUbLDvUoVB
uyV6yyNLbFZXDbH160iUAO+UTVPVSbaFQ/R1KCdy0hjhDNDsiZPyGlgcK01kDXgN3Xpg+fXPahaM
HPpRszeU8BUoQqpOO0EGmqcYiQU925EGTjsL/ZYqTt2j7pi3yM+cGxybVMLZVzumgC0nezgN3Oh1
WwxXYOTrowZpeCUWpDcSJEhKjRXAPAbSbVh48y2SStd1p71mym32qi2KsyS5jAWidTe9VzOJEe4U
1nPinIWMkINpdnv0kUftm1rGuNGyU8kh8dOQTd4TMXZ+iPMcwh1RenLl9b1/12Fmuw4iw9jJrH71
C9jNDvkwuAhLEkw999BqqVqMKi+t2722RKaHqdnbGClR+fZ5diTDVnt20tJ/qUqpbdI2AfgCE4BG
RwyQT6XDGoas9g5ho9xQUbq3UqmY/PJKdxaGlDi6bV7s+7bdc7Rw92BlXH7UMj5HsdbgwGaTimvG
UH01PDdJ356d1O8+IXklD8tp6Qp2jF5YeJhDmBK7nRG1Hc8OmS+EikZrGQfa1vUAY82O7ewa4nQf
K5W0t3pskiCYtNGdxWD5QmBXc6AGk3cEmlTP2MrF2iqlTQyro+5MrdRBrffF1xrb/K6FjP8taJqI
0VZjgzmigm68zD6bhj0XK7gT5WtqpsnZGWdsO4b0TXJmVXoPobsgnstt0yehF2wZRSNCc4jiC34D
IhmtUr8YnlpUKjFzk0SIJeuTcYGHVbuyZ4OEbeZlkiH2V7sdgouGF/FJGQaj7x7Jncsw4VMg2vgu
RxuLFHkyj9L3W7Y8Ix356U2aApwEABoTLyXEsrlWya3IbKjJTkLBJsTTAMVzD7dGEt41MieTbXWx
RS9OS/rhZo6id8TOHVynhhS8qlCUbqC1t/ns+p+MCb0WEWDWnZxdQYCR0Z5ikbnUn64DGtlxPnNk
JW6kjIP3pmccvES+HZC719cuE57LaCTp3rF7CnK7ao81dhh2DTvYMnn00S+mN7kmq82An2KD3ouY
A81wgAgE2cWcu+tST8wVWA+xGr2+PPozcVSIFIJD7xnW2QGh/40v2m4i8Nen3EvQHBYA8VeyUN8g
kb31xEyufB2NaCP9ODTI3oYHaaSoSclxAv8anaIkvjBJonI0gisTdlLo+s5I39RJn1MtUxjeik81
eYqk2GbeVQMHrnTmbFvppVqTxStPyyEfJ0b13spm5/gMN+s+UJuoY5rTqDZ7ShLgTytvMuIw4Z0D
Nwil0W2hwg5DZ5xtSjAGk2b1CESFJALCM59i3XGBHOv3mYqjrR1tfRntjLzNyZ0dbzPphl7M0BI6
GC5tfavFhroACG23PdaXlaWm68wWX3g8JwBAZXYZakb7jupEiMzY48zt2rtuNizE6HrVrB2LB7WI
UEN0mYtrOwGrpF9i1s8NPXt9qQ3Sbd0yVRobzdxwzov2flYWTCHT7nZsSCzREzjbI0LrDaQ+kP6O
yI7GCKW7HUv/epgVGbaz165JgrsaPUQVXEuPjzB18aUXJkt7Ar/JDI06EgTpBuazSTrlRKg6lA/Y
e4QYIyNAWwzWGmIkcag+sMEhHuW5ZCnMUaVP4z1x2tWnkphhHBJQJd+6qJrhXSbL3BFQAbp4fcxu
y87A/G07ZV+CYBr9ld8nOmYlbvylJrr+kvWZ8ZkdsLvgE+GYi2AQTCcKldWcGojIEdS/DITYP5nG
gPuHWAW+TsosjKy8SR0A/Rs7F4POjtmcewezND8StTUcnMULaZG0tAN12r25CK310E2G9BPux/5t
KokXEU3Dy4hces9PE5yi1sBvwYfcY9uBjuPaRDvUghgts7NfOEvLpxHA433fSvtCeCayFaMC34Pp
/drint6apcmHQX77FJvyvcGQteEkBJlNB0urDP7bMEEPsC2LiGPXwWEvKs24Zrc1Nmimc44cSblS
SjtrmY6StbDjrUdhgTS3ZZpQLApSMyUmYjXjPb/oTeDde8WkofuGikKTpLzSiVoyu9lf67HDijXG
QF3UmB+DzkJC2dcPiD9fu0ZeIV4nnFGmX/Pczg5eC8Vi7Ky1rqa2WQGREBx+fN5hBlyK9D71uW4Z
HKdZktx+b+b9v+57/n9EAPdAb+v0Ik3657T+mFjTbP/PhXjh69fu9R+v1VfMkfFr94/96/hepP/4
3/wf4Wv5Wn3/R2E6/NgB/eUl/tkPtf4w2crA59qOo3t8jH/1Q/U/fM9gcuNZvPVo+uhF/l9btf6H
Zy/GQv4BH5tl9F8mSlP/g7kwomGDr7P8lf816Z7189iFD+77GO116jDXNh3v49CM0kpmsTvbm0g+
Dqq+Ch6MbbxNLLIVV9QeHDpTZ6uLO+uR/CPEvXP2KFoiuMrnCJFRygnLH+21npefg2hkhs8RGlI/
TVEfXDBRNhSrh8T/oiY7JJUV50n6PMjPlIYbDWbPSp/vLVIPOQ1cW0m3tbRj439bZsO4HR9G8xJ/
TapiRcgdgONVJTk3DevI/VZW7jrvTKILV5RiByfrSZfQjctYViFOGaQlCssH2YYwtFhKsy18LN3N
um1mIDyph+IyJSxzLBaV/KIH1aPo9VuCwJMwxRC3cixFBKkHorJ664tr16dvNYw5yVcZJwWSdeCw
kQqIV8G8MbKMM+N8sCysLwDJNZuuLUfVtVtyeoNsx7J2jROADM2YbDd2koVAUhg0B5osW2kWCQCg
/tZVa3/SCTbjNhGVyWEW9zoBPltb5FuFeKbrCUqGIk7vAFNof9O71gV68FvuuTdTzWelHnVWjWE+
Tal6rLV5a5ZATWycCajMCEZwvXLljvytcZLegIkfVi3DI6Rj6aXl3JxNv5txGcvM98dm+/LeIWOg
JWR4Nt37D832fNTFlNZasJnm8rFDDgbeWNzg+9knhDjAGmrRJrnHPiePr7l2MDk6hk2D1h9CRcd5
VQqy6KIoIIW22OeavsW1swVViNgrsm6ssd5Ok3O/OE5WYGPD1sJLVJ2wae66pjoZChOfv6nUQn6b
b5Gj730iZzsjuPTcQpox32yUMU7+SeNnXkK+0q7cxhmAbCMBEkJPTYLQwl3qB15oTvXSfdo3s37T
Od12tOwbpQdn+uhXtBpXAX7PMukfMkIzeCR3/4e9M9mNHEmz9avcB2g2OJO2uQuf5S6FXK5ZG0Ij
jTNppHF6+v5YlXU7M1FdVQ305gK9SCADCkke7iTN7PznfGcWR9d68z1El1kfG3/mmIUiZlSI78Fi
aRVclYSVdjU2/bC8Yba3p4mPU1b4UeDzy3PzEA8A9zROq3Wm52vMoluIMe+crndVCQuHH0hnFF0/
zNCOPC7YN8S/0vLBVhjC2Pq21vBQjm/s3MdTjfdinTIZeG0iR68Mmb8YqbOVNStkuoRXfGj8vjg0
jvoyR15jD8Y9nuCkhBFnJcFZ+dQMy9xgfvvd0/X818vh91Nz+4+D7L8+Oh3S3EwWbXx97p/msTMK
fqYGhoKIzt/ENZ5JJuwjUpWNkuu5V0crWIxb2a9Z97dxq3CnjL+SBI5/1rLta4LrzBPpJm3rKzWL
W2lDeEm6SxuKEtsJYrvsf2qv/CdXN7uAP13dWJ4Drm8e4CwwTKj+ZCppOX/UPVEKEiBkmaB3H6OM
FwwYFoIMyZPcow1QhvuO5yKboYPBpmtF1BVi7m6sAcTJfMnszlTRNANSRhBwzcb2trKTA9x/nPx+
jibY0/bc7+mkPCepvodu/zg7C3HQ/kJ3vi/cRR4Nu00lga1GCQUyyu+q7RiGPBp7+8fUEt2764xr
ToHgWDFkYYQYLrLvzwP1t7Uf0YTllzeSc/XO98VbA08Po2b/4Fv5LRkjjDJe/YMdFyHCqR/oE/uB
85Wvw8T/8Y38vkWiLOgYVXDtgcT8sCfeS7aKouQVxM2Val02mGLdSe9pKKw9XiaBafljkBRmQSCq
imHbWqg4NEb3kgQCbGkYgwMUZ0CP28LrbkwDJF/H6lGb9iYNxcEApkkvkn5OVffYmDbPcfdlzppH
4pNUbJW4eXFizkZ3cFJcTDEuiaa8p0/lYBJkLzs628z6PmdmpW1n49vc7/iTAK+dqeO7qurhzIRi
Y+fhfWEhvmko5STAt8ICkB+jSktzx0d/Dd9+OwDz9sfkOR85BQQaPYNTxXRjVtcdwPh28nadyAGX
JujbL+l8H/mk2ZNwI/WJ3u6rtIyeFW/hfgLORKGmtWOmtg8zWPMDIoZyup9MyjXUtrNmzNio9LUp
4BuINsUTZzN/nx23WaV+0D0TH7urYocSnqYBjIqNAjTROaGhrsldgnP2TxIWV5Ehnl3UrMiovsLY
IDpGuriC91VyG65EX527JjvYiO9pVd9jJ7pkcXpy0euYGflMWIg5o2Lz/d1GVHoHKmVDMTZFqtkL
VW8HhyFfoSXEppIUZ9QhfsvyJW69a87UTzkU85Xnv3hz8zASG2eOqa+aKPiZbedEoRFdg4zVVrkV
w+f1A+QA6mpVTAWT587XGVpM48Mib9heBMp8d9s5x0GtLpUzvZP/51inuxfQoBJ0uV+tEzGdlds9
9nN47JneMUVNtkZ2hbf+CUAhXGtrXNsyfbBaH5VWn0xK4YpxFiujzDdWjp9pGDejaZ4LP0aoiZ4K
1NpQMSp0xcXX0Fyz17mZV/RDrUUkf5FXv3PQ6yeudjetf+YEbzDv2DiK+3Fynu0G20Q3XymruUTQ
u7PwR8zm24h9lgPsztLkuV2cSwVoutjzLjjICOiuMPy6xi8V/qoteoBuS31J++SsjKXarUYuucAv
XHVp+FiQ1MzYdVQU/pZkE/t63Njpd5ZMe4yl26x9CcQDzW2037nAhH9EQgDDftXxPb2wez9UgInv
qHaBMo2EpG0uFwMH7mW08XTI+dqE9xBMBLBZoxLfvVLBznOLbZYALUuh2vm3FLkJSrPJvr50Olz5
E/d1Zr8wpi3GYR3kKFbIkDwrn5sIPrtOvE2cfAyMhgr9A2eUhKb4GLGk78CnfRi1f8CzfsgS66sH
iLbWgkNZVgniCmSCPTFgK4SXJarwKpUZNEAQ0RsmpE+0Hcfb0Z7cL0PZFqfkEAwbs8Shmk+eKh9k
jB4wp9YyV3ytpumZXoCHeUwZvUGspe4iWTulAyGhy6Cl5mG5BRWnN/QRf9JSvQ/nAD8kvVBFotZm
yHYqluM9wiV90SbCo0lsOR3eO4aSuJavfHRNQtblavaDD+KIRzHI73DSD3BQ63WDBTNF8dhULVsT
imdowFlKPmyDVHnfPeQOAFqLauXZvaYv9QdG+Tq1aB71j65bIR2oG2LOPH3dG9kwNp66feg0NqRc
J95RByNJdnvGZmhEsuk8ZaxbV3TM48D2/pucIzsPCFpuazLtmZ0SoQ31Q2IWxPBjeKpU6nE1oC9K
68h7A0KOBgNcUdG0qsC1rYMSULgJB3/lFv79/9RxdDnRflb1pBLg3MSVfjvhLn6VP/yBck7iWXf6
W02X71bn3d+STcvf/Fe/+H/+pZAXgfLFyPVfny3P+kt/ym+lpt+fHn/7tt+CXva/g7nyXHKES2Rr
iWb9zT/jYYVxMLB4OK//Gtr623nR8jkvLqwtfPi+CEkp/7/zosUpE2IXKTCHcyj2G+u/ZaD5857H
5w7hPBpg8TH532VP9DsjtIeDhCCvbrZG6L1GnK1ajMmrOMaUkpMUXmWNHncxU8a6dD5/9079nX3i
H92VGIb+9KuXbeTvfrWdWguRpIWv6GbLvbZgvtL5UGfRx9BY4eof/zb7z7s7ptcoqRyOPdN3XYx6
f/x1adSnPsrttOvJ7BzjJurorQtAnoY257G2fjHjlEGcmhAKc03TRtAH66w2vU3v65e+WkqO5vgp
LcCAdcGNl44Y5NkSdmb0zKweeEyDoptU6Qktsv1nHse/8/IFXZBkDhfNgwvqT4Y9EJCMwXoAPR6E
sQPBWQ6uQJqZtPTutDW6GfZCjT4PMGA8C0q17inMuLVHmgQo18NtopsXhHASZ6H5arjltXQYrVfZ
Rxz0HsHn5ApeBEyzgb9rF0QdypCoQzyEe3rLy2YdTs1V3Njmg1GaaNP4LQ/YFTdTH6+C+W7Cm5Qy
Wus9eXE9CnOn4QPdeUUOYNvjG6e3t1vHSXYXyOxS59O923xNyuXcMq7eaCOb9wFU903nFAGKgABo
YbGVEqEmBCfheWIkyDdeyD9mLJ0nV1nOnsxK/OBn5l1pMLlgnCwvTtPn1+RWpve06II9GIBxP0Lb
Pdkp6rFL3CVYwb1TG9fSyS0OlGHl4gBgiJHFOy+Ixo231ExBso+uQYLPKyxCLaWtHL2YKJZHQgnh
GwJPsI5LakRCD26EFss4qfQpAs8isVQu2h+1x4i81p157K3TYMuBloU5lkT2WRNTJ6t2WObmY6n5
FSaF3m5fWjujXGgxSfqVxJV/hZVMAHdvkAt8685YcHHVJDmQ5K9JKI+NKx7j3qdfgI/GY/Z4sDge
resUKOSAiLzJi7a5ARy7HXX1gI2o/CdmZZsH0B+kgNBbVCvfIaodIGkvDr/f370irqym7iZrq3NC
gRizifYxwQEysi7DuN77PLoeCPWQj18oPTLyLA6bISTZKGmq6zBwHpmCcxyMyhMxovB7XDA/Duvg
vvWidu2LpejbqbLnttGaRpPI/PmfWol+vxD9338NLfn/kXxqAdhmRTE5lv/XCxuU5PeuS1oEU/n7
pe133/zb8uZChVzWNp6s4IDILf9teYM2h1tFwFJbwi+LC/Q/5VD336HNWSZGaZhmGAt5Lb8lma2A
lQ8MHL4UCjSCIHD+O8tbwGr4x+uUERcrKSBJoHcLu/JPj30zSnE6p/2I0F9JezdamDKHlsM9sCqa
+VZOPTPSZ8rBwLaPoylFzOEAtXFHezQW1rC7ZsRkX5eDldEATukWWhX1b14Q5PdZMhgPnhXJq3is
+rNflPJE8ypBOuUFxZ6GDbENnDpjDtHKrx4qolyLKQ+xPQPWhpJNkxE7MhC2UV6Gp9gqXRo9bD9c
0yE43fkjBoWVmu9j7VByb1AKT00tSVZw2TpR6iSRRNYjt6q9myqwTGvSt9SwBTlj9H0JLeAXTVzL
QyqfzfvIS/IXznLxfWVDecaZm3404RTfUNhDfclk9PNHXAnvbZRQOLpOq/eBg9haWBl6rL1A3Jzc
J/9qUe5HaWJ5HmFA3dZzlm4Zs6Dm2uMpNjsaVgpprxNH2bgkGHW5Oqk39EpaH0txDx1gFWlbyq+S
7LoBqPYx+AJMXhbn4iuujPjR9lNm5mkAGZhSHMO2NrHdl2xzTYofnMxdmfRwIxDG9jHlA1jjjHXX
HUTsE4ARbCRlREuePRKUnNsS5ZmJfrWex6aEDs/yuAGDENxof0jfk9Itvk07MgVix4Rs3ZQ93hpT
TO01nQqU3nst805mWTbvQ0/TM+5W0LwxIi/Fvv4Q33SIH8eRPf+rbKMWgpAmDrPoB1WzwlHnY8et
IPbkhRtzVMW467T8HgtwF+K6Gnhok05o6IfiBIPLJ1LMXKXgMZ5LU3/VqhzkzrGr8aATQ+wDDU9m
bcf+RFM8pE7GRyEtcgSv2sfOdewzLGf3OvJ1+yBLWb3HpiPRzKmMJE+N9Y4ixXCsP5vCm15bIbEq
eAnRA056qn6zOM2AGSSJlO3TtFT3pK/EGYIrZ5a5HsR1mlXtuZANzPiwlJa9FmOo7kK/HJ9adzli
RoVpfOs69bxNaFnqxQ2y4oOS92pPwShfr2wxPLRlSXV0jCoMG7EDQnoYFpTgqjfoY+/oTKDB2x6I
mY+0pchheBL+UF+8rkKSt8rlvs1wxoXSAMBNHBoSjsXosUE8wwhm2uxouLmWb43QNFyV5yzwSZuq
rdv74VXvJT52FM8g1+rmo/kcA856ASJOONRsqhl+H6ntVQiAG7TSFJKMcxpGvK2pMOAETbi4hPDn
Eab9jnJ7fh1ioDpRtUaNcz6rXkBvNLNUfXjBSPEgI5/xdezTctNoOa5p9xkexkHX1xJ/+iHDKn8s
i5wttxd3fJk29S0R4vZ5bgNX0sVBh4YdDkv3TVcdA3Nm3O7guYGoU5eozQ6H0TGMDtMksXdP87ZC
w1z3uCtWUKfUXjeKA6odRE/CTguKHdBtNz71eGvD0vhPp07VDVaUotnIuUQ2xlW7GCuHsai2dpRh
P7Zlk3xjKpaPcyDlycws0uFN5xA7M1x7eDG4UdC4bEdptsCNfi2cVKI2GB2g2SwBiAm1yWvOyPPF
tCt1yuauwEa6ATPQrTpwF8lKa1//appsgnFdVgyJi7Z9aeGwLcUoX1nRp7D3Fc/pPs/9kxSZpJdI
G/QrzaJ5NDs7vZlDG9VLyLF/dqNYXTuRlK9WH+DZLD3kG20T9eSCjUKC3kFhwths5uCTVq78EBfd
p9kkLg2iZV8dWUo8gBdp3nxhrWeTaChNwR6uvuEm0Trm4ODBfdu0TIpa7GlgoNYuLqUQO0UD3E4L
VGLs3jFpSPx07ffktlUHGi1YUbbCKuP2xUEVqjlGRBdotFm8jQmbRvyZQ551e7t1Wnmois7euYnf
mYcCb2xLk4ETIzriV2kQxYi/86833XbDpdn8AO8Nj2ZXYTsgO0Nf1TzycBJ5eV8a3G7QIiAOsdlt
XpMAf+eqJtZx19XKfppILHDTNZl9beLZfqRbp3nBPhwewzTH7CODjvxDWMfObd2F5S1G8OARKzqm
ZAQiLp+g7XNnN9VWVhAc7W+moFs2tSOBBOp9TXb/VWD9mI1phSdeoUSfhSXErC+cwtduBGTGAmVD
NEVQLg4RU00eDIPnP/BsUtd9wSieonh7R0gy4CRhU+g3GorTSU43uYQ+l7N7BgN9nU5R8AxqinFe
NRa3GZYEkALM2wU0xLNNRetazpZ1TnkirS16/550bGaPtXDqjTXp15pj8kNH1ciZxnJ7o7MU85xX
mA+UKBnfdlqN0cqObchHTuVcpWYaYEdN3OihMOPgHFTJQ1WZxjmqCIIyCULl62mrPxupbWG0ryvN
SK/0MMyAiZXbxCzLadXxtsn1hEcLaTUPx+VKyJ36nRLnaDdSiU6VTbBEE+ZqoF1UBFfg+eUBBND8
mUsr2Rhzkyo6FQm3VX7eXhd1H2zrwU/eko4Krxr39ajFuI8SuFkB4tZ7pCd3U4VDdmF8RkluQ++m
18ty1xgD2SymOsa2HJpwM2lJDN2mZFLdBF5RvOWyZxDCSHwMt2aeWfmO8o+lgLLm4dKCrbnSMuke
mnmoDqWh5A12a7XtWmB0RRCTC86qzFibrevsXR5AmI6K/sFjabmjlh66HaBLZoES3Ni2Mof2faZO
7CZsnSjd8kSQV32FIEtGwb43XQ0kWEPignfvBdcmp6F7Bwd/s85dLCsDAMd9Go7hr2k24+5UtpFJ
KZUpc/yNQf5Ok2D0qulSuuC/Ej+qyZ2AVZmtBJDa2nO2FpQQWiYmZaD+x7rMz+irzCg8h494ZRVD
dFBtx9Cqow3qGXEdRmY21eespgFj5bZBQxc1DLp3JrQmlahpLJ98F7TZjqNdZfwaPSVPbpzOm9aj
IG/vyABuNk1z03AloqCtDt2U+s+9wR1ZFkl/CeIG+HdWWLecKG1KOr22Y25q8HjwyyDGpJN3r7RD
VQvv1xAbG1H2qBuzOfky416d4yK9DiZnulZ+M1DK7Bj6jg0sM8BG9PJF4pyNMcT3HUflTDoPZjo2
z46d1mdGE9kWMjOsNO1j02LZgnriMbpgT4gDB09NEXxVrltju5L29MvgVHcUdWnizBJjv1bMmLYB
AsbnjHvH2oQomO+d7GocnPAStoRt+o/UprViJxzqpwa6IQ6pnoc7ZvSwZP/yrySaxQnTbXrqmIIH
J6UkcpgH75mbk/qdJinrczgUC5uoePSy/JIjakD+iNtrUUiXezYCZJ65vbEvCw/0DpUv3aZ0bD54
KOniubYUKwh4c2JDzOyByxDIdp5SP2quhVVVF1FV/qXHP3rD4SW/buOJmWsYeSnOgDb8JKmFTzEz
PLVmzuH9GkO/J/uTg1IPk8mcjtXo9NMhE2Qvj7K0MQz4cTwdOkB5n1EeU19cYjOA3TuwuYxrGk6B
ToTiV9nE88Fi5fo2GGp8x3GkQIaBosB8gZ1bbfxiEeC93klsJB2RPKKY2zvqwNOX2QBqaIqCNmG6
kgRrm+yfLFpALsFk57+oKZvPc+J0385fFl8VISvxxtOGO8TRZZJT+zFWYXsTgFB+UDRlWk0c++hF
vf8uaSUct8zVpLM1IxEgWPgMznsGP7c0pFIguZCZV5KMDp9z7glE5dIFdaF1upRRNO1Cmq/omM61
7aG/WQ0VsLBLFfA8JleNadafrtF0pBVUclNpVd0lxdA8KzHLr7bxxCEvM+upt8wJf900xlei1223
swaKbtYFNVZXhgCGfZWVjXmwg4T+EwX9Ffev7N4kh2Q8G6rT11iPi3qf+WEHG8kifc2RAGOXGvAr
j2aTrWiDFlvLk+xDp4X2KDUi/8ap4SMx4vPgV9KKzUfnV+2xKFKmaj2tG/nGjqzqTGcq1PLcWXY3
jk73ngkSOPQYwK4Gw7IvMVfmYbD88iOs5uJtOWV3/Aa64DfadYx7Uyt9JjGonrOxIVsD2JKtKgs+
Zkfoq7XVenxlsW8Phl2dWnOqrzGb4Gujh7CK1lVepe9FlSt5sLskvrUrqJewrmsqiDGnpXdaFD+q
c3yH26XYDypPz4ZKsMFNlJUDX/e8E6MQC+oBbveH1KMpcrRT+IvhDNyR6kE/O6VobzB2eqc9tokX
2hsmG+7EmAGDeNvRNQQDMzE4msp0WZQTYMaqa/lo2MabhZhOvTeoY8eK9A6ybvTXZbK4J0c08HaF
zYF4peyYvK9sryOnMnQp4nTrgw9VhAI5s2X+dgQLcWptqhlU1s9fBXHW3TyORbdsI4t6G2ipwnXu
Z8mVALH6PcZZdRMruidXRhyJu8YKINF4y5miC72cwTSrOKMgS926GpduQSv4gYxleehpHr0qNXZt
yteL8cm1fdvcU0FVwT/vozeyF0mzBsaZ35TCbewrRzF6eQ70COq2DwbQ7P8rZv0rGD7kcE7N+OlI
J/M/NsmgfyRrXb9/vWd/ELT+7g/4TdqiLsEOfcfHJ4NbxFvyzb8ln4k3A23EAMVkB1sf4udvRj8n
AMRH6Nl0XJhNf8X6/aZskYnm1eHMMqFa8kzHF/O3ydVv05J/xOgL/8KD+E8zFrKHiwfL5L8/Kq8u
tnDOYJ085ENQ7DQvHuIpq5ZYh0Qa+xVJkPkUGGW41w4pBrPzgmPFc58nsw+dbqhxUaDuUym+wUus
ntC8qb4W4fTELk4Aa2XrWe8UMaR8lTBgvMAcau+CzKQ7IEiLECQwfQQJam4cGwoPrBVtwUpEFUce
6lM++rA3arZqlXvT2p5zRJwY3vtoKj9qmXkgf5ii7+Esq2I1eyC76WtsoUQMExq6mjIaU5xKjNN+
IjYGcg34KYj1CtDXupmkm250bYFgoxEpuRvrACRKOqvmwQt0ca9DOlP9TBMOGDEjvtrkmM7jaC3R
lN7O2Iikc57vmC9LXNWeNF+blPJomhd53q3pbgkuY5n0+BlSp/9MPWM8EhKmpFLH8QVCeLnFPW7f
216qn81IeefCkMUlKDIfucIVBzev531vjiUtvH4QXYPFdzYYpalgjsnDIBgZ4a7XqmDeZWv5KQaa
7Ihyt1JsMY73eMCyYT7Vhu/8DFE/3pss/RAtCsoworhuXmc7c0G8TVDdZJtGal1QUPuIh5kSXa2L
7ixrYf4CSAs0Sow1ViQdT/0+yxPsCCkO88fA8o0npsaS3cfA4y7UFrljcLgToWYjN8+hzwSDSr2G
vVvYrC0bQv5qNGOUn9IH+4YCWgTboo7EiVFGd52WWMpX2MzKQ5A2SXvlFo1QLKNl91a4maE2nqvb
b2I744PXV3hYWreLGN9T+LAOIh3eVDVBXwCTZZ5vOuHaeyIirbhlvwDXnl0wGp4nelciUeZQKIeZ
PlEIxk3lAvPldLujZT34LlOW0Y3MGy9iDlLW89Zv7NxaG6KgQ5wZef1G37d8oRS+Wmb8Iydvb8TO
x10zMfWn5Hc4eGWAzYg3lkloQtqf968n+r6m7a0cGXJM8uKRQaXZsfXjl4KTyU+S1gFwsdyOvrPI
7wgTNNr6rPPeLFZSkanfO0U0c0mNSFi7QLEkn/vctq7xPZQknfM8vELlaj+1L8etoagr3ZhJwZ8J
XhnXlpFU0IW1Fm9uNc/puZPMI1fuGHn45qbikRZb94uSvOSV5SwidcTpod7g1IGhbFZ4fkwjc9Gh
yuGqloEkvo21iFOm4RP6tMuGUAB5sc5a4yTVu0mwe1jQ6+G36JVv09cg0FqCHKg4TZPBHU1r7VXv
9wsDqdD4I3LRfgjltc9pStDCHed557EJqzaFHH1i1Er0d4bhts8DCAUwCkN1mmeroc8NMx62trT2
8bVFOPZtwQAVtRTJq6ZXYEuyHb1jTvv6GbJAdiotcsKYbX3ooiklvFds8BC68MzOK4+rkmO/OVRs
zjwmmn0a+Fu/rfpPMePkwuir2aB209zd5JzuL5zBZbiroqqOtrk3jfsmNrw91ezmVVBnCHIEyq1X
JbL5C1NI7G/tzsQEVnTGjQaCfCNaen5XoB2Cy1DUyX3fG2wbyMNYV+YA6s1tIwUScOhv29hGtbOH
0tjElS5fwNAE235G122jKHro6KnGmEIvAzBJ0j44YOqEga7JcX12w/StTIbqNs2VtyU+tbTijeOV
jtT8pSenCtdw6SuLunmsMLiBJz57ndXSwR8S1681uEP6pIlLHIVjgZL3xkDhBjG7Rz4dkNsmzLtb
pMsW+Di10keD5nWynJy5xb4K02oTgaTMOLKD1uRaTauP3HP8h85FsWODroXNjLhJ36zKrV88SkFB
wDZqEce1C33b9WeseFWWcgDtAprk9zY41qc2tdLsYodIXHwkDg+d2HSbjcNs2T7JFAQgHXjaor8U
5iQMx5pq+IOdD5h3lDm1CFFNrW7imeKJ1VCSViVDZItfqgnyjxHA/Y80VLWpWzN5oDIEa5zIHZab
IM9C2l+ou1jnlHNso8nCqhOXQXJwoS9SRFo149HtG9y8zhTlRz30KFlezzR1nVcd3Qep3bcbK4Zp
2IfReB7qxqGlY6K3pada4crqIgxFgc7dNTW2HngPBvXXDiEdVPuqcw4EKeW+H2+VHgnaSIB59Uq1
/Xw9pRQf6KKABGs2rkmMyi/Sj6DJSpQW5zSMNAWu0lzzXRWv8K6ugvYZ4OpwRGc1wbMRYYO+kxEK
Am8BpS0mh3nktvGqZ6JjDdJu1x4CH/tqm8/UTlr5ax4ybej8YiGmN4Ju5FLkR+kMFGNYqaLjGP6U
ZyJaziXPIRz3yro44XhnW5Ugi8YWO2c1YKFG88kxVJ3iuRrXhBtJOpVtdykj3f/QuQCYNe6cI/1S
74Ei8EV1eQ4iyYk5j7TtozN6ziHMvIBbN89z9t6W+90kuGQ5uvTirC3L2WUgPMf1HIT1kbJojFME
OA+RsGbGLAmzsM2QpMyanaa7LmOS16KPspvc40G+TYcSDZCwUzWt3dAyKFUE4ErhQW9Y+zadSP3M
SZNdzUlbXag5zY/wQh0cAF16mkXinnDchtCLat2+CK4zFJsy/PSniJ5YbKrNrUuWH8CxGRzSroMp
49YRQuFo2F+CC4aSSasEbysIDORz4m6LDKSY6XX1o1nCXBo0Hz/oS6ZE2N0KohPZDAnWj4HQB2nw
q0Su/7QSxl9bhZC59lVXc8AQlN1h2aCxrm0/x9iqzz5FEDelAliyHrIU4IrXBlunCiio9f7iKs9r
h2gYLqW3YnZSMn+ail/fpSl75Q1F/B3JRt4WkeFco/cHxULZb/RqqDuLBZT54itWk2ALgiXEFuf0
9I2YUfwamAvuPk768c2A4/GWaZeoCbmz8alGIN7LsA5u0cCcoxiH7IfXq85Ul08fYtbU0c711LI9
S1TOyUgRQRfTAJkjbQcv3SB4h3iBvWm6C2MV7ph+DU8zvoRdgKv2Xdg+W426pfdi1bURduhIdSUl
2o0T7/mohmsrxu23Acyl7hLl+A3blyVF0s05TyrGal2+rTkVJscgNXS1151S0VWtOpNeXMF4dpdb
0vpF4gMzfjBgdrFbM5t2SV/0FtpBiD6eINKcSJnMxbpyxyXONtASvw5nc3bW2m58sY6mQb0O5NRT
2jsl08hkzqObxLedikS9L6+4QsSMHJp077SksqgNYPEvWR/w/rehdocV6p0GmVnkT64rmwtedfxS
IE2dS0ov4qa3ehQtLFCnpPXCW2vU5ndiUUJBiLstycl5i/k4sHUOTTRU3j1H+wQNemJLsBpUK8tt
nMxAgC2DI8w59Io+2tEi4MKgsSsaIDKowSxvZUiCgqWiv7GTto4YmBaQZkZam/e+RWwbrmbdgLwe
Qhy0Ind/aHWhuaoU2NyFZ0zo2ob5FYa51gcIE6zkGcGMJW2RlgQsdTPWDGxTRpptJ9fSzeMfG/T4
pZtrcAKitpIde0wUR1Iu25mk+Z0OS6rHAsUjqoR0vJvYtaWM7y17Kyjk5TmlQSL4fhu9i6GxL2bJ
FmPLrlcYa1UIL9+OtT9m7K9z4yeHbsEejU5WMfMPJ7zYVDvqY8atChxuE5d1GS2XOCNYZ7N6d0RT
2+e0j/Nt1FPjy5/Gc2XmCJslSXeALLWKSNQqZa9xDchzlMOscLIwvs3Mgono5LeBxQnIxnGsnAHo
f8CPjOlic3lNlnLqp3oIIJM2grLHio6lC1P4KWOrk1FdFjV6Y6QGBAc98iGr0UBOVN3Wjxy6BIjA
M1uZKNjYxGUH9Ho2uRbBO3krz4xrmL6GOmXjbLPBt+b5YHRI4ZMbRNM+gtE03lhpYjwAoOanhLL1
gN6S0mRpBwa0J0ASHSuu6c8pF4s337XiCys3ZRAOpSMnYiblVd2ZWb0ax8rZmwzK1n0TUMvEGrKN
ld1s8elnlJWlwXzlpgyqDRO/vagMDPpTq2940e6Rqbb5wj5g6WEWzDytBECF1+XVKhgiajdF32Cd
xWtPLVSmL5VLvoZa6RwMStTA00P6S+6YnFLtVwuJwZgmtZNZ2GynvCza2n70wT5V7E3uyS2453br
ChG/YbjrPibT9OhWTyzISJOdvcVtFdxRnN6OtEYX6XHAArefjaJYT4xvH8YxOqMsWq/YHuSdlyju
S3sMEJV9bzzifRoObp3HJ9+vM953PzmGMhdkAYLEo+jItJ8bNTM1giHgLzv0wtlJk66yVfBXaT1O
2c1mifnh8Yg5JGxLtxk3TnszwHLiInI4HCsSc7iMk7TbxM5MdwYjpGRlFkn1UMXseNnC+WffH917
d2aIFfitca4AOm8HtEv0utTvHxqjxrTMk9e+8mPwN8HYywduPRqu8a3xaItAdIeC3rhVq3vmtzkR
8l+MpAE6R9I/98hhGBPDEIiK45vZjWc4mvZu6fxK7HkkQ1im6a3Km3jaeGZhbLA60J9VxFO7iXTa
3SNNJ4861/1ZGLH3yb1rnS2pxHfD6H2nREq+27cnTAPG4FrPsErZ1VtZesX8Nb0hwMYMw+zRMoqO
5xUzW5u4X1ik8Ou1hFpVFPsobHCdC2OEsg/6MoL1fiIgjaE+4IeQhSgxZXRY8bZe7uhnxVIn+W1N
vjNN5rqJ2eX32KzDh+4/mDuT5rZtKAD/lUwOPXU44k5OJzkkbuokdZJp3faMWqwlm5YcLYnlX98P
BMgQFOXYfs4McDTlR+ARb99Ib6OyeHsdkS5CGdybz5fM2JvF0c3JkklI4WutuaTMwZ4tTsOrkJKc
5MvFp2US/ZdjDFLr9ZkmSkc3hDiYsEQ3DC0+f6WMn8Hc9U3y9W/GqM/4lrefl8Wb7ZflZnqZ0ELm
Z4zzmkFWcX0c71I0mnp1c3NERSQjoxl3m368RaRsj+ryYrJ+/UNcjT8gI66XEb6X5935znQWeDPY
4nT5uB+1TrlxQE7i+Bn22mZFGvr5fLlw0uR06aSTXddsqUlavwtCrcht304ZBBvhLUwjMrd0DZ1e
ZM/Vy8W5fZyXAQ5PDHXSmZtl3J49DB3Cwd3H28+o34fjHODgwFpS/iY5qQD3w8MATA8PMfmAqfbv
kvHcQ0AZ6gz5nJ6UFj/4YEG4fwgg7f0+F+EuBOgaAWw4Uhf7CIiCAubJnCTkkV7mxnmEgIgyynuS
weHTT4IUD3+S4H43y0FCQfYp7YWpoigNGfh4CwhR7UUlDrCDw3hIAhRMKJ6TjuChpBUrpf5ck7x7
7Bc16HCFlBIyWCL1M9RBdIccEAQFMaQUk+erl3cEkdOJl1a1UjREQYZhm8EU7XJIIg8DJomhl6b0
odbLO8lAQC00dGo6sXeCdl88HqYHLnxKKQzBNuf0RR4wjk/H68zhS+8YAlSsmxTLZAI9mWl8Ah4N
15uQ9d6jBDLvU0ozUtJTDBa8o4S41AUlMhykQQbLo710bJAwwAGPJ8yzT0rzIo/kYltDIb0F8SQI
MX5hBZn5zK6CgIoYwQYiKoXM8o4UKPAoxEIhJhRP4mdKE9hmudcgLwJa8pdZHIeekgJtenRigYgW
qAlN6OlKtQyQeowgzyjOKSJKaZhmqZe3tIByL8JAFAcZ/JDLblmeSwsFpbZgIaZ0xlwDg3GvmEKk
q6BESAhREkMGxFDeaj73gBaygJGqJQzTV7HA1sQWQwxD4JQ00rIU79qNeUrpWTN4wD429plPN4GZ
KVgMYorgyqMuhzGgzHJYA/ZzlBPuI8jePeby+YUH8u2p/5MRBf3VYAsR1YQD3hhzESAWylcNsfjH
EuK0EHsPyoAprpwd4e8KhphBsTQlsFLTOyqIaLEn/vRZkBbEB2Js4xESyLUNAbGhPZgb4J2CBLMO
QzEaQgxGLfsLPce6dwlK7UEKEYk9n4JnLICeFHThEgnFODS2UucoHAjFPCB1NApxJJpL4B0lNHmk
QiSEmttjFVPU5VyBPKH5JLPO8Rw1b/CI/aOrZWZTj/cScOwJ1haT3AfHLtCLc9r92hHeHh07oSmD
lOmHZcAwJIaB4wxr1uDKowcyRCeOrOPYPx8JsQNUoIRti0gf0W814XHbUPM/8BMW3vlHdNcf4eHD
NMAoTvGVtn5Cl/LLoMy0Bw2m0Cz/cGD0YCkxRFkwyUKKFsftgZIIAr2Eydk3pGLbYnjEEXQgLWx6
rcqIIccvHOM9J5TULHwBfWVAMwXUbZxmZvknB/mKMQUDUq2QDiN864wWnwOhUAZ0K2XMaGopgsee
qUOGLUoRgN+QwCy2YWG9QnviAWIgkkTz6Gb5ZxgZPEg1w6gIMup6SD0cx0MeEKdI9ARDTykiZoqi
1GcUwRYwf6idagnfYQsFmlLObcGNbriGd2xhrEffQ6Or6IkFrfbItxx3nJUBnhJtkVoZYRQTj2SE
jixSYShXGQgwk2kRtSED5y5oYyEltpZFNrLonc3A5vZmnT70LsAdCxpGpWXkRhZxHOJGL0g0sGzx
AQrTPW5Kl79Ex4h62mQuzat1r8vld3/QJvbsA7AJO2+nL56TKt9VHTY/PN1dVwZ01dVbvnTCro1P
sPew9RH2/90ecP/Vo5tq/3g8r1ZqdTbbNcfd2W1+UFfkPzGeYcbYhk8rNa3WMye3qtGNv23oxXNn
uz0auBP+eq2u+mBNgoIU7Kv5TK36YE2kUwr2WK12aqH6gEPjHRRDnl+ps5mqRzFt3C/SV7xTtCV7
9pO6uv7l2Xu1pu2CgyHr9Je+5b1aLUj9u3SRhGcHMhbD5p7WA8BN1E4K+Hd1uZ6p6dequm532VCp
Lh1u/6Ap9HF3/ERNZ7txGjKRV+n2P07nbL/dqN65zfmSAr67r27HqB6Hlk8HB14LAf+hLhRlCcpJ
BbWObClG/pxfXs4dhmW1PyngU3U1rxmNM932v6P1vkmB/7XZMHFnhInbLBgp/H+q9ebZq2pxrmpn
9ybDSAr9RMHMYViblXPHrYtOCv237QXQN/19dwliYthLZ8edeiiFi1TuRiZ9mJ8t/+Xrvl3XDFda
u+ewcQvx+1bbxWHx1DlGpK85md8uV646YNOXMXekwE9XVAa6N8gCfwLJND7cqt10I0t0HnYTRpUe
RI/P0p96AF0Hq58ATSdqofE0AvwJ0HRSnaPjqJ1DFXwFG2iXYuaoqmfz/Z0nGGRi0B29DUaUmd1r
H7n0Fa+RWHSVHnb67ZxNcvjf7yUslLyNnKGzy/B22lbHT6BLvUMUHISPr16KpNMK0jof6vjfXJ5S
+PftfCP8EOP86DHD9u7cyJi92SWv7FuhbVXL2L+5Jrb+xVldqdXL/wEAAP//</cx:binary>
              </cx:geoCache>
            </cx:geography>
          </cx:layoutPr>
        </cx:series>
      </cx:plotAreaRegion>
    </cx:plotArea>
    <cx:legend pos="r" align="min" overlay="0"/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'states wise'!$C$5:$C$40</cx:f>
        <cx:nf>'states wise'!$C$4</cx:nf>
        <cx:lvl ptCount="36" name="State">
          <cx:pt idx="0">Dadra and Nagar Hav..</cx:pt>
          <cx:pt idx="1">Manipur</cx:pt>
          <cx:pt idx="2">Daman and Diu</cx:pt>
          <cx:pt idx="3">Telangana</cx:pt>
          <cx:pt idx="4">Chhatisgarh</cx:pt>
          <cx:pt idx="5">Odisha</cx:pt>
          <cx:pt idx="6">Assam</cx:pt>
          <cx:pt idx="7">Himachal Pradesh</cx:pt>
          <cx:pt idx="8">Jharkhand</cx:pt>
          <cx:pt idx="9">Nagaland</cx:pt>
          <cx:pt idx="10">Arunachal Pradesh</cx:pt>
          <cx:pt idx="11">Uttarakhand</cx:pt>
          <cx:pt idx="12">Kerala</cx:pt>
          <cx:pt idx="13">Andaman and Nicobar</cx:pt>
          <cx:pt idx="14">Mizoram</cx:pt>
          <cx:pt idx="15">Chandigarh</cx:pt>
          <cx:pt idx="16">Haryana</cx:pt>
          <cx:pt idx="17">Punjab</cx:pt>
          <cx:pt idx="18">Tripura</cx:pt>
          <cx:pt idx="19">Andhra Pradesh</cx:pt>
          <cx:pt idx="20">Karnataka</cx:pt>
          <cx:pt idx="21">Gujarat</cx:pt>
          <cx:pt idx="22">Bihar</cx:pt>
          <cx:pt idx="23">Madhya Pradesh</cx:pt>
          <cx:pt idx="24">Sikkim</cx:pt>
          <cx:pt idx="25">West Bengal</cx:pt>
          <cx:pt idx="26">Rajasthan</cx:pt>
          <cx:pt idx="27">Uttar Pradesh</cx:pt>
          <cx:pt idx="28">Maharashtra</cx:pt>
          <cx:pt idx="29">Tamil Nadu</cx:pt>
          <cx:pt idx="30">Puducherry</cx:pt>
          <cx:pt idx="31">Delhi</cx:pt>
          <cx:pt idx="32">Meghalaya</cx:pt>
          <cx:pt idx="33">Goa</cx:pt>
          <cx:pt idx="34">Jammu and Kashmir</cx:pt>
          <cx:pt idx="35">Lakshadweep</cx:pt>
        </cx:lvl>
      </cx:strDim>
      <cx:numDim type="colorVal">
        <cx:f>'states wise'!$D$5:$D$40</cx:f>
        <cx:nf>'states wise'!$D$4</cx:nf>
        <cx:lvl ptCount="36" formatCode="General" name="Yes">
          <cx:pt idx="0">53.07</cx:pt>
          <cx:pt idx="1">34.490000000000002</cx:pt>
          <cx:pt idx="2">31.23</cx:pt>
          <cx:pt idx="3">28.550000000000001</cx:pt>
          <cx:pt idx="4">26.27</cx:pt>
          <cx:pt idx="5">24.57</cx:pt>
          <cx:pt idx="6">23.93</cx:pt>
          <cx:pt idx="7">23.399999999999999</cx:pt>
          <cx:pt idx="8">23.219999999999999</cx:pt>
          <cx:pt idx="9">23.079999999999998</cx:pt>
          <cx:pt idx="10">20.23</cx:pt>
          <cx:pt idx="11">19.57</cx:pt>
          <cx:pt idx="12">18.780000000000001</cx:pt>
          <cx:pt idx="13">18.510000000000002</cx:pt>
          <cx:pt idx="14">18.420000000000002</cx:pt>
          <cx:pt idx="15">17.739999999999998</cx:pt>
          <cx:pt idx="16">17.039999999999999</cx:pt>
          <cx:pt idx="17">16.239999999999998</cx:pt>
          <cx:pt idx="18">16.149999999999999</cx:pt>
          <cx:pt idx="19">15.529999999999999</cx:pt>
          <cx:pt idx="20">14.199999999999999</cx:pt>
          <cx:pt idx="21">13.99</cx:pt>
          <cx:pt idx="22">12.380000000000001</cx:pt>
          <cx:pt idx="23">12.380000000000001</cx:pt>
          <cx:pt idx="24">12.130000000000001</cx:pt>
          <cx:pt idx="25">11.789999999999999</cx:pt>
          <cx:pt idx="26">11.369999999999999</cx:pt>
          <cx:pt idx="27">11.31</cx:pt>
          <cx:pt idx="28">10.68</cx:pt>
          <cx:pt idx="29">10.6</cx:pt>
          <cx:pt idx="30">10.539999999999999</cx:pt>
          <cx:pt idx="31">9.5999999999999996</cx:pt>
          <cx:pt idx="32">9.3300000000000001</cx:pt>
          <cx:pt idx="33">8.1400000000000006</cx:pt>
          <cx:pt idx="34">3.54</cx:pt>
          <cx:pt idx="35">0.44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 lang="en-US" sz="1600" b="0" i="0" u="none" strike="noStrike" baseline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defRPr>
            </a:pPr>
            <a:r>
              <a:rPr lang="en-US" sz="1400" b="0" i="0" u="none" strike="noStrike" baseline="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Satewise</a:t>
            </a:r>
            <a:r>
              <a:rPr lang="en-US" sz="14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prevalence of alcohol consumption in India  </a:t>
            </a:r>
          </a:p>
        </cx:rich>
      </cx:tx>
    </cx:title>
    <cx:plotArea>
      <cx:plotAreaRegion>
        <cx:series layoutId="regionMap" uniqueId="{7F758EE6-A28B-4AA6-99AF-9448958795A7}">
          <cx:tx>
            <cx:txData>
              <cx:f>'states wise'!$D$4</cx:f>
              <cx:v>Yes</cx:v>
            </cx:txData>
          </cx:tx>
          <cx:dataId val="0"/>
          <cx:layoutPr>
            <cx:geography cultureLanguage="en-US" cultureRegion="IN" attribution="Powered by Bing">
              <cx:geoCache provider="{E9337A44-BEBE-4D9F-B70C-5C5E7DAFC167}">
                <cx:binary>1H1pU+Q41u5fqagP99NrWrvkudMT0XImyQ61L18c2UB5X2XZln/9PVlANbiTojpfJuJCTMQ02JKP
9ehszzly/fty/Ndlfr1uX41FXpp/XY6/v467rv7Xb7+Zy/i6WJu9IrlsK1N96/Yuq+K36tu35PL6
t6t2PSRl9BtBmP12Ga/b7np8/Z9/w2zRdXVSXa67pCrf2OvWvb02Nu/MT65tvfRqfVUk5SIxXZtc
dvj313+0tlzDk/JXF+366trEr19dl13Sufeuvv799YPbX7/6bT7p3wR4lYOMnb2CsUTucZ9S5XOM
vv+Q16/yqoxuL/tiDyNJpUD+zY+4e/TZuoDh/0iy73Ktr67aa2PgHb///9YpHrwQ3PH29avLypbd
ZkUjWNzfXx+WV8n69avEVMHNhaDavM3h2ffX/+0hFv/59+wPsCCzv9yDa756T136G1qLNeyQV+vy
6tXZOoLddbDu9/bulu0ZEEN7mPiEYZ89gEpSgAoxwiW5QRIu3+ySG6i2iHWdJ3f3bJNrO16PzTMD
7bHbXhCQ76/zdRmtS9hoz6VuWO4phAT3sXoInr+HkK+Yz9mNnsHl++D9kijb8bo3dAbR+9WL0qvT
dZnUtr1bmG079h/aPrYnKRNU0Dvr9gATn+4p6SvJsbw1fnePvlGoX5BnOyI/Bs7wOAXr9YLU4/i6
XefPqRtojzFYbylnhk3sMaSIYFj8cFH3deNpObbDcDduhsLxyYtC4fwqMfEzokDQHscUMUb5j11/
LyBQbI8RxRmozA0Y/KFSPC3OdjDuxs3AOH9hrv86j3/qUv+hgVJ7glHqI3G78/EDAyXlHsacScXx
1uBs8ZQ026G4HTZDYvGy1GKxLtbl9yBskdi7LfoMLgNs1E14BW588zNDhOwpuvmronfPvAu+flGc
RyB5+DZzaB5efUEuJIhjyEQMRMlPpjT/xYD9CHK4LIaA/Q6zZ9gndE9wAXG6oj/iuftWlO9x8GeU
CHVzeRar/5JE27fKvaGzbXJ08KIc2x/GrItnRETsUXBbCiLvbX7NB80lkvvIvwVspsBPSrMdjdth
MyT+ePeikDhdg4KsTdy1zxhnYH+PcYIUhBnfDenckm6IB+VTcpsP+bM44xdl2o7Kg8EzbE5flpYc
JMV/iRmieM8nlAuhbvmEmauTe4QKgqm49YQzZuifCLYdpb/PMIPq4OJFqdGGDQJC4Tm9jNhDAisA
6DYA9B/Ehz7E6kJhKW8RQvLOnN4EJb8i0HZo/ho5g+TsZUWJH7oOLNsz+34KBB0liAghtvl+6e8R
xCmEBrd+aGbZflGm7cA8GDzD5sPxi1KXP8qrGHjUZ2e8Md+TnHMIA7ayPgCPLzjD3L/1PPNA4JfF
2o7Q/LVmIP3xsmwavM2P5OMsuaz+XD8jP4fJ3ibvJQo9JIQ2sRrFEDvf4+3uE0JbhHp1aDam19wZ
wG0R/qN4zd/wr8nm4L0sAk8nENf9bEX+IVvB9wTwpRzzTQoMPw8DBgWXkS8E88ndM2/c0JNibAfm
dtgMAv2yCKPTZKraZ01z6B5FQFkjChWEexnnd50RiPhou1n7BUG2w/Bj4AyI068vytsEm/w/+RUi
4mFt8We1VQgEJPEh61Tb6TuxB5EZVBf4bX1hRgL8mkjbUbk/dgZM8LISnAtbpus/7yzGNrv9z6wU
gKIYAfdOIBq+pyCS70GBQQGtfYvGzO8/Lcd2JO7GzVC40C9KPQ7WrXvWQijx97CvoIYN0e99FICl
YYgwxB7JKp+WYzsMP15ghsPBy/IXn65N90pfQ1U6fz6VIFDo3ES8SD5UCSX3fEmEz24psTkH84vC
bAfkweAZKJ9elnKcrq9i91/IVAAXTiF/53x7sUHtEaV8Qelt9j+zWL8u1naE5uNnIJ2+rEzlfbtp
HnhGAhPQkYwj4MhmrAuGvxMJvNgtbzbL739BkO14/Bg4A+L9yzJhx+u2XHfr7BmhwNDIgaH1id3W
5maZhwQuGTITyEu2c/u/JNF2TO4NnaFy/MeLcvAX9spC02PbuufzKxjvKZ9gQYAN25IQAtMiQUkk
ePsfl++n8b8m0nZc7o+dAXPx5UUBs7IpUJTd86FCgFXxgZwE07WtECYxNIRKICg5ubk8I41/QZ7t
kPwYOMNjdfSi8Di9jqARd+2e0XwRqAZDloipvAu0HsTEPt4jEjRFols+GfzNfT35JYm2Y3Jv6AyV
05dF5L9Lsix5zmoxtEVLhCgid1ryABKl9piE3B64rBvTNSt+PS3Odjzuxs3AePeymPu363RtOiBU
7vbp/z5rJ2KPK0YJhY7Mm58HeEDvs+IIEwiWb/CYxVy/JNF2SO4NnaHy9mUZru+loecvpwAy38vE
+Pb8wCz2UtBOKAQ4k7tGmFmS8stSbUdnNnyG0IcXlqKsiySHQwNX9vkUB2IwhAVgox7ywRIsGJJg
3vjMv7//JSG2o3F/7AyK9y+rNLKqntG/Q8UReswhTyR3Jd+HxovtIQ40iyC3EdfMeD0hy3Yovg+a
YbB6WSnJ0boo7PcWzmNoPiqS9vm0ggKzAhkhB5+x1Z3wzaknqN/fXZ659xvJ/s+6qP/vq1+QbTtC
WyeZIXb0shz/yTqDXvSr4fq6fj6swIIRCSSkP7dgoDaM+BAXz/TlF6XYjsqDwTM0Thb/X2cq2/t+
bzKFmwjswR3/9KAggf5JwqEafxvykodGzN/YOCER5TcR2Myt3B7Ye1ya7XDcDnsg+H/59N/jjcY/
an0L4K+W3w9g3jsc+POr318PzofOhv7sYNnNWh1e/f4aKBQM6/njYOdmkgcp4D0a6m+jriEW//01
+HsOTgbqW5D8UwWR8utXAxQT4AroEZRhIOOHKIEr6Ht5/aqs2i6G50KQAGcL4FShAgEkHJZ6/cpU
9vsloAkkAesJVxj8h1A/jsBeVLmLqvLHetz+/qq0xUWVlJ35/TVksPXNXZvXk0xwpSThsIF8mAma
dOH65fotnLKFm/H/CMO9WnZ+t+SGH7jSnYsw+4ZVud932cILuzd9lX1rWNdC4eDHKm15rtocLXr4
ZGiQg2ogVnAoj8O7wK6+/+Qo5nQSU26XIvTb65BJpC1jrNUD73F0SNDEUp3AG1AtE296O5p6zA/z
Pp7OEmzqb4z7bgwyZ0ehy0ypz5Vy1XFKGKl0kzhWLKKI+6lGxqkLljej0Rb18T7lIQnillarSfTy
yIs6sR8Zv5506cJawwojPYr2fIhysYASwGWKonJhM7Wf+hQHnRf3WjblW1cUhe4itBQeQcddPCLN
xjZ9S0csej2OPT3DlYcv8ghnZ9J4rdR2TIczqtL3ka/geaEbzWqkonjjeLXM6vQkpak5zWpYitGf
8BSEI3KjTrIEBg8uyYKiavpLKjz2oZNmNIGxODpPpN+e8LLgAU5cqIlIbKFr4mRAOp5qmqfRx2TA
/lvB+3EZTnG9iPJqhQdi37iqYYuw6uLPHYpoFGQt8/bdlNEqoL2nzgfPdN/CkfijLiu/jYIo7fyr
rh4MWbpBeDpqffRhRJOB/ySwxxZhTeO3pmrCXJfMZWWQkyhtdZG5YaWQio8JRcPxwL3yhLC8DajH
xdmYFOwcJVMSL0nm+EXjZTIQzKCTxIw2sPVYXozRENlgiuKu1FMjuyMhi9LXdR2Wq4rZ8aRPVbcf
e2EZpG3q76dJNx2XY19/aEolbdDUxosWkvLqIxk9syCdpzwts6H2Vlb1fnUREVqlOmZZ0cA+sF24
6MumCJip/U73lWUH0G6Q1EEVo+ljkROUtTqUUdcFxOFu1HWu3DncNzSaDCW+5p7kaBnZvlz2vPMv
YjEYHKDei3hgW5EGHHvdoTU9E1qVVdqvoh5VmTaI0BWL5VgvqqjmH7nr5bScUifChejLUIdjp5QW
rUlTXcnaHYaFkUZHFa9PrY27r01JYCNlDfocoSq+DjtZX8LKJG9NVvrnMuNlphuXu3KZMBt/ZmWR
xDqxSbRP0pIyDfFZfyGIhadMJMYHNMz8LnC5ZF+HmpkjMaViDELW56FO+jQuFzHFbkmSkeynJnfv
SDXRtyVWWbMYMOmmRVo0qNCT34+XTSFFpNNoqN/0Ifa/GlXFn6CIlKslU2116ud5hhfKj8THvsNO
S2vxuLQ0GddF1ZkPQ+TnRJOyFesmSZtS19LLFhi3ggciT1sUNLjB155J8Lu4q4uPPU/DN2Kk8nNp
c9LrmOahtyADRe+jMPWtZrjP6qUtefGuEg1bGmfFoKMmqgsdpiIzC0NtQfeTWHUprHvu4YUYJdFR
LMS0jMF3r3Dc2zaIownrvlPowMmp71dxFrdv26FvRu1HKD+esmzEunIhWJFMFtGgi3zwzl3tTBHg
TGUfU+f5iUaoSlEgSlldItSWaCE4LQ6mxquNxl4qHVhCIg9tmcD7CFtUoPGpSi+8Io8vSCe5DVqf
yyyYSjy8SSpFPwKkXFe1KIQWqhbLkIn2XWRpvGA1G5ZAlBZvcpyky6k2QuhajM1nasCmgzFD7suA
mPgKxhwQVXXpxdpIXPKAqcLzg6aP0kxHY93V2lPFOGlQ8o4G3QiSenV3ZCPhSg0S+l6A+xLMQh+G
vFpk3tSfDZ0YPuaoTadgYnlqdNj7pD6AniryJelMz4PIcl4vEfZKthgcSk9Tn9gLj6v6g3IjLwIT
9lItw6Fkn4diqq+aaGrzRRFbMOkJ8r0m6EgbTUGdxxPXkWpddIhDj0gtKc3OirJA8UWFoiFeMuHT
o6oXUbwyOe38I+dZE2lnMWhXWxWJWLAm9dZD2I5h4KKwNcuSlOG+KU2d6MFIts9ok+aLoZ6iSoe0
9FgAG6ftF02VjZFmlVdkQTUgf9GEleNaOG7gFsx5rMdW2ZPW1AUMUdORn/Z1UBMVnsJOar/K3sOn
XtbKjzZti6O+6LPjKUVgiJER+YGIHXjQrLTuUwGUnQ0ilQxnrMtUuSwysNRTmYlWuyxuGg3MuLyq
SiHejRmhOmFIFHqoUVaDysn2m7N9/KYVtI6DpEy7ZY/84UwVA96HF+0DGlXFp7KK2qMoU1USpBLc
TiTyKNOinI4LUqLAk9YcS1C9JQXJ11OXntkhDrWFOojTE4Rff0Yhz89YaM2wtENYxUFGE5kEpAaa
+CCMHBp0ZlW4RpGTjbaiy9xJJVyOtRJ9/AnREQHQKk/SQI2jskGN4d3GMHaf6UTFezC/9cXYErGK
0Oi+VOCfTwSJxiRQOcm/FHb0qcZmkkJHSExR0KcyQQGxuPG1cdkEauih9utgeXfBpNefhWNILpA0
/Jq6wQtUmEwfOCjSpS+8kAUdEsn+WOUrwhJXB6rqwkS3eddeTUkf1QFvjOSB73s82oBG3iSsse+q
CttDi0iWnzR9L79wG8ffpiws4gDHTR9rnGcKFi6NpzbR3TgSdjiNrG+CKgrVZ4drsQbvkrwRGMcj
mK26wKMmtp3yRdXVXod0YzJ5jkJw+QHrJzYe5rLkaeDRli1Ma/lipLkBJXCZHo2Xrhvih2dVX33q
izZelG04LuIUV0FSGBfvQ2DQTIHtPNkfu5iJd2Ki8RA0juciKEKW7tfx6NWLAlYCF6Frl7b2aKoL
oi4b0tHjMhaK61HiqA3CyjcHjeeJE8vwl0aEzYdspOxPlRE/P5AIttnSJyZpNCYQJGhmZfdNCS9t
dGNlb5cs4eotoiIK921PndMqi0KziEebgnZSSyI9DLSFTdMXFi+RSrNYKzt61bHtGfs0dA3sqAKX
JQRCOQOnj8DttTkypVaTAncJDh5/a7MwrMBO59HnpC37KfAsG89FkhiyQK7ol3HiokLLWGJ6ko2F
O0qaxPszTFqrdMJZkumsVSioedZ9pU1vnM5t4n2NPFGJgBqXrseBghXwSVENGk8efleqmrGDqK8h
NmF4Gj4M2YDAGXuGmkMXQuldwxYYwiBLUxedOoroW1Tmk9rPBzHkOpnypg0sLZvDThB5VYSkDUYW
BsrP8kXb1H5AOyz2ec/iT8NIlObeBBFbG8ZYZ4WpdI9cG5BwVH3gl+GU6g57lw5H9RfEg7LjZTAw
j+jUn5SOOlXss8Rz2oQJ1Xaq4WF1RM5tqiIwDzxeFLRH2uNuUSRjeRD5fEy1SxV7k9aetxyKUu0T
0+ZL6YcMXG4fXriQ8wqMkpr2VVtc+hPBn2An0m9DYtJl2ycUNKyS/oW0bXuSxuPgwYy5fDthl1RL
1PnxO8/h4pTYAdYPlOLjyAYwVzmlU7lSJnWfQqbMewPZGVokEx/dworIYI1dbb/5EA1esrgvha4U
MGZBRUNkggKym29Umb4NJi+O37PaVeBiDWGng6FOJ8SL0yAisAt1lgxlvMDWDd8ST46LemqKd8ME
RkXXZVjbhVc4meiwjGIIKrtuJAeW0VEtXDa6IwYbEYLevOghDwBPi7I4rjRnjsbgxsomPysgmi8W
2ZT26JC3ebuMsEje1Vnjva3cFC0nSSM9FXJSAWpauRyIGoLKT6mneWMHpPNSeEdZHvbg711SDLCJ
hf++CvuJaho6iATBUebNImr7nC0q3ORIR5OIPZ3UDURIHnOwtJJVH3BXFPt1gjKxtFmNjsdpjPtl
Z0rfBBE3+SdnlW+OCs/G15mM2lg3MoSoqPQKCBHhWxRRp6OBVB+Rpfn7wSB1RYqoOhicG+tDm4CO
lpAZVzqibbpOWRWhfUhj+fngMoc19crc1yRC+NiPeggP/dJ3LayyUnTRDyED48AwGcENV82bVg1p
H3QFbEPdJhME2NaDNMewFl0QmTT4OFdt1++7lqH3smypHrz8upzyUepsVHGkWyxDofvCS6MDLiJ8
JNqBn1VdDyFk3A2+OkoKhY7CFtJ0MMs8O+xS3l4YGtWZZhkbAEcOaV4/1ukqgZ6Nw0FFvA68Kr0S
0qBWU5ngY8iS+RuRlsdYTUgPTXVYEDKdjXH2IZ5Esegg+VpWdFiVhuWrpPK6BcER0QMR5wYU4Dzx
QrV0oqsDmTMEeQOEH23Vm1g72WVL6yZILKYkXcQ2t3rsB7Sf0TZZlQ0u3wysKy4K11aLDkPUSAvt
2hAe41h+UpU4WXoOchHpRgguxlScU5+b/bLKDyw4tiCF+DIy2XBRihZ9RGVBDBjY1F8UrflUhr0N
uoSIt71QaunXqdvn5XguY28cFoRbcVCx0T8MZchCiE9I1IOF8tHCD5vkGONs0FWbqGmJ2rw8i1Xl
H019O7CgCv0wmMB4XysjV41C5lvt4uwi6vtOd33pf6m8Xh3JmNDPpBHRlQIHGkhYINvmFdzCLGp0
nYQxX8KMmXcxCSplMNJ6hIg3NvX7ou3QAWlCVevBd/g9LWLvOA9Lq3vfqw+kiPsPtWyyr6FF0xAQ
5LxvvZWl+UozSIMgAEh6sl+GCk2rNs0GBZaUjIsuYRE6TGydX3m4a08cjiGy7GMfHFg6YgTRQO2y
YT/vIZrMUuW/8TFT6T5Wjd23fOghx0E19QOb4CqENBMihUW28Zm1qhOuaa3AUKmBDtkCYiRzVH83
Ox2I9qUTbOoXo01CtBhHDzZFj8jED3gBacJ+ldJyDEhlWBbU0lKraYnF104O+LrmCQkXwBxnbqGM
8g/93h/9g6IZTBTQMoYgeqC5uFYRzRcJMDnHZjDDmUvHSQYIxRCYWpyKy7ZgXaVZ1CRvgBaoDjpL
6VvWob5YRgqBSQyVGBZROEUuqGtTGZ0U0vFVkoSQnKd52RMteoJObFvXB3nXQ/TUqbh1+5U3dped
m1S3+k5n3TKSt3zWDa92WdWuTYBlmP36n/dVAf/7/n2zH/d8Jx//+u307qt2P71rdV1tzueY+U0b
aX7MBU+/lW7DST745W8E6SMU6M1H8h65+IAffcAC3xUYvvOjGKrKP3i/v7GjD7jnH/ff8KK+hLZ/
DHQLhy9BQUlIAPV4w4sKBR3qwH7CEQ0fPj+EKDCmt7wolXvQKw1f8RLQkkPhBPtfvCic6RAIGqaB
zpRwnsCHw053r/YAP6CCb3+/z4s+ZCe9DbXKoP1303h9n5U0ENtXWeKLgxgvfH5uemhF+PH+/2De
zfPu8aw+SXphwGcsOx7nsZ4m5z7FRIxQvN1lekDl/vQpECBuGEu5jNumbd8OYkLR+2icqm8/nx/K
b/VfdPFfyzIja/1iypTNQgFBODfTmxoXPgIaJeVYI4YKoiHh7cL9nz/sMQwA/vsvYwD7dIhKsRwN
VVQrRKMWKBOh4ODTzxYLiPytL4Mezi/9BtWp7yA6wTU7xXhgEIkhSKJPnOrKceXJCUxR4Zr67c8f
+MgLzUn2WqG6l5sH9rkvx6MKWAkLrKKNk+XPH/CQzf8Bz6Zed3/FVDJBRmApXw6ZkcORcBQ47joz
JD7hWZySU2wzmwWNaUonNeQ3uNlHZdy3cGLpZyuKN0u3ZX+ozVLf2961LEzGjeNLG0HIFUAVZCUp
/lZntBmAaYyGvtDWSe+kGoAOX1pSVarUXqRIAe1wPxPhsTXe7Nx7EuQRZF85H2AJFOEBbatvkg/J
E+/32OQzq1CBpg7KdXzpnJGfUeWA1elter6b6Jun3hddpYkwtOVLYD6SawSfRT0pvSSzwW7Tz2xD
5Q28bmLOl3kn+494aBiwI5PczfKomWVo8yGta9LwZVd5E8Rgo9e3C1FXldxR/Jk1IGOElctTsAZA
8qeBE2JkumlAlRa7rc/MHBAgXMvKQBGgrJwUFwa++tZ9LLrOe8J2PrJ55KzEZhSyaBi5Wk0VLpYu
Yl6rxyQz7RMLtNmEW3RPzpTfrzKWW+LCVeWpqdgfWlz3y3xwOFk0Scz8HR8zU3HKqlBBqUSuus6S
7qAUVYmWwC7n47JOumHcTdXkTI+bqm9COhZqVZNsep+1Lj4voUnh/c+xfmytZoo8QMaGBwg7VsQb
k2VuWklPIgaM2KeMq2x8YqkeQ3zz93sKHSvI7JSs1arNGdDfxYTO/Qi3uf75Szw2PX04fRUmDnjC
SaysbCCNRenIvoipqpe7TT/TaNvLSgLPL1Z9Dgh0eVQsmfVkvaP0M322CS2h8JSqFTN9Bhg4NXpQ
8XLJtOMDZvqcAbHa+COsvo+LpjysMS+HZZvKabjYaYE2get9eCVx1GBvFCvfxMlHqYy5GJOocU/I
v9npW/QZ6vsPpi/8fuCpjeSqyE0TvpVF0diPtJl8dATFZ1++gR4AKg53e5eZVkvXwkcQoVVxVVPW
JQfdREdfx1kxoN30Wcz0eUxcI6D0IleZiWp2aArSK51a1j7lmzfLsm25ZirtojRCxQD7qQld3S7S
CFL0iwLKSuIo6sIiW44RceXnvFD0qy2joXxi5R6LecRMy/MxCmU1DWB3c5XXR7FnQgmRfeZDWKe6
IWWdLrt06oMkFnWxn41TJBeCDbR616NO2B0XeGYNXCg8qTIvXBXSswuaDHKlZE6f2Ix4o5bblpc8
3I2878akIY2/omhqq+WEwx6aRcJpyg9qn0p3Hpmi+lZ7bCgOGHAt/GyklJSnRCqVfgb+nvMnRHnE
7ImZ4VBlyutqSNiqlqGhgZj863och2Y3oy1mZiNvqcBAXclV69XDKuowy4FgVNHVTorGZ0bDQnVa
pWnEVlE9qi8cXOmZQV6xm83mM5vR0KhMPU/6K55DJhNYrIpJ26R15old9oiWbXqX79s8qLw4TqA0
uercEJJDxdoW/TnWGDQuJjGqdAlsVaHJJOrosi4mQ3aDhc/sBx3KHDZRK1ZChYXVdUMMcI+WeTu6
Cz6zHxObssYKYMRtw/FSuD5aTKLyFrvBPjMS0NuEyrQZp5WxUbeaSrlpH6jTJ2zQIyrBZ7oP3efA
kYJrWKUkKaDbB6cLKO+RHTfVTPUh66kUTqppRSBv1FAP+1RG7Kmo9THRZ9qMRV2yMY+mVSRdd2pd
iSAWaGKc7rhvZuocp7araeumlRcW/iHpx2wRUsVWO8HKZtpM657XUIieVl1IWDBQaL4xBU52k53N
tFmVZFK9BFi9jmzq4RZaPDLJdrOjbKbKKfJaNIRmWjU4yfeNX0LJm7Np/+crs1GbLf6CzfS1DHk8
TdgbVoPHryHtzPp9aD+oy1U3QIX95894ZO9svmRx3xjRXvZlmoXDioLivvW7Kl1iVmW7peNsprJd
CaHQMIkBmsq4OIR/v8MuUlfuaG7YTGWhNpaHakrtKjI5O07yQp5CX+OOos80Fhx1mGWYdqumSkMc
tBzqLDIes3ix28LPlJaHUMTxJqB56jIZj7Iu6k5sCGWg3WafqSzwo16PbdrttzYazDs6IJWf81aJ
eLd9s/l8wP19k+Gkb6KejBAS2inIav7F+a58YuM/sik3X4G6PzlPvYwpFfbLJoe6OTWW6MaH3rKd
1obOlJbWKSNhqnpYee9LSyC+K/0x3A1WOtPZrJ5azzPiVnRGGqJ5L3YVfa6tXIVWxbhf+gOQxmQz
u9l9YWbamqG+DnMDs4+pHwdWZVYLQdIdl32mrTHjqkIEweyMXDcJy/ejJNqR2aIzbYX2kFwlEUzu
T7ZY5dDFC5mXGHeLDTZFlPv7ceyoDHOX9UvehYMeMRTFcB12u7koOtPVIq5JWVFkl9AEU+ohTq5t
Cp2PO212MtNTM7VdXcWDhZa1GHpRGf/i9YbsOPlMT1HIW+pir1vKBpULMyZrYyez4+QzNW2MP6YQ
CdtlKvxYizTJtW2hyXC3dZnpqaSpFyUeNOtL3+JT6P+mF9B+nO9WoiIzPR0tI9BW4dvVhOGf5tJT
qQRfeNAkbXbbM2SmqqQZ/cLWUb+C5vyy1R6t+aoeSHe52+rMdBUn0NdUjQV41tDk0Ddp8MJkqVvu
Njt5qE62hb72yHG76nz6FafkjWH0zW5TzzUVur4K57xulcTeGZjHL47IHblCMtNTP4HSOC5lt0qH
WC1szN9XGXSw7SQ4nulpmcGpBl9Zu/KSLgnyVJ5I0qDdNvvmn226b7+gLDzUZlTesszHq//H2Zc1
SYp6b38iI1QQ9VYz08raeqteb4zunhlRQHFBxE//PjlXXf57fv0Gt9MxpAWcw+HwLK2LPseJAmnP
463oxvD5dWhAYpsA57UDfCWaFyDcZ84KB0COX+qNDnG6NgBvCjotFSiQ4Re6IA8Uc7tHfpVGdAhU
M4J5IOvBVGqY9tOwpT94q2vPaT8EaZ21Y7oCrlglbnKlUsCdzOJPL6+3QX5zObiBB36d+LxntNWB
WiqwoPKnbG6iJxnU+rPfsh5CNF7iZVqmFtuR17wgyn5Js9ZzSQ8xulNA5WouTDUlK+DC2fZVjtlb
v+8+xCi1dLMtwdhBN79Q454SOj95DR0eInSwdd0spFnOYR0EZdDVj+0eevYHwkOERpHW6R7EwRnq
s2+AXvwKVL30Sy03AfVfd0rAUadPA+ZE8v7d0AwXAKH9Mnl4iE6qrSMbGvjnYV/vJhs/0MTvBA0P
galdsrBB427HVPOYDVsFzLTfM+tNl/nX+WjlsnHQYIKzVh934OW69JPfDjmEpMy7Se8Ci0i5+DFt
+btsZ355KjzEoxlXQFctWyo3d9HL7pa46gyZT34ffohI0tdb37X5Us0BoARxL+7yOv/iN/YhIoVs
5wS6Z8E5aVHdBiH7TnPid7BBFPj1UmJjj8DO4kjmLdsKED+CU56nq1fggLv9enSAkdOFJmtwHtkH
oDUzdLF95oTmh4jkDR/pyN1y48qBJgJmUBGN7MVv8ENMWrx3OdfX8xlAxzsr8bY/km7x2ilwenw9
JZMxoQgkBs9k8pYY/bOlwAP7ffghLkHvdeEINPN5UuRtgrE3s/qOfQjNyLbgJm0R2sYxAZgxa7r7
kW7Mc1YO0clnkPdQz2KjJDsr9rD7KBn3KrBofojNLTfUihyRvxG3dGVIazacYlRArVdqofkhQLVV
tMZbzVI1VH8P7PoZjw8fvVb0CNZaCQnBecK8GNMkp9GItgCrO/WqI9AQOuxFvqboR2/48G17a4bw
fltHzwg9grA6lYY05WSuMkGeJACHZ1g+xn4znh0i1DQTMJdmXapQy3c0kODYcq8ihWbH+AQV2AFR
PldxnMSlVdFURrT7x285DwHq8KIwZ2qZgWZgX5t5u2/T5IPf0If43KalFlkcTJWLpC3kkI6XXnV+
MAzoALzeKUNi+3wFVqjCE9J+6vfhOQU/yC9t3TQJfi0njI5nwSM7VaDDKVnMZgoeAtB83vvNzCE8
bUCQFanBiq7urxkV3DZnP7yGPqKpFhw8XLNhrgRr3m9aX0Ol/PbhEUi11plgnaRTta8jP6+2iU+B
7H/6fffh+Gx3Ws/TJuYq57oU1D2r7E9l5y1O/u+tih4hUzZAP3jV6VRxtSammFLWPY1Mb4XtYuNK
v+8/BGki+q0XQzJVsiXfJKefAy1e/IY+hOgGxKNkaT0h/tf5bp1BcojAyav8Rj9EKdhXSTuRGB9O
o89qDfqCBvqT39iHGOXbqMUU8rlK4hYUl50YR4s+k1z4HdLpIU4pb5rMZBJbcgtAhohf2tHvLg55
jdcpQLbJiAszhq5d/m4J2zc1YV7PUOBLH4bOXK3G1U0VqVVcBVm8vIsa23ohfeGz9Xr0OF3DZG2x
E+twd6AhjRWhnug0yg5hqrY6WLaZT1W/6rAI1/Qy2savOwzWw+svXyZqDM0x5UiPD6uLH2Sy+cUQ
O4RnDrUS043NVKV10xfp7h7yCTxZr21+RDrl2CXhFoupiob1LYnGxylcPL/7EJ1Ti9cJZoOxmln2
uY2md1KMXpc4yg7BWW9UiUZ3U8UwM0UOEDokL1Tmlw+PaKSFdGPQDfmIdxs+llMs3pkg/+g334fQ
DEPcs/okHKumJaorLBoVZxMGzG9ijlCkrsuBSusc4iZ3UBkwjL2Xbbj7regRirR2CauBtRurPZ/i
MprpM05Sv9dzeoQhmaAHcW0bsF2GnIYCudZBGK3I8lV49XDwwv86RoEFDvNm6zH3Dbdp2aN5VtU1
Hf3eEegRbuSEMaAw17rKglmM5Wq1+sfkqfW8NCb09fdHKg6pBfewmribT6phXYEZSi5eO/MIOEpT
KCyEa6grI1lchgwgdmhKeebH5BCxiwQCbya9rmYKVR2w32PxXbitb/zyWHI4Tbd2AjUXmgTVwLuh
aBf1cZOR35mXHGJWxoNVULvAvIOvf+fmcL5YOfA7r3k/4o1WAk0DLa2uujrZP4dD3dzBnRz8Yb/h
D0cqQZ5MYodlBb1/nC8g2kMDKKmhheP5A4djFY9xYuj1ipkns71OU/aRj9KvN0+PkKNUKLB3l0lX
KV0+tM38zorlg9/EHI7VpnZgrMpmrNI+/9YPNoI6FP0TtvYWkr+p249AoxEt8ywwSlegsWffUjwq
3BmhVs8tczhZlzDY3A6xqwqRmhcM0JcicEF69puYQ6hOLsAbvcToyepMkUT6XvR/QjH9W4L+bmIO
cTq2G+B1WTxUK4OKR4HX4g7JJm03UTYqb8Sd0s5+MGqWVzKTgFUL52PyAopbOr5F/2+ePuSpYncC
75LDXSd66GulskUzvtlAA7cFpOXG6aMd48CUoRt78X3gHBpBEEhr41OUoNd+TrXZzElG6JKVDK/U
29WMQdZVcbpxeq2HzroyCtFN+BIA2esuEbTb0hNJN4xpJbTHLs2Y8xlsu3g3F3D1t/00r4r037aU
0vrtQiFf8mOOknGssj3O12ra8Pee9LIn5y5ck6zsIf8nSubSxtw10dDkjwxKJPjkcY8/QPLWFmvM
pqtu52mvwiHP3MUqudLTOtEmOa8pZDnOieQrLRup1YB6Ns9dmU0tSQs1tFP0YHsIYF0liRZa7Zht
WyZErNd9D9QzBE5CeqLhuu5FV0/1/kFG3ZD6VSH0kDDVRg0TBjJ8kAQZ0PUJINkAKROv7XlEehFa
OxSSUlecKWgLig912vp99xHnteIlZpMQiqsSU1dzLu/rJPJrDh5BXskKZEqEDlIFueKtqINcFLmM
Bs85OVQ2E/T9mMCjXdXEkGrYxPgP6ya/oo8c8mQHeuvap+FQGWf0M9hg7d1AFuWXym5imL92qzhr
Q9PHbK6aSdBHivoVyH+zfPXbK4dEOSnoQax6HSqRNebTlI07mvl9tnhO+yFTjn27gCaSD1WOpnKR
xN0j3xs/phk9grxChDBMEPVQuUHX6jSEtqu2MWw9bzlHmFfUt5AgItiRrFHJdo7n3uxFGiQQgfOa
/CPUa4E4RB3wZajwUPUPpAXvk2D2Y3TQOHu9bbSx0zq6dKh4mANHtszpJkuSd/E/ft9+KGrWZNzJ
amJdyfGmfJQOI8EbexbHflgMGh8i1upeRuHWoEAIIwrNNNud27b1LBCOeC+d2rrbGxzheKOZSiDK
WKkDG/q13Y5gLxuCKp20/QBWrZT3jEAAs2DjTfTSb/IPUTt3fQMg04A03Jv0nvck/IY7rfNrBceH
oE03Ne5qRr2KVtZ2he6MqdJwST03/aG+iYk0eXs7nbpWQWrIjk1hoJnkl3COkK9oijaz4Z5cBa4n
f3Ogzf/elVF+yE96BH0lMek73gldQed9Da4i7yFpWlub/OHt8D94dfQI/AK3ta6ZzPpqlxGZXrRo
16Gs0z7WJzsPwQsIZ89BkMvuhCpO5GWT4zIK3VdIhPmt/hEfBlIwC02H+tO6kWdloDoIUCjea+l3
jT4CxFhIdtxZbpmpXqL6QbUNeGdudEvoFx1HiNgemgn02rivYGEIzbnNdpYWnaCrZ4EVHY5kNu9q
6mP8gDMxYMu7+Qz0/k+v0D6ixOSi3JIb6LLpqZ/LrSH/7Evi++GHyG7GPZqhg6gq1LYXGYv7OJ79
WgD/Uih/oX2rIIB+KBREqoWucykCiqcGu7/3m5RDubxwOTWRXfuqNlN2NhyChippPY/KI07Mpu3Q
91jRqp224IfqLPk5BThuvL79CBSbO9oPtI9UhVrrOV33Bzk2f9Byue2331wVjzixZsM7I5uGvpq3
mN9HcoICYTtYv0PsCBWzgrXZKoiqCBROIVmcZeM9T03P/cL0CBij+TYQ1oeqSpO+K8c8uxM0cn7n
wBEyNkHTq6nztq9yyu3jDFUtaJt167v/vaa3yv53E384f3Mr3GojnO9ypyNK/nBu8rMMo2E4M9zq
er8a64ghyyB5nTEozVbQAoS2ME+W7hZaYT74ncU3E6Vf7xYqaOdxzVvszST+YJbwfRPVntv+ELJQ
soAO9IRvR3ctObUTWvm7iXqv5YV/3esP77EZAwFU4DlKp/r96gL9oeeJH5sJqlqvR5dtH0GMdpa3
HJy904ok1QKJVa9JJ0csmUZ3IaxVL/EYjq7EMGbvAtq0nhNzqJqNW3pnXCuBEICEUwny4fh1l/mw
eo5/uOtCkKau9TLJap/SH+gdPamUf/7fQfX7bEZu6ma/bkYKpT3scCVBWh3qDoK9Zv3bktFPeoPk
h5htcX3reX2bdp3VaDjO2VWxxHhtd3guvf74Ie7Mtk/4+LrhaDtFsYYI7+Z3QpEjpCxnOyT+ZvTf
IrtE7tS3wCOUXd93q1fzBaoXrz8/gzKoRmULsWLOoF/YhOHbAXy+914re0SVOdaiw2XH4NREzTbc
d2EUPsfQuDZ/+Pp/Oy3/Nx+TI7CMURJvjBlsHWYS9WaMot7ctWIdpwsuYia+QEuPzacxkdvwGDjc
Ch512o3qaxwRejEs3q8pDaBFnu+1gbqCC4R4o/pki0s1jq69GS/U+4+hdq259BpnbmmSbvtJFKUP
q+6Wewep3gupjcUQ0MDgRahaur/wCPyWd+KmU/HSt5meT7iw0R3/OtmSh0B+PneaBzvUgOncPpG4
HlavQhIOhq+XFLjGEbrsCT83ddQ9r7nIH+M2bvwOWHKExA2BSAZ0R0UVb+HfLB4hwtm89dsuhxyD
u6ZTAbOiIjtwthJa35Dc/JOQxi0R/m6rHLKMMYFq9nkT1aih1XGd5l3aU+6AejhZ3BCaKxzTJPfq
rkGv7/UaQEQ9YXRNRBXogJ2psPKya9l89JunQ87hrja4IxJRrQPl8KvZPy9d/Kd5uk327+bpUBpE
YdMaMRlRMWh0fwCqmr6B3u/2feui4A+dzf/6iUPSCes8bWLIJ5/njQh24ss4jRB6ndBsv7YWjLY/
XKr/Y8mPqDnAEyCDD2n+c9MuQkAidouADgvkuVV7FpdAdPt1lcgRRNfAtUTVk8Sk9XEAoBv7jETk
eYClh4AOIDiCRkAvqgjPcQuxl4VEf0jQ/7ESRxBdCoeTbAcH9yQaeMtcczknlyHL8e7PmlWGXugC
cjNQ+/WATzA2xOLTADIdEBIE1735ko/wEfGKhn8tl365gM4uH9vWTV2VpslyAeY6K6Dh7ndZgWXy
629fW7QiiYl41dKMXvTqFDxaWq97HEkPgRwyHUmZyvoUre19WBOIczPPOT+EMfTw5TwsGHrf6bnO
x4tqY6/7ITli6BxU19o5F/VJtPFDmgQPIxw0vNbyiKEDrPAmhNvWJ93Z8b6b56UKEvLBb/BDdV8n
KV8dCbDZo2Y+az3RwuWSXvxGP0RpmIupTsKgrdJ21g9AvX4eG+cnDkuOGLqGpU2wxqatpIvlxeRL
fxeO0g+KSo4wusBteE9RED1vu248aZ49BinsXfzm5XDubl04mpkM+WlRtN0ucWw/6kkIv6YiPAFf
xycfcnhY0D4/9ev4LGDw1U2D3yF+hNI5vm2NalBIycW0RW/g7LLL5A+Z9z8uPUck3Qp0/g6GH4Jo
Xgc4RE0lPIo8U+JR1WuHSM+8LroFa0m5sm/0MBZQ4s/9AGkQpH496bly4FyIJAfRatjjIpP19DBs
ovXjQZIjms6wvu7TkUAp3+54s30HFMAfEsy/rdrflDdHLB1lOwwIofteRS4g60PYqgQEowbCoS9Q
ShqqNslh/ZCOq0rODN01eLssIlkhx6mZu4wmD0dYRcFi4LtKk3it6gzGPV4deHJE4W3BGEF3Y7ld
l6alubYkzMyZz2LuT16xeITh9W27wJ+Qp6dt4gwJynWmL3nCIvLT7wcOwT4twuwrfD3OZuD6rDJq
TzqnXp1mcoThoWRLiCbKnKOb7pdNRjC1aeqFr4b16OstrdOVzvWCwVcD7WY507EYZOyH8SNHDB7l
Bmx405tz3EW6JCLq4Hkif/hN+qGcHmADGYakhlVVzFWRBQEIXBsN/c61IwivAdY0pAFZzgOQNcUg
puZZpmT55PXtR9EvarUmERuXc5Dj1YMKeLa0LvGbmKPmVzvZaMBD7HKGRmX8tleb+MHCPfUrg44A
vD3hdlzMCqOlnskSytVQhKG1n+oJOap9yXyBj1eWzOc23aZLUi/QFw+E3xs7OYLwiI3JLsUyn4mF
1RaUMl5Ar97+kGP/42g7in0ZO0IyK3Xz2aXRXgj4RZap8KxV6CFOE2FYcLOQOu8Kci12cf+EE/fj
EhJ6KJqDXSs4eBJzbsCeOeWW8xL52O/xnhyxXztoEHW7orBKdfxjVuSD4rEfvRruV6/TF1doKQ+a
mnMbTvBR1XF9rmvA6P53lP7HNfGI/pKRGGMxkOzCapmsb7lRrbo4FsvpQieNU/B//8x/bJwjEqxe
SU2jDn9EEmfBaY2Tpuw344cEI0e9L83rdIHNCxa36dtTBhhYmQ/uL79PP1xxRYd0ADzjdNabdvCK
G7vTrGq/g++IBMs1DReVJNN5FWa9KJ7FBQSMd7+TjxwqaKdw3dgnO50XvstLNIuPe9Qlnkt6CNed
K7oP6PWcdcbTUsmtKwFJ9YP941X/9a7vU3g4pVmtz4EKprLbdQ+TH+en3AQG9OvRawqjXjjz6HO7
jLzcEyXLDDL5J68dc8SAmQjOU2ZqYLDc9fvLHurtUxf2f9Kt/49QOqLAamJtZABWPidTBD7KreDQ
8KX2y/Dx4a4Lhxu0q12eX2iA1vka/Bxk/+I3Lbde3i/dHAH37Br+GekFOl8wU153oBNhMz1/8Rv+
EKeRHMiwh1N+SbTqAcDtNsYfWST7zC9WjwgwPWcGVbzOLzls9ODXei9Dz0osPgQqhLjGxcUYWlEc
fzc8RO8HSCRH5BfMIOD3lY75Zb9JHwkb0ZLyzHpul0OYdqHky+4G+OeJ+q6f9NuQ+akJkiPsK0wA
KiJK0RMD/KHrg0fat++8tsr/gXxBRgiG6bDejeE0HFVUS/CuuVXmo9/4h3ZUryO45ZohvdAh2iCh
Tmd6f6Pq/UlP8BaMv7npHvFcbSA0zWzNLkoH891Sr6t6ntOwac7gqab1tVG75U/LXv9/XK7/var+
7kcP4Zu6uO7XbpS4tm4WnmmRbGWsz0Ig6uSF15uQxTgo2NUUPRlxtm+dm/r0OkjNOPwTIzgqw6By
F6u78toF9XcCuzZd9SEgraIgnduthbfxpMdHwaJMP61zbSN23QIKx7kCxq9NACNpkrdwfpzgAI5C
aGBYuiLJx6H5ricOK1Q4EKatupJdQO755HChT5uTG1c7lcKRbvsACTm7tkUCJ1ABmW/XbrBEjXIT
MFrkDtLw4i7SgkH6XqFnuagCvAJp8IFzOvQfdaxwkenSLvtHaYX/PJmRricGuC/MQTFDolxXG7fV
7swG1yURkrn/PqBpm8KDcIrCCPaIGbyYv/YtFflP1RgY/YDIuQ+TKqD21bkvN5Dend4VPBR7iEbN
pYUtaCROKYiT9XnHk018DmBfOpd1hp2Wl3BmdIk6xeuehLBTXFl+aROzK/DCxsHdwSWgL1OmV/bU
habNTmFLLCl5ykZUYZnKTpmCAG6xjQ0be+A3u4E38F/EfT8t0SHZYPq8TGM/pUUWM5h0j2tb1TRF
2YhcwpS5x2oNHJalGSq7Io8CqU5G9fG3cVEM/tb7lv407e7IRU9DIp73Kc7YJz7GafpMFji+Pu41
z0xzkjs4KvSSWxNBEWFnqZFPYGhkWC/dwpazL5twzxtzCaFqjGpMhcMu7hwjm/0xZqodmnJY0Qy+
pmAg5S/Rlm6zK2VP4STWZMFNBlIa2cNNNZRwkW2goJMauO06rOUwXOMEjbT4ykSf8UIwkV+Y4H05
sM0qWKEnsKiFY+zg1vkhNLM42wk56pkNjeleYGDc9Bm2wxCbS0eSeYORMacxVGK5kyfca3j2NVtI
PzzkMBCdLjwJDdwlrV7QzC/yLEljVFDLQggp84SQ7h3s0yd2gcCK2B762EboaocLtNV2PDMvawPu
VuhmtgDJySCyFkrzI5YBODPTmlL9IU1UlJ14PSfdD9x9Momggfvgepq7ZJifhQkb9gJ41qguHZxa
41M+hENyvydBLB4jbsX+V9vLwYAxMwUDfR4RtPzca+7iK7yYu/EzD+ADGiO9CdjgFqmiuX4Ol0VE
P2hX15kr6iZXTWVh35jch1NLhy+dZS4poXkfgo3eWBLlkHZOmPxZL7YR8H4cRfYjIWzUn8Eu33mJ
1yWcXeB5DO4JqL45w/88BPTnAPfxHY6h2rkXWFpHUak5IulnR7HN7xoBJ9ElD5tLGI9Z9yabTMpg
ktxq/n4UfNvfWhA84gAv0dANgAEjlIjZdbZL3/8j8HLDHzo2ElcNQyfrCr7R0fRgxjyN4fxJaPw1
YzHN/4qsqJ9BIQ/u8Yy0/wS1RRWdTZpTA4Gg4LS1e2bv4SGx7ncQDyJfZN7S/KQlmI7vUsdh7hk1
dRtd7dAadw5G3m13cHYNWQWHcRF+Dlkt6vd8zGGyrd0SQBOxC/MZJBrFYOS37nMyPc3hvoRXopmW
H2HcUQ9vTJKn/BJyMaSnZetW5E6bZBMcrl0fTU9jvrKfEpoAfVmjZWjf8C2ckEr4sNkzS4Zlak4h
XqvWB9FB4PhSN0aDXgNb7OaFZ3NOr0przYqlDib2g/O802XTz2LpiqyP6hBGR/D5vc5SzctpsXEY
nGCVG8MOV+5Wf4UBPb7glIRNBDnDDV/RBs08wQY0mPtzf5PkgSUw0vfzaEFMOyd6st/gM2oZ7NWa
HrqcsIJgTyiXmr9rhHAKg0weq5Ipmwyf3Qh/RggcKQXJs4KIfW+vdgFL9sXBn26qCz4u6YZ8v2s7
DEW34Ji2BTre6/zTmpUkn2DBMeFAEFCryd9LjHJbSL2Y6QwTR7x0nnsbq6QA97NPKplHuTivKwxA
XdFE8Ld/sNvcoGuxwcYqv4M5OWpEMNk4v85wWQsKmJ23wQeWiCk+wWTcBKc5XKP8lLp97z5N4U66
u3XZbV4ZNQT1abRx7R4JzHLehtHctR/QOYqdKFopl/wC1fhmuc8FbjDPDi2x7EJFi/NuqetkBM6b
8u1RNWEnymGfoqWkekoD8BYmeFlbsOf2OXq/hEKBjNHTZXnbbmEa3w14Mu6eByjdwZ98dRQGOtAV
L0Y75dE1Ivm8vEnmMei/x+2WyUcmyYw91nMl+V9EZjt2goJk23wemqyF0/C+b905UYLOH5lYeX0/
N21HriDRMvlkphgGX2ekI8lO8GUi9d87pJKhaT7zLrmbh7ZpgG0GAwt7JIOO0j3vFqfvdKcIMMMx
MMThedZwPSzWxfXxB/xm9mmN+LJ9kxCNByc9j/lAyxHyi00ZID/V5Vbr7UMXs4XcZbkG1yXpe4BV
1TplQem0WWApNw12A4FkTaMSDwoZf4vPTZI3m3VNexf0McXLUVuLwLwotQ/9PaC7fEdV1O/bT5wa
MyzW5zYMo3e3lxoSloSP6f60hzlVMzLx7upr1mHpITTL4G72aJGQxzdwv5ina7jwfLnbFpbDixzJ
gEMToME0znOx5Ihy+CWTZjdNObYwkX5H8g0O0XBNy9glpQr5rRDEdtObcIGD7vd9mjXtChjHbsnV
URJuzxS7n3/p5g0WNPgjyVC/EWiH2feZwCTe73E3bSfYzCfLHc7/QDeY3Bh28HZPU9ugeFqGHYs5
NetltSJQH9PIwVB5xZyt92MHWOibbm15W9KOD/OXTadx8lXFqcsUnJghVK0xU0Q2f/XQTA3fQrWe
5t8HKK+Ib6Mcxc17HYKIpFRd3KV3Kl1mOLYLHmZsKMbAwLy6kDCWv1V7kIxlQbKmpxkiDQO8sEUa
/ICqvKNliEO9u+5mFC+pwf4+i9BKVrbbjp6rSnv6OYmBiyiJy+quxF2UpnBEHFJTxTJN2FqQLVTj
s+YjB+U4gnznReedHJ6I0nDNLhgYWN+7YVy2SxK1dH0T9eEE/V28s+YvNOstv6wSTjlvx5iTL9kM
l5fTTGu0ArI2WNiz63WdXsKps/EbvD+R/r0U6bw/RF0/DkiYFLEBWDyAalklIKI6PdVK5jBrziht
3jogX4JyY61a38+7HUGIBu81tiVkDGtRpnnU6jdiRo+p4KqR45k48GrlBRS16JzVpO9PU1jHWImW
y+iJGn1zcmXzrfjJAK3kTZlnaxKflBnDCI7v++Y+d5mEahKM18FafNEgt5FPzcyGR5iBo+IqedMF
ZdRBFc6VyO5rkVpGls+xgezBXcOsxnmfbiHKdAICr14KR2iwXFt8QvjODP2SlnHCxpNw3PSV2BDq
X5NwsuslToWM4EwyQfIsoi3JTkQCHlzMJNovOQ4juxRTUnfzswF0Ku9LxVQqH8VcuzeZuxmg7tNO
HuYsE+E5g4PNhmMUJcdp2inSvpVr0FwF65Plxcg6Wt/3k4lKvJGM8Tcna7uWteX0DuUaXDMFWDQD
Ou3FtHX8ji8awhoUvGoctgQO3UuuiwFmSOy0TGF816Ae+GxVSh4aSCmpguXdOJc8ilkDzVYdF8NA
O3af2cb9RcH+6Z5ihI6q9m7e86cxiKe3oYXEK65AZHlsWBbvqJ0iOr1dAw3Y7rKlJQON/AnvOSBr
w7yUQI0cNOQnN2Xxx8EGzVnEHROFUtvysAqZv2ksFPRPAtu4TDYDJ29et3eU0vzRsMbdN9Emv7lm
7T7kRE5lG7J3MpnUx6SD+XzRhHoG7MRIIcZiC9vczkWDatddHKzq3B3MqptPLNr0/dK5LD9hO7NS
7WbfLv3UJfcO8EX60QZZ+qGRFqiFU7z0aXBXq3S1sqixczPQ5B0P/2qX2i0fk4QxV6yt2jJAOaPV
ulN70wO4SrftkE3JpshpOOuO4xzjHtOSoTs1bI2C+zWiYGODVmrD+4lHdf48B9u8XFbw/MNPO5Mx
K3NH1+XBUJ0031C5qvGcLHEQ3+lWt/Sx21YJs9emX2VhIz1ln4iROnwzEkP0GTINrockwcz4Fe7r
ufwacHgJd2Xi2qQ9hXPHl8IkLUrRfDFpW04SNYotahIQIguXONP+3LKEjI/rNqz7D5hSWZRDfMkS
7G6J2Ep00YEw1J2holPH1ZTJtnu3Rbj7n4eeEnVZUuSdE240TXodb/C785iqmLwBqaZLHoCfJdEp
yrckv0agTW3/tABjqzdmXjIdli5vVn4/jzMJWQFBkQzPo3sXS/cOV+M0xi0YkM39YZ7ljLzA+9RG
T1ohJD8IXFbtV5GI/EoHPJGRWdn0azQTEXxTeGDFNXkbEjguognNS+wOFEvF/+PszJbrNrJ0/SoO
XzfqYEoksqOrIw6APZGbFEmRFK0bhCiRmOcZT38+0NXdJdqWTleUo8KySGxsIHPlGv4hHEaie9cO
czAWUet+cuD094/uRGx/6rpGmWkgZKNxXoWl0MaPzrSmmMJrpiktr+/DtvBVaOXmdbe68/JqQ/fP
v7UJbLadm2JbeLfk8awQHBBVe4PHs8jmXTmi7npQiWZWNw67jIioW23jEp7iWdIsjEtozcfU0uPp
aGVxpheBvbakAF7uOE6EDHxF/UHGlzb+MtZbLoKNSz/dpn3bRtNBZVHWPuadVo04ymu9OnWdGgRv
bFVTGzRmPo+fMyXgIjlxprrP/ZQ1476O9ELzVTYYl0kThY7fMAjvz0ua2hGvRCaQATu67H5bjw1J
aeMgJ/M4rKjkQpBuwnMVmc1hCmf3rrHMpSc7EOtaf1jyPPdavEGxurejwcJfzE2r/TK5YvEj7FSH
02p1FGixGqTX9VOl1V4/9FN3K41Jxq8j1ibubs0wsQ+caTtXvajDY+IYkmafE6S5WHWWUVgXYYo/
62UdLdUn5fIQAqvvbSP39ATIw2OXr6lGlrro2mFeWdcH8gBDXvQcAemXabKSAyWAoX6rkDiXsS9U
pCd39SjiGEloo3CSwWORCct3iaoL1ZwGcW6VsZFcu+mkr37Lhn/IDFHs8jBxSrZaOFxUOh2MK/oV
lrhxy9nJLqaxVc90Yp5IPXrTwVLFAQJe4RFj3pVmFH5GzyJNgqggKCZpm131vU5mtiIwMp1y6cZ+
vS4YjkDr0I+JbK38qumtLr9qw6G7HOq6Sr9gEN2/aE3WdcE8aLxGe5aP2WBvw53M5Wyf7enRIZfo
g2htyNXBNfWzl0+y2ENWVo6X1lNEbsCocsTszp3p1xIJO/o7fXo9wTLBgdHdOj0Qv9vHjGTMMwUI
9BOtdNWdrcZttBtLAuIDFCTLaDyNThT1OS9lWPQORneYJrtZt9xU7lLXSW6jBm/4nQF7pXmdRzMb
fS2mc/UZrQbccFvhdvaujM3FZGkm5sc2oR45LGXaeWZKAK29cWhxsYvMIf7qiqIzH61piEd/KTqD
akfa+Th76ejm2m9JYoTP7paaHN0ZlvnD4tQvfZb3NumuagyS2cLOhqPCE8T1ldMWL5Vgy3oulh0+
tiC6vcuV7b41/zJr5SEs7g59y9CmlMFUfT+bcpJPdaQp+MeJCukMaqpAGamrkSgISEqK6UI4VfU1
z2fLIM7ZcVo+otSmUt9s48k6pr29fKN0jtbLNjfDlyLOVyXw/15G81zEk908aKHuiBcDywzxjdIy
pjOSRuKsqjYjdujx4puR0Uw3rQplDa+D2ZIdOZF+k2iOQzeb1EO/FBOCons1to4ZzP2qW7vRGbvR
y4th/ogmsmF/qls13mqa3X1yQ2k8gP3o10MVQgI6ahWF8ZwX87hzbBdB3zUd60888+yyNDJgbU6K
ATcaJ3Z1qmKlGl/UZTF5tRZmTzB1Z68RkLfq2p6cy3autRvpTPOVo9bY3Vch0gu7XCzzocFW4mDU
uX6y8WQm5pVW9xirSCwf6qiCPTyO6P14ohnC/uM0IPH6GQERirNumez4idawJT1nXHgO5pSmhAVl
GVZFxiHhH7t6/xDPDkmiRSshisgyUqEhDytXLWiBwYudcCP6JhP26viUyHZNDmat14/Ir6fZnelW
kMBnHBjuEm7Es5LRqAefsL30k9fSG7M+1Fksbd+quZ2Hqgqnap82YRr7pi3r6XnDup6qMi+Ky1nK
NeczMq27ywx7yj9YkZxI2JbE2rturVVHIJRyuqUVXe4IE2W5b4VIu8CMx9wALocx7K6adIII+hgX
vAvaEWEtqppyewK0PC5Lf9dpcTr6pRiM/ELTxmI9ID+2ftMEtklejjXkZbRWM9sndHkc2aTvMmUP
ftP004VVGSSccVJeLnUs7kAvNzAE0Hekz4FQg2XL8ElbgZPvXRgyywN9pnnkIOp041vvtpEp8cDJ
VtoDXT7U5alkQpF8jtemK3zeFIR3N4vJzImY+Vj4cRPW6JcjXqSukEhzpa8mpx5Oc2U37kHiAY41
ajg6buJpAtnD/aSsbRNq6RhFuCs2VEwEnyxI105Npx5ShvLMau5ztjHzrpeBszM81W2vR8GIorYO
ErMwbeOxssnQgnFSbexLe3Tg+vTOkj0mDjI1gY7efPKU09CwvaIc4vhBn1eiR6RpjnHhSKMQfqHM
3AwqumGjX5UjrS0PEtQcBSnkQv2DXTete4shSDJ6CyrQ9W5YQlF5i7naZDCqNvqvWourgiegeqhb
vGxGeYiXepJfHb7U9KkjQXXOojNy6du5zMybPJp0RJNrioI46YriboHAn+3NtNOLxROQ7UcamHG5
RhTqPS0HFvVMUohHe9hgrK268Cqu9GQ9GbY+l1eqpk/rObU1oZdex+2LLqwkvjbXsASXFOpZeRzc
UTNv4E1Khz3VWuvE/Kdc6j3+jVO7B+lWFz5TFTE8l1PRaRgkrr170nLaKU96XmxvyKHwCYxW1Slk
VAqw4nqgf5j58Cv6bvDQYjHMS90xBcWl6LXymICzGJ8nc1FdEDpO2B8m4vUUtKKus11uWW4TmDjS
9JnXtMUS76kGc3UZ2sivAb7MN3sw3NKqII0TNV+EvS5dH55IpESAEoPOhkrCgnk2o9AqunDG2VrJ
WfraPtIkqJjWN+R2Hn1YI/MgjK5p0LAM8r09D0bzIhOR5Rq1g2H3Fn63iJi81lmRw+fKmJD1HKYF
eaLta3mrDo5Zm8t8ygzXch/RjC7680RpP9d88cRObXKQ2ao+CJnk8yeNb6M0LzZ6qxr2m5o1Beno
rqN9PWwV9GWoVdlM8gVeFoGpJYyiD0thdBQr7WA5bHA7o2clfWYtgmpV7wpVfk0WqmuwfYss9Je2
H7WGZEAKCqaqh9s44lZTtRedqgb3gyB4RKSKbrp+y2KmEZ/TdKqyvR3ZpTbxdGurxIvZaZNbm3Sf
vWwqaYt9TWrUvMS1LSbX6w2FWvMk7cG9N+jPJdi/0P/vn1VrD9ljrQ2VdlNFDHxux61QRbFgcXPT
l2ODrjG0ubrNT3HB3ItFYtfWvpUUPs4OH8WhuYQBGInJX5khVVS6SSsTGejC6d3LqWaSdCa7dp0z
aZHdfSzzNGsvZGRN1UkbMGb/bOl6qPvOlrPth6rQBi+X5qSdKx11qltt6IaEGIcMva/IjMvdMhRu
e510PUSXQuhyvF9zII2+q3cMeRIrL5GYaSOt/+o6XR3eW1NH8C/xN0jH9UJbse8mZUXXMD9NdWQt
5FNYXPuGnPvhuFSlso4tXfbpkGfOqj/SVRTiIsmYBPq1XgAA2MEn1ls3YG2u9La2jpq2b1rTHHzL
KVLNY89dOXW32MwaBfIYe90AWt3sE81g3uOUjHgWL8dizfWWZq5F0MZS2Md+HtR6rO1Z00sk3cxp
UPT0IrzSqkEZ6VkYbdc9ig5V9RcZ2UNxJrFN5D4X8aA+ThOjmSCP3DSCnQgg7SYpy9y5DKO8zD5O
Lg/mcjHdrLvQByx1rkbu1cTRfFnFTTrIIrqY01ZlDxR6STj6+kC23ARp5Ra0rW002hLdH9jMteaj
/eEsdcAcULpqnwEH3CSM5W8oGOqd4SuFAGaxKxgFdcOJBKzlwfYyrdsbzumSxjNgHEZp5G5q+Wjx
2CFXKRFn6wPTk3Dej+zkvVpXeaaIdrRLUwsViZ2jo15nbmM81zzoqePUhyyVjTiveQXz2jCXqv9t
SgaFaEU2IB2y76N6XmLPmBwhmXGagK70pnNH36Gx0X0uRiTrbypkFzpzv0m9GvQ0ZoG5u9uuakx9
VUxTFixFuznK9Z1zLdrQLk82TN7p2JT1YAXRuNTl2ezQqaFFqjNvrZZWDvuEJr7haZ1haHtmlH0S
5G6kKDvrpqvJkKwisb7MEhf5y3CN0vkOSQa7p/ceh+36zSqFFT3XWaXnJ92C6njS6fo2V6gGtP19
jiQ1uU0p7Pls2Fq3vC6NSOvzskRaR4NvNl1/VaQjHv3lgdlK0nWA/Zrevhr0opv8fsE49NRyC2kw
rKaZ+WDjHWbmtr3Ba0d3r0A2X+cjzsAP+pRF3VXbr0Z5IbG9W7e3LUO4DqpfcIbvpJ0+0+bTrCAV
rlZ3iLVSz/hdyWovdmTWGQckgXQr86e2nj4orR0tf9E0o2WzuE0LXaIW2xNUNe0qMolWqA+dHHMN
uYFEJt+G7Xz8JgfkE+CSi+jUVGoxPJ14l3+02tbs2XuRKJreq90OVjUtJoyiZKwnemCZQgNeY0VN
eG3Gsp/2hFG0EMe8TMaXPp3r+VytshCf2nlwbIqXJh0ulkWu8ydXFvX4YdNwtI5dMYRegdhN45GN
RluzvJ5HzlwGmDfusih50cUwDa4ZlBQQ3smNV1pbTUbXSmBcaYv+C8TVxvUgFpnTbnbqjK5d28R3
wCQMMqIRU+a7FGQj5yIeG2g3qtEN1aOsdQXSvNSZZ42HMmybqvcS+H62V7ngCCyf2Xc7vNBIimje
0rDR+y90K9ZE85ye9DX1BFG2p4eYV7A9PETqqTv3M/RQzIHK2Xbi32BYL0PrDRMmNs2hGHuRpP7U
oB9OHqo7szCC1oqBcgT/1rU98ryacA9Mqqze10EEdZ7m9k3oI5RsPVj8tnY5TnFUn1S89X4jyu+5
3mKmHX6ozK7d0S1YB0DWWqid/i0cZn1eOjs/ItQ9z4HupNXgrUssPjCwKofACSF//2sIpvfKQs5i
l0VVdvlOV0+pfe+M/xq4/r2gkMitkXEN17WSO5emRSL+RQrNezmhCrVGFSZS7jkmdZpIatSvOqJ1
9xMO718IVjEy+B6oRyvM7EGkMZnQ2H9NXCX9ZTFpFRqIXVvTcDLHFFsAqRrzZu5o3VJgpZruV9rM
e/oxhGpDFf0Z2ugdsCxiRDMnWiv3FW6meZBAarkCPNj45GuMH5nFuacff9JfganeYUHbpmOpgSne
IwjQyI/9UoVDUEfkucHEyYQ6KfIPOVnpvJQ/ecJ/AeF8r06Ugg/jNDHF3nHx5OiRndk19Jp/8oX+
6urv0Gc1jn6djJUAOVI8Z63xOLl1+BO4+F9d+x08lDS9KeooFPsF2w8vbpdTMuTWv3jxdwiz3jD6
shocsacHvWOQmnihQefxx6/5r+78HTw0nMekFypx9pGudZzpY+gZMaf/v3b17VP/CdtqZrUFOojn
Yq4F2ry9wmVyrT7++OJ/sUJ16/uLO61RTPWcslxiqcxvHT2lydedxcRXyDWL2qsH0NhHSE6i/pfs
+az3MkWxG00SzRaxxw5VfLKbtrtODdqrP/5Cb8H1T3b3e5EimS4WbaHI3heuiulAq3KZGK7wv5fF
6J1Hm8yb/1LaRukckjq9T9fk3mCliWPYJUNMrRLFO9wZv82jhXWz10tSst/v7v98nf89eqlufr+P
7j//gz9/rWqK/Sju3/3xP++rgn/+Y/ud//6Z73/jPw8v1fWX4qV7/0Pf/Q7X/cfnBl/6L9/9YUde
3i+3w0u73L10Q96/XZ873H7y//cvf3l5u8r9Ur/8/dcv34qkDCh62uRr/+s//ur07e+/MvI1jI20
89+msttn/OMHti/x91//b/ntS/Gl/OVL+e2X6+Rr9fyl/QWsDn/s/vRKL1+6/u+/KutviqRBQSfU
LWmAYfj1l+nl7W/Mv5m6YznSVkADhdycmUrcUOO//2pYf+O/IP3rMFeUOhj1X3/pqmH7K+dv1DhM
+11pCFPnJ4xf/+upfPfe/uc9/lIOxU2VlH3Hhb/fONJ1dEPq3JnBnemgK98dJoyVGKMlM4ZCU0Fb
VBTPZe1mO0vKziPFrvfVmr/2TlKTKWfPlQG+W1Wa4Tej7i1JBbDTLel2zJNgCJw8jiAA/X96yP+4
5e9ucTtl/mcnvN2ii0YP4iGSJyLeywFZIwxzI8PvxC3C2aPENXccR0xuYnUem+YLkKprpxuCLoK5
mDnNzwzh3x32/3UDNjJHPCqp3rNnzcyo3YkmL2pH3IC1zqMPEM6iqxru4qY2/SEMQw9++sUQN4OX
Gj9lUG4R+P0jcNxN+lXoDkiOd0Snzk7MNi9ymmGYJ4IilffYO18nTfkzNsx2oT9+EDbrUJmVMt+T
kZw17HpgHg1SrmN17COAVLKvn6qmANu/MPZBpK3ym62FPk6T8mWol2dtNm9FaZRnWrPajult+IUG
3bRrZ1O/g/Y5+tu+ODDja09DWS1oA9rZTqOC97IMXIlwqFpb0G1wxKJ1Hw7mTaMBFItDHuTSOL91
YXcCiOcGdtKEF1GpuQw96+XQiZVBfviwko0A5FjvK8MVdLum+XruslcDqNyuG/Pn8q3kRxN+ddXL
GBd31io//XiVbpnD9w+OLcEoRTccW7f/YGwn11LPo6RBKtUK3R0J0W/gPGl9t70fmiZgnzhSdKFG
9ZMc2tw26PcfbAu4StKVlvkWRvj7fzpei1rJulOIZbldnO/cPk9PEpzZ0aR/F0QWE7dErrR6W1Nc
FgsbuuxAJUq35IXmoKXzONoPYBd9RsssacPMAqYzLkpt03IAJdb7rjJtallwXbsfP7M3gsW7ewet
LgHw6szw5PtkT6cFwQQEHS5lmGXQ0BW+jOIMqvAIvpChyS6TPZMHGMrX9eyeRgtAaBZdDHSEvbBw
Tr8HIHveV+LsgAXzwBFRHGt8aQmUwAN+l/g0Sb/++L7/+K5t2ummI0wCksAO9vtH3psJ7YWR28aO
DfUS7Ck9FyWM3x9069TKb4Ze+Zqdmz/bn3982cBnTeUwRzN0wKrff/JgFiHdLvToQgpTfxyU66mk
/9/Z7G7xznYs01AwqDev2/dCCiXwI0tr8py2viwPsm2yizaMn3/yEN+Yn+/fPt6yJvAEg7H8ey5Y
VbRS0rXND5WZv4aYwm2oMVV6EaM0xqNscqVNnC0j6LTSWLOLQuSvRmSvt/UKaJL5BufOojCQHJVf
UEjvGGXqx5xCbA8+1/Rb+ge+Vbr3mqMxIHfktTkvLWJLgxtk85B6o5GrvcYYYZfkWGXjN3TQZ+Kb
MJBCA1wNiiThx/DUMc665NbSIdfZHvw+gx66kqs2e+bKvzXzrB3TCDZAbSaAT3EvAkFQ23vT7B7n
3mUoXE/gNnoA52vyLFLrtqjX8CKsU9CJVvramkN17IZY0awpj9qs6CLitb3Pq+S1jUJmIhUxt7Ek
PbsRxwDXYH2XUWf6Y50/OyNrEKz5Q7PWK8A6dR+zOEB0Zty3dVsmSjtO8WjuLLN/Mkp2+7RF72XJ
uk/1LDp88mjUznNpIuPEh2EVbX8x9IWwDLgsyKfkuYtmcGVNY/qRkzd+YorPZUubNhoK8w5wI8lD
snIQr462k3n6SgXReWPUu0GBCaoX9f0d0lQvTsbpidHKOQL7zoiAwD0NDNMyDpAgpbT1i1Z7kqCo
Ajtsla9i4GzCtUJ/sLt4TywD+yaSZ8vmdTAKSHyt4wTOF0YahV2cRV5/TA11z+SuYBu2fZCFbnwg
+bE4WHDHyC1eTdm1dw726F5RDx9IMA5AAp5bHXhpN4CA0WTe7dTG7SgWgmXbpI7vIjzdNPlrSf8T
dfPxsunHy7XIXnP8Yg4zlXIQIfLqdRMQ6Mm6goyI2FY5uoGpy2v0yyEkMsmhU21ngclgIwhr1nm1
HZlLRX4FW7EGQZO9apHGiuXNYgbyKqDV+ZneiMdxg5GX0WaADUw2mMPotaKDDLiYaE3b0w20uDrP
sks9cDRAZ9fi2aqK/ANNceYGo+Z+7JDRWdP42bH06hgvenvphPJe73O+I+np2UkHcqvtxZAZXHdO
CyzU4PB4W7vLxLLRawVEKczpH8bJsxuSM4rIurXcXB36JX9mZIsJFSvc6Nkabwu33UDPYTnv5cxU
AuDKgfb6fa1IZOJGz37fAgUrzDCsWxL3LgCxyoq06/WqnHlZQ7JlGxrXq4oNyRazgmBHgG/U2S41
zrqeaY7xedI1bWdMYeLXLou26pPntxvndslihnLdpxpnmlJ8b1MM3acBKM8eHVjidT2z1WRcX1VA
AnYJNCVfLuDX10aeDGfmngooEUkPGgLQ27maoNOkWZju5z4svYIApuFN7ikp+B2+B0s3+/0FF7q4
NfPmCeSA6zlz+to43HXYpM9v4WKQ2WuPNLDnjkSCMo34gM4BrQSG3a+dJfUAp3d0G3mIFAPkQyv5
FFmy9EZhHEG8p+e8crMga4hKBKps56z1kzCr89vpBNEDL5iIJyAMO7wwnfR10cPwxgT0VJAk+YmD
VBaw/nqP/mNAPP1W5gQTy2TlMr7pvK5LHpCkIuRpXHck1mZOxQOZxaGV+XNPfrWFM7qhhLzcuX4L
SoMgvFBTPqUz95YMzrVZOeuxycUt9Q7a04DuPLx0nuFgpr6LK5KHr+k/qol4S1icxNJ227HjVPL6
7RtOS/a6bYkmEbfbUSAd87avubG3d1Cb6jpBd9PTmQDDUTjjoS18o9yWTcn4KTQBQlVG+6SntnEW
bQqbJcp37cpSwS9l+T3SuTbBBFL7fbUIIqqzajuiyfQBRFi/mzX2L/ARczdpK7/l2toxB0V70W9v
Z9ZYeWKtzmsE5JA2HP+pXueLt0ic0PAMEifKgwnwEjuYNGtZ3XuZ183q8RsOd+LO+27mb92OFzAk
Q81EZFj3WlYk15XSs8AVNcdPR0RgDXP57VzB0Eth6kvynDni1mjD3RJny8HCtcjLFh7ktsLmlZ+k
GXAriDT7kUE5ToMsulYReCAhdl4xEn3ckVdjKRKK7e12afuUlOxwXA9NnyqoBPXCBZuRquAt/uZb
dAybuDyUmWGBKKqqY5N2/W4741rFB0Qxq1oMbCC5ZmfH4a5NZmM+fT5Ie1s6PCRpvhsmcGVamC8P
gCOqo2T661nwUD0d9ZK3tVL2xXPqxq9QCO5DPV04MFqmQCOPejttQkVczHq2QIgcz9UscVdyNEf3
cD43PbtvM+xYQMwB7mj2yJKDNGBSdz0BJAkEyjq+LST4lyY+5nXFgbf0zTVRsrlM7Lg/2RMzl07Q
vpqteA5gNDHOGyZ3V1UqDFIGRl7FLBvoKsy1Y1uv0TPaiAwJLODYe6A3o9dDoj9APiLVmJPXqqme
kKbq9/gbFl8x/1k/WnlaX+plNgdR3X8EFhwdqHOSgPGY8aTbBkimYinJiK0kAIoSBpa16kew63ux
UiaNVbSlBvVYnVoRyxtjAAA0AczzbVxXWAlNdXK3Ai6jXew1a3ttGbG9l/ZsXOCC+Dxo+Ryk0gQE
kEEuMKe124OxWS/Xlu3EWP7Z3cq8StZZAMSQ/3MZlgkxxaDSIALQw8+CuUwTf9q0Z1BW032mMFBd
88gmRwG2FxcZJ+/CExvN9gXtCG3XjyB4jabMoQPV/c6U9gm8G2ywQnpgT1aP6evECBZB58zF7bw2
2tRPUjvk41Mu1nMx2xi49loChzSMYd8O4iKvxs8RqJOXrG/jY9G4YTDNIdNt0/mKF8oujZavw0zy
rBkxQUvTO79C/N3Tmj73WQ3QaTJarI4BMAGgmKlTwyWOZybWUcMQw7c60EdjZAckzzfalPk4pJEm
6sM+ope2cyPeaRRfaVN7yUyzYhFOD4Y+XbR4XXhuQltSKe2ldlh8cjKznTkbJjQf7YvoibppY1hg
guzbKEthe7T6udWsLCgjQiYaukwuE0RJmyTWg24u2LVb5bNmMNH0lbCUDMmrMVdqH8fkT0ZIpKnK
eHmweps5tTRXLMs4gezSCV/RBa1803Dzx7Jhwmqv+tNoEio0o3sq0YTxiqxpv0YrIyVO4mG3OrI/
ZBVJMH7I637KNkIONVzmpRrQubc4bmvZ2dI55yKCg24IVI7GCs5W3fJbW0UvwO8E0mKbMv5EIlg3
bq3ZbcF4JZnfFqxbWKXMViJ1sKfpWY0DFI9yvI1dVkyoCgD8JTZloLVet/scXf3WoPtw6ByDspDT
2lOk2ahXPoMze9KzgRxZ6LcdVCsPSA0rFJr2hWHE+ELqkoGGjG7KfDrXi/GZArLZ66NoLzvdbB8G
Lfst5UwDt3ZowPVcTC1BDcBedgX0VtuBMnJp0fZk11s4XftivcoGTrzR7cEaCffeSrLneinOJBjz
zYqqEVmgdVW35DWaoc5GmjjUjW7i9+aUQNwpPipGnmharfvezPmu4M6hJKXxjQ4X7LdE59mXpMk7
I5On3GaF1TmrYdDcigSLZ1rkE8/Zlu5jZZXtJbzw6b5oNB2aMsvN3JpXSbT4U5bF/uIS10KQfrus
iWecVixzgIKxBemCagWrLHLvrl/5suSY5opJTpmgVV611TGPDFyZh+5kqPS11OJXAERPbcs51JXi
GtafHryd6P1MEbalO822ViOWyTWAJ6o8cgKKa3OXWou2g8fuevZ2ZpZLBadgq1rWmQaRhA8YDFH7
VBUcPeM0TB8iAJaAUXRedrk5cABQu1joTHpKz+cPmdNnd80wJn6hGzsN8KA/M/LB/8Myd2+nXNtX
5TnBZ9MH7eMGkauMM7L9RH2M+7w5ttbPhSVjkPOz8ulajHRABgG5GVLZoLGa1BKGX/Kp4ypt8aqv
uv5chGN5zjn13lY/9eYOIEdyQbH6ShOCb5U7d4CWD44yb8uIY7ILObnSWnvZGlXCXpvjEKnxSjS8
kSXbzsCI9QljevQ7ciiCQlTftqosOMxUDUNGA5erx9dLQhijGZntCglfIxP9hTasCRG3Bsayrju7
4eMXQBXwc0mwQA1/yNsR1oaNsJkWT0agYo5hVjtHHA6V/ljat29nr5rZp7Ed3v+48P9jx9l2HF0a
EpFuZE3fG2EM5qDXcYXetb09pq2ksnu+tOzmHlS1fZtErL8ff6TYZkzvWw0OzGPdMPlE/b2P+JiO
UHTTBWXqkjqXYSmD/r5/amr6kKlerPtVMzIeHAsLMOa6hzULjC2rH0XzyW3qe+jREKxiaustsxmk
ru0cKe+zMbrRMXv0rQKKDsJQQxBPgJLqabxxCjAmptuTc/fRw1vv9K0sk4YJc6eIX525H33Qm3DZ
1zKYtN44mwAxL5x6Ls6zZpBDjlseLCm7emujx4ClpKRnYN5pOhS4re5DEtu9G9xvqYYYZQlHBED1
lnjGSeU5lNmBiNwQEJ/xMxc6449deYYQFrMJHJJoRLwXUErzBOYcm/MQdpSxLg5jF91AE8SBIu8U
mXhE0ZpYz+jAzwZ2uAF+/yev9U/6cK5ifuLYMGu3Acb33TCE8RuRmNlwSGVne525xkdYfBx8TmN7
mYbUVeyMuj/miRX8eEG9zfnfLSg6Bspl+k2Mon31/UcTTIwhyYA7QZcbPeBXMkiBrd0lk7PxY+r6
86CniHDoK54XIr2pUN3+qGoIAtZsPP34Zv7Ys7fpjwppM57QUfB/dy9W2euUm+Fw6ELL3eUN0P8m
4t+Q/bmfu3YEK6VNQTm1+TGJxv+dUeNbs5A5ATegXF4Fo6zvn0TBN7T6UusPjUsyltHQ8bEM+Jka
1Z8EDbrM8BuFS9/zD2MqTlNTMCUD7wuZ1B/Qeg3adP6sLd01sPrflj5PfjZ2+pOYoSyhWEXKNJj7
vPtiaHpEpCVFjzN72l2GPQ3zpLfbE/uTVs7k3sccn16t0z2DrfhczPlyGGej9gCfD34+Jt/W/PHH
b/p7xMfvz5o5oiN0Vh5N4HeD+hpgbqL0mgWfpZ8roGAvvye/WUqOl8/NTybc72bQ2+cJQZAGL4zD
7DaI/P7dDqbUnLDMuoObyGuAm+gNa6LcVaGd+DpZs2eMzhc7Tx8AfJ5yXT60iaPBRZyuBjMDWA+q
axXJ+jOh2K2//v3mE0KZQrDU2WfO20jkn0YelovaXCSj7lAgVOHLnOTZadj3g15yZJrmaaiac0yT
7BM+QvW+q3hFUA9p6WrVkwFsykP4Df5abZoeZlgLSYZ1Pf0/6s6kN26kzdZ/5VvdHQscghPujsmc
U7Nsy94QsmxHcJ7HX98PVYVuW64u4QMuGrcXtXLZUmYyI97hnOcYXRN0SfLitAe706cQ7+vd0rlH
q7XuTGqcXiLrgEmTbLVObpXLpMZFF7PpCuSk69YxdXRM93qWbEQOPrG11t5ahwKSRUVObp6W89Yw
ylrXdq+3TAKT6/jPT4j5+3uzbpJtBviO73vO232ubwwTDE3ivcmDmvBQ1nLjdhIDxZgzF3PrbjMr
Cx8oXOqgGwb99WUyWkWqX5cUhC6j2ohrZ8Hpdar0nnQXdJLbYa2b4QYtuxaV5RUjCfA+HpNQmb97
Wxu/r7RcGzoKOSa2w1L6raiDWQaHbkOxSVHaYncHi8hMDc2D2zz1JmYEwDoXz0elaqBrDbQs3jWj
/l7wwO87V9f2fR4vk8297r7FYubJgsrQlfUefcTJHHljTJ6EuBicd64x8/eThtWh4fkuG17XdN+e
NGxBImyQ8J6igqlgQhFizOmyq92u+JEtLRMO2JkbACl0RSsZskgbfpmeeOcoH2Q4VuqrSQsfj+yb
cLcyC6QF5P1NoUzwdwqad+bbl8ZiN29ljOFQ42jv7PL+7kNjgccC1HY5NX7bHBd0rqaxKGKY29wI
zUzAPCqmapO3VJ1TPuGxH/tva780p4yf+lr9APv1zon1+wHpIotgn2iZwGN/uyYys29deBfVHkrL
dwsrzYa3gR+WNeZmnN/7aebvNZCLc9H1VwudgRnj7c1bgjXBAIJ/lupml1blHK5ryaU14QMY0maA
S0G9dCw5TE/IG2AYT+VUpldOTnEvdKTLnjFfZaJeDgONd5DCvQqgVOi4l9rhKrHGdwB9v9+j/Mb2
uih2HU70t0KCBntZ3k58tVxtjvdlW3WhljKB6HX6J0bZejjo2TtLy7+pvvlpPBG6T7lo22+/SWgy
vbGETbSPEgabdWkJGvHJvCS4mQ4q75inSoTwRtofW8ZTZ99iULnODJm3a9vcLPWQdFmfOEQakg4e
DYNQyzgxWjF2NaVlZdFiKoe227K7J3Ohm3idiRQGjRPieW+HQY7TLLaZ167rF2H28V1KR7XJS0sd
xOKKvUyxP8SR9SGrYQgYGku9ynC8YGHpsFNQAjciAj1jrxtKpGZ308ic5HW3UWZCD9i5vaydsBN3
/LgJpokRfbG0CU5K1Y67ZXlXIfa3x4YDUNfgzRU6mo1fb+fKW2LVCI4NOXfqNs1ZYxr0EjvTFl3A
YLnkDqTJjX3zK2Nzptk2H3Qx1l6IazDbFk4zIlRnRvR61ufmyGp0joFPiRavRdeZn19Xm6LCm+6z
rT3lrLuvVcKH8M+X1u8FrMf5SvGK4kQ3MWv9+kIaKVjBNm67L1wu4x6EXpi761dCqOEsGx9bu7fk
nwVmT/TeQ/rOnfnKff61nvAwNdoWmhfkUMZbfY/vTak/TuQb6hlbtNJsplsjZd7vZUzCrdoXH4vK
zjcxqu4joX56mApuyEljjk3qFU1cCpKy190c8zKPKXcXGyWXBRAK6i+60Z/SuXzSWoavr/sHRhuG
xpwvAv2joC0+2dW6DbAZsicMJfd6vs74MN+zSKviu6YexUc9s0PE7ZdmAOJgOwsq01Xzkkv/B/+x
9Mg0/btok2xPGvC8x4VjvlMP/01lgcPeMzzD9wW3srPeYj9VXZBp0iIZVbmvWVK8Lghysa6EDTZC
VczXcOmyMZDpcpz0VH/1I2yi+CPLg+r4uoZZ9B7hVOOjwh/1u2w932rnUaBfZC9efS7Y6IdyZhfh
Ygvc//Mj9vu555kOFQXfe52e8W2P1EMIa3MGL3vNE3uChdibcFSkMy3q6zQKq8g7p95vxbPLM0V9
SlMmqGT0twFGygCv0qTMORhtV8FcdW4Qr5v7111M+/rx9iyFBs4XlByIRvp1DTh0+B6scuq3Td2k
WxsxCyAnzpx/fj/eXpSvv5xNXcv3bVUNrX/+04fpzF6SaCnpSrGqYUc0/A44Z9kCsC4jbeW9BIC/
+XHrVxylkmXQTPx27WCjaVlEpvvRXp9aN79AD+BEanl26B3fm/e8Jo39/I12OeM4UVB0ImQz6Bx/
fXmqGdg2NrHaK6Xwn8eD4CxsSIAQ/o5Vk6+CkbjCbUyweGhRhh5wHUYHPEjFtSiF+2kUuX+bDP3B
sfob9PTTFs+WE4hxqLcj39GQUUd7zryq2Pvj7ARVV8SXwkp81Co5282lK3ZtzD8O+dxZd9d3QCyS
I8ETBhCMFnNyaeYh9tTqQA8j1AYHwRgKaScb3VLDcYrGHRPJetvIWuxzU1ontBwaG5X0psWYsqFt
swBGYMMVRhNfnFpLIPWl8qagT94tgzaE0H29sFf8gTK1r8aqtjPGur+bKdR2eRYloavo1PABD4wN
bZOJINzAIGZPHRa4MU8IVG10YKmfhE5eFyQBivjUAxccUVoUKSOryNpbbu0d/JjfAQbf6jR+qDpx
IxXQRI3p8NlzNIhb2mJ86TFB73GR2+980d7EICJ8Mz2KMBMRLaeSTr/+64fty7rxtYxbHgWFd3jt
e6wM1UjRgkVoqKUSM9dvqromULkasbwvs9ia1foBlqkIvaYD/5P01PVu4yZhnKmXzEywtiM9DLgZ
HOY7g9gCOktCjwMyFEVT7FgiiM06ldh51qI9zuUoLv76zydld9Mp89F2UZuMk4OSxO6tbd/kxQHL
s/fO9Odt84Dsjy8U32DqGA6at9G/nJyGbeGs2qlm2TdqDhgRvXNYvD08X3+Eyxtt+7pj2G8znenC
bAYBQLvzKanCcmAWOjQDbUa1IAbprJr3RnuvK3pbFPBDOTsFxQ39BMfGmxNKarDqHYXLpS7desvy
C/PbQgzNIFMDwQArPQ2S6LGE07UR3b/r8FnllNxz6Pwo4BluMnH59ama6zwbkhxQce9UGnt5sogx
sC9hkqw/EJfVsfI7b89p98jYId1nwhk+/PMh/aqA++UYW38H5tUmvQyi31Ug/vMpzdemcc1Gc3YA
qogGmOv2kAuroRHX2yVoBiA4ca63z5O+RNe8keK6nFCdgnHxHrTUXVauR4OhUyS7nvC/J701eSvr
lupOVbs8Vc09jLz2aDcuL6dT7qUmYvviVmP90ZSoEoKpMOL96He3lisxtQxa9k7xZa9jtF9eIwUs
CwHHAjXPsO2tmHImnEfUXKG7nm/VBYjZtNMriTt2KIfT64vwe5Xd6qN0L63iD1g8Rht/0ZcwM9CO
LJRgocUsAopgJA++VF7oAhrie623x2kxf1RoMQ7YsJGQwRsNY2ndpWZuYU+Oh9OyqPaQ1U6DAmDx
9s7kDmy1261mJ4CqFqfeZg5+QJqQdcdeaLu8MpeQ0LNAVmrapXikrif+5q4CUhIoJVe4AdbfaMxu
ISx/XJrE4hDqT/bY88sKPQtkrQYwZm73pJXFt39+ZF7zHN6+nUzE0VS6jIJ/C/OofPxvC33TDuAQ
s5OehAA3GS6xHB8AhkcbqxfGbukMEcTOHG0AGyI4sivSyOH9BlrM9Ap4lbHJfL5mCXyIc51K/ZnQ
JJf1sr+c+VecyzDgZgM+XQBihHHDm+7sMfW+LEkFzyCJ9I3eIdmzu1bsahM2MeboZqM55cc+m/sd
2MTHnIF0mC7Nv13ZrA2RgXXfX788v1U28xQrFm28AUNm/0Ay792uH3gDqHUzGnJ4Zxb5mrP45v0m
kwmZFeNIiAFvFbk5jnBT7zuOCTRBYcIy9Ql1lDpXS2Fs9CWfdpYeJdfK6dTZxC4dsCLFwTUaSwjs
kTIUJ/eG/dSnwY8uo3SuosVudwZSlck5zTIpw3rm4RwSdJv8v5uKwibUfN5crKxRaI48ktSeP8q2
Xu5MIEY7o16G72Szt4fe4oME2VBcklZ3tnhz5U6h6/4wDllzz9aaCEYQLXfwo5eNMBEbrMzjreUs
9RaH9HCFIsk/sla86zB5HPx05vFf/P4qdwoXrGEJtkPnbGkrckbb9ddhB5et1eTwwcZjHbYDZ6Wm
iH3b2Kab7MBB8ih1WnJt6iX2WvgAX6zIzdB5kFl0UarUdj7Z6Zt2kKACeCMD5RrOVjHQoIxiSPZe
lttvhanAkOMyUFhF1etR/+sJ2zpOlgKAdHZeg7IkAZK4ayqbE7YUZeja5bspOL/dpcJgIsR9Ytke
18tbh2qC38nhddg7Y6C09HDQfDGhda5YWA6otvdMUsS8bt+Nk7azSPhAJlYrsJedd5jh+cAGifog
z8r8QyxX8VHMpZCCO4b0ZwMUM0FJnLiswQQh3Qz1hhNs7ngd0LKSTa97xnZu+j12f9itpngYB+tJ
aOCHsGU/RCr+RifeBxWrzHPeaS64aOAsRMd4t3AkzK3KvHoL3YNhUaEqkuqmbu8wudoLFtI71uYc
wwM/cvIz650J4+8fFSs+FOmUWDTq9tsuHfI4yuAF3x1MIgqQip+HbM4/ojnyDmqx63d+nvF7YUnb
BrmYjheZuuv6b0oQD3lbbUqseOiYLBK6UIYaBoQO0vO6fbHo6jz5It7K1tlVZd+Aw+ADcdLa2pY5
b687FqwCRhemLp3zxu+5qHR86qFeigZRgtHtq5qXEjtlc5+3HNd2sV7udtRw88TZrV2Uz/P6QcnC
jlBc830ltOMZ/WK9TRxUoUkZE5vHbPKxhOpxXBzvKhtUumPL8APnfxkCuPmRutmzqfjdNR0YKzhX
IKoOj5nRTwxWyuaxXTgmANMnf16tVUqp1XhSPaEos7Y+WTZ3BiJfNCIcRL7PLan49p4Bg+jnsRPd
vnTW2zRPEYNX1CVpzD3T5z253+sxR3hHgqynn78WC09QOnBELOCzwrRp2gOqeO6elAe7Tav6Yxyn
GvwY7sys4ReqXLcMmbgsoa8ptgBgQP7604yjAj6MBmJFo5svUYaEvTnWm4k9P+AF/oVEme1RQCTh
nOGkjY2ReqCbYOIaU3tUne5dGTXb9B7i99HvpHdoXQ63AkZwqANrDYvI78K2RPyN5rvbN7KFp2Kg
Iiq6CEjP+jI1e00b15YlrAaj3fZziSmzjvyjCTRi62dY/7PF+eDM7kuOXneTZsI8crANFzw11pbD
n6fYnr39UGeULHDQgteT0nd4+1Ca8hM0vmeVT6Wjct5/5VsdTTsfx2vh8P/a0XkVvzRlW/7o/hdY
Og3UHqgTOIH/e0/n1XMRV33zs3/zv/7aXwZO8QcbULIEPQakhuDU/snAieQaQ6CDBoBzYo14/svA
adp/sLqiKTWEwWnPyP0/DZym9QebctZaOm3F2ls4/46Bk0XsmwIaKxA/homHb9vI6bw3sw4b+mWl
6RDVE1Cfh1np6UbG/kl0i8VcQrKKsOX0mKKX3COGtaGNLtMHAPTaA7X9p0b69RWsjeVeAtI4QxSC
mDwIFHV5zfzRUAwNRHwwp1LfATGUNc726KMwvfyKgcSxbSIG473XnxFC32vIgAHxT+qrrcF5soek
2JhDBoeLUUeQJRwRQevMXSBQG+40IJ58b4BJP/rz7EEe76JgGefqqknEpEK7nvUNixKCYimh8Dqn
LnBxX9gHv/Wnh6zP1VNcVd/TRStc0HJWzakaJ19iM/k6Mmk+xEJcJwVY7FRl6Xlklx+2lkBxKMjP
0wqEGmQJUb3T4bdalN8nqGmv/NQ+zL0P0DYnSa6J7WlDThgXTh0jK1fx0zAl4Ci7qs7QIa6yz3as
SRGwjjri1I8JRmPka73cNSZne8sjQsZAl1f3+ph8G+1WsNqJqMNJvmg3hj62G6/Vv+TGBHUQUdiA
OwJvAet4+TBAWe+sUXsYeje7GzJH22ejHRVhJSL9zh5dDxiXHBXkqcJA6GLg+m6R7iIHCdImtYI0
UzpYsg6PdWRST3Q1m2lumWYI0fs6JmJnJbUj5OvsXE1Zl+yixUwRQyNKi84L5r9hpzzNPw+gJj51
ZhNhkMH8qfb+TO9Ud8yssTkttRMONnVNwG5wiDAwEOTAGkvoL0RFTB+LYgLW5fmti1vOresZ0Fje
+UwNZp+yIk2dIK+FRBqJf2IIxhGkPwanJH7q8KBcLWBTq61RJjKGdhaJG8W2yIANoRlk3WQ6I6uG
hYdfDDe2sFrjbk47r9z4SYvIklIic7ejMNg8+Y0xjvcJUB51cOepr088YZbcII6TS9i6tYkEcix+
lFWcn12stnILTr+p9lQ0LZ850N9T16aw4UajgeTljP4dlerRS+EDm0wQA4n9o9O7HP2npQc4RuVW
WNcUNU9Z695OySqKjHVz08YNaGyhArvRrzL04gEJXfdIEr9GlXjocQOAdpqvYxhbhANc5WNfXxKJ
5jstj45ifThUK2QkBcaxbLqm5CMzR7r6fM6PUk9hWhH5/Z3HGdBfQVaZfmt2lAok2tzpeo2pe5wC
jCn6zicmJOSl/rCWu7wjAMXj77BAfco1M7lrdf1YOSoOx6YhwmjlRZpt4pBopX0TcZaiaNKiwNHa
W8+Zw5ZRQlCPZGQMwCkPmb1kQW+px9wa1D5N3SQYM0sealemgeNA/vNnuEUGiZaQ+BZwjl2pPQuB
kqJ296xj1HaxSKAY0OceCk+H8VtaIRAlSCcg8MswMorySo8T54s/ywfEsnEYe2YP9BcP2NAnO8Cc
XmhYbrfp+8h9WcTSbhtj3hre1F6A2uJyibyjwu9yHGz3gaPvCs+IDKx6Nk9pzB6POOQ5yQDozaaz
r/1mn1dev2dk8y1Df0KLNn+XaXRjqbHcDAtDDNF6j9oyGN/Hzku/9ov88dPtdPtnY/mzGd58lSr+
V8PpCQ/HP/MSw0SStAoo30w7C1BKGhM4/6BJVnWKFIDAXzLMcxJC2o0qHb4l2tLbhODB273Syyl+
oo1ExD8NgFSD3BkV5yQzT1C/ZcSY26x6fyuntJl5LmMPV4iRIriPh3T+WDaF8TLMEd9noxlpVd0q
c+Ed5kvjhDNFr4nJpRlOqaF6pu3S0ZpjY9gcFvD7z8OcDIxTXk8T7fVkqV9PmXY9cNAEKO3YdzOx
Gnwvh1A1OCKCntzdnafS5L5LtNkNslp3j01dc0yNjnwxowrxbyd3Fck+lyxqdwSxWLhIYj5NBh26
UOPZ1ouzmaTqbEVJsmX8O21S01c4EWEIg7ijl+yt+yU3OhhWTnshedve1zUeZB8g08Yo4zbMp2hP
DoB5snq3+254BFw1gyy3tUXdu01byIr7NqWI3ifI2/sNECkM6dHCt8XRk4anm06m3LA9TdKHeG6N
8TzXSb7JEI4HCq8VPRL1nA4DK/R9WXxUtb/cOhFRW2Axr+OySc6zNMRtL/C8BF4ki88cCu0mIytj
Z+NAY8zFjoMPtE5uhgoRqOxsolCL5K7JSvMENLQIS5knxhU7kvQ694k/oTnvILBnCNXjS87O7KyI
r7nBIKXt3UGJFy8atD3NQHcbkaMVlK6UL1Ed822d4rr/MtucXgNZVjeR3et3McV8WBrGV0EuwEGf
2nyL2qpGBpU3t5lCAxLb5j7LWUkaNUaTsW0Ct9eGsydZQztTwzpFtYwozRAOvRfU3XwhReBJyWXa
8s59ytBKY2yNI16JTxCQpwactMZj7nclutLp0IjV55QhwZisb1I3xh27kBc0z4VaGSn7SnUni6m+
AgyYmcaZfNJPkbRCrwZKP8C5NRz4/P61PsCwnwF87qal/0ZOiHFNI/e9JHQARX8lQjAazc6bNO+A
6uPZxv1yUh5WvJYcrG+kQo6nwfHau7w052MLmABideyRKpBS2w/tC8WivYFW920Qq+c4byCapxJz
rBHHZ5Fon8HUyD0R88Z1UftXSbPMJGZjxyyI62DrbZQ7xGwRllZg5/gTlg3A2T6EvE8Px2mFRWDb
eVVIlbArq7a7It2tYXYwz3tXVO0mn0BUg6+4ygwjpjsxwTYYM7bW1sDeQDN6hwO3peWUW8sf4qPW
edlGwkcjc6Bw4xNxK+YYmFomvuOnHLZmb1Q/0D+jWcEOuBP9UoZ5yxbJyk3+NCbqKbHSZF+PU8IN
25vzZ7YIjEidaTY/uXMPom5ocv2JKIDuIw4qHV0TGOEfhC2YBHtEKOuSXrJ0s80JQr3W9IpICLip
sES5o5v1tk5fL+7q9RJHOs2FbrlQGA5kHnDRD6+XPthaCgDATBQD02thIF6LBGetF9RaOfzPNlK/
4HT+FwF02DKts/v/vtU6Ped5/6//85xX//df5+dW5fGvbdeff//PnsuFcoOmirELDjm2xqv++k9o
jmv9YaE+YJEPlwCZ47rt+6vnsuw/0IHbACUorHwaMjqlv6A5FqgdhuLgQw1aOcdBgvRvQHOEQ2P3
09JCow1c9Sruq9Lpp7V5YfbS6Pt22edRoweaRggjSXNigQ8cD9e4CZxy60eclwiIRrUEfYvBQNfq
+jxPQ3Qspax3s3Lta/h0KtTnyQ0zxSmWYdRGVhrJfFNpku96b0Pbj1ryO8YIeT0cw/lIRpBF6oWa
PzFda/dup0h3qnV1QJtT3xhIbj9JKnQSGEu1z40R/x8xJGdf+gzJlhG4B27ObV4olDwsNFdZQfzs
+Y1zdmPTjdkfw8tj3mHZoYdXZI/GM4cxyrlYViOyjFFayUNZFx1mDdagF0KWMKEAkO6+Sxea5MbW
BvMRLXh53811PJ9rwhDPa87KpVq7j8gro/2sxDckHxxfnjP1f3ZQJQq0EYtdJUhldKKXzE6HcIHz
c66ToQoJoVw+a+mQbPE9WQeScm2AxWp+7FMEZ+dWonvf+Jlqy63e53oOuTm3iTgQfaDMrA9KbYzO
duJWX0W64MRsKyYtEoZR0tUWdlq9+V4mRfrJtefqE61zf9BFZT65KiU8RgdPfYpzAu+WzO+7TdXF
zUtv9RF1AdrRPSYMxC6+au3jqA0cYmQlYN/Xcne64uiJ+HvgSn7MxrIcMrZRkngyDd+9LqtnrYpT
Gy8wIgjwyjhDV3NXtCT8K6TxVbiNLBz4bYOrolhwL6nFMcIlo9RW6/9pOWvamYx7894x+/xHTUOI
5aSxqo+M4CYGwn5dyQ+tNXrDJh/M1WjstC67HT3HWCY4PW9yx7WOfl6rW5s7YWNUOK75uMuR5B0y
IWfuGzXfvnKP2gajruCfNG8bfsXnPpl6Y2trHYY0uKpc7FpHnogGSD5aXFy3BT/lqAToDaah0Y+5
IrkvAOxsZ1syyHzCkHhU1DYaa/Peddro2df7lLyxCI2ovToilzy2ubnxzjg7q4YvFK2sE90tm7vS
xG0TLODI412/MGA0zSW+j0UGMaGuFLOEstrOZjxXG7s0CtJimqZjro2tFUCMl/X9IfE0/RtC2Pl5
UYvxAdC+Z4egrawfuj96fKWlXdbhsACCDfAy6StFH05yUA2khV3lQ+FZYZaKCkdnRgYK6xzYxL6d
D9HO1FxP3KoY+VYohkYWdBFELuNphMm+zbzGfrBiNx0Dq9Jyok1tQgDxmddeFphTr38HYQv1uYsN
XHtkqpKSIpHGBZoe2SeA1HQegEtA5EzTi6kP4jgbpf1CmYiNVs+6+0na1WXqkZ8sRi1ueVN8AQ6v
mj5CoJfPwvLiI7PE9FjNMMohj1iEzzqdf+OmvvmQoZTitS7KJGNsHPicJngPbCAWSs6fwfBjsxBJ
oTSJZbHqQ3Oo/O+NWWLsnjpya3w3Vl/jJRm/yigZKMui+Xqp5AhvudVOHVkdtwkjrS6QZGgSNGgg
lvuTLN+5Vg5UYdHLS8aHFI55Kb/wj+SHROn6LVBZhBXC/4J+qdpmuE0uC4zajdcTixATqHHpZsv+
guCWlrPoQR7DxGAH2UV9vK1czp5YVcR5kA8eM4pgs3fMPYtcAgT7Wei566fWuWZ0IdRgIkE19raK
SqXaTpUX/QW2bzSd+U/duG215d3Rn+1K+B9QCwHyJd/mHmoaRIRi3MhpotAh8GwHXHemBLH76tGx
B/+cV9m0kUJAmjOVOPX2Mm/1odf3lpiy45BY8daGpY9cpUwPIIfsEID1SFdXj0Qfug35WJzpxZy6
IeWTdnLkJD5nsiVuMUbstLdHC1TDnMXXGufeVY6048ZvtQZIRDSwg2jae5tz/raWA5KBpvSmzdCn
9Z7+UNw6vUgfDSIZvhvgTRSot3TYspzyQZ5MyQGcSkx2rj3uCyG1U+Ur+yBGk7ggZulTHVZjnlxJ
Ox/TLcL95Su5I+0BeG98n5PycGRrdOcjlQQdyhSd6IvENz9zb/tnkkLaLLAZJt1hYmDl3kpm+rWv
5yePoLviRkQdkfFTqX4kyJ3u+8SKHtHyMJ3Q9NH/Ksc2gQjTCPJDzeZ5zHPnE4SBJkQiARg9nvOD
YDKKu7wAOF0gmTBodEf3Lp8s95I1ixNm1jJehkYT106tXOABiQFzjBaaMaQcj74ZxztmqFi0tTXN
wTa6budqSXZvu7Q/MZHiRvBzKgG0gWcNBRMrM9JY4XITErdJrGm6qJjSWM7Y82fdExcg6cNnsqGS
nS70frNwi+0HPycAmhQBvCdxRHQdkrfiVKdWBcvMcSuOwNr8bqFMuFYex2/aziWUFiKBAngg7Uu0
eLgJlsLcDWOtnRZv6b/nHkcyftmBhoBrKGCXnqLjkt5J1jJ9NmNfNEHhm/JGEitITAKuo13N/nsj
G8c69vDpwdxUbn92R8M4D7k+sp7R+31lJfEemjsn3epUOsaGTC9kMU0MgBEIkOWSnBDT1bybXf0h
GotmA/8ZoFAxR4d0Ktv7kcZmp6HzfWwTf7hVA7kzYA+4r2E8nj3NuVa6URzbQSPkZYF4H7iJ415I
JpZf/2fL+P8PEZfGuqL4pwr96vmbmp//dds8f/veql92In/+1T+Lc8/8w2PN4ADtQ6yN7QFZ0l/F
ufgDdZmur0ta08OT+J+1uen8weMIUgxNFQzuV53EX7W5afyhU5uzSaHWgOTke/9ObY7v8M2KXYBl
YD6GBAZNnGDP/mZtCxyBFGlW4rsp65VgBS7V3mgbdaNpif5R2Z2Bp5e4wQ3sl+wSW6TDnryi6o7e
GCcPhTDjm6Ye2HRAwBPfbGyejwukCew5ZIo5l6joe/UR1Fc00wGUBKpGzOBMzGThpDH1bfXsvoZJ
+QH5gE1yZj/cVAV5egl1HCCN8TG2q/xRLkXxrbdd66bR8+RgUkecHMRIx0bm/W2eTqzYLdeeyk3L
sKba1Epj0kuQ2V7Zc6tvcL4vZ495h75pem++8/tomEFwOVl5Mpv6npiIfLkfgMVYTIyX/KHiUBhY
WjbDQ26UuX9axGgwpdIRrgWeQAdyNGVGUCY4rOqbpnk9a9QaCAQdPeEgl34i9fcE6d4lCHQUZnMH
Paz6JhjAxHtsRunwUTOk/60ki/XrYoylcTAbv8633OZspJIRGVvsw64LNQf51Q0K1mI8LcST/ugg
uZfXk8rrLzh4WGY7Zh5YTeTdmWK298QjHRX6Me4ZdqH6npBX5yucDTEcLQdzVlADepdBphydqm1i
VuMMTUm4isSmGBkiVUya9UdBXu7nPhPyG/EIzcukt+517sazu229uttGapToaok4ObsG295CRiPD
DbvJ97wrwth0NhGgQOwHP4BIvRzsgaZFGp28WJmWp18WHo77JMEkEXR6oZ8gqqUU0cSDdItkn1SR
ER5gNGU+W/XU35l0VNhbBRMOkZrmPilG96RVibwgrn3pc56WqWBGFMZ5yW0Qy+TBazsZkESRovfn
dfcE7WwStLVECIqpfGbWGxGs21s/ZJZ7n0ST85AbeptaX1TlOjQVGSjOfvpqGSU9ixxA1k0MargL
471OkKJig+DHZ6fL79ezHOtYoy5cxvadizb0c9Nk8ZUkJcHZZvOi9nXnei9NDlMKQpmWPQ3kAtDS
mfZEjnIsJ6yHgj04I91CpQw+s8kDgQ/n5tQWFvNGb6mxKFKyXMZoiInCLO7X5LptXBqi3oukM4PK
8h8zIYbPjXAJ+6gGnneqc5vMqKFF9EpL6VnAY/Ll2c6prj/1ekm0bjwpN8Mh7ySMvWnFx6NOu8xq
qV8s4kmJ7iiOeF5jGdDyqqd2jKc6IFqgK3fkcg3TpUa+5IcqHWtw0p5pKdKjHbPe4KQ2bloEcm5Q
OY3zGZBog2TekyCh91Hei09o8mrtGpm7anbMtlS/o5UxbPqA1pxBZ42WvRvnaUaWDA8txTBa2Cnf
dVMW07VgOdJfESwxItghzCd/IAhIFPfKG1PymNzIGD8Rv1cAfHOzdCKAHO7HJh6VTurBzB4gqKjS
D52Ku0c9yewjeH1ZP6RtiSk8Jnwx+T4SxHEZMvJqsEBUuJIAimUf0coDtmCWmn7Pxs5vtlYE/Deo
UsghobTh4fEgrYyd1tOabFMAIBrCHDRwQw4OebLWKLfMD1I4reSO0mgxUQgMvxF3qFSL66Kw7W+O
Bl/wwMzHR0Yu7Oar5WeNFuQqrUPASfjoY/6IQ2IyPxSMcD6wrVx06iVSTmi05MHWK+ysyiNS1rXj
GkOqwVQyjAhsgw+kFuJEOSDddtMnPWZWXmIeGujZwR8pBizQVdICtE/RjJ8BR3lXAyPPT6WbzHkw
2uN83cPiORUNkdFBU1XTlnMImcpERNfBMbrxaiCenbE4IaMbLwEpkmjOdEdE7AzdtTDvaQkVjQlx
pHKT4jU54uoEVEqZTzR4PcfnDlEXQ5KmfjQK0/qUd864M3Blkj3mO8c+HmUX5FyROaQxmCKTZLhr
AUxJtpIg+GUrqd72OsvpS1V2GsYJ8kSDtESAqUTxH+ydR5PkVtqd/4pCezBgL4CFNkhvyleX2yCy
2sCbC+DC/Xo9yCZnmtTMxMeNQgppwxgOu6qzKpHXvOec59R3Wlepi87B8iMZDPuljY3sIFTPcRKi
+yO7ZeLtpOG2UHLT8VN2if0NY8HwPDTFsO2d8slnWRqDgehSu4n76onSFcwuLaHOo5QZK69nIMUZ
BVOTou05nJYL74m0GS0ltN8m8dbL+7kJ2ly84x3ibWVY3Z4y0iY/sPMqBrwVzdOhr1Mm2BUfrlto
0bpCUhj2OrfQTd4j2OVmXu2Loq82WPKGW6eVFsXWVWek28ngB6YTzfhe43w6qzC1lsqiyKDThS5W
PETNXH2R+YCVNRwL9q6yr+1Dbav+BO8m6tYVF3OH43aXfDgUCD70arKIIWX+XdkwhWJ05IE7Kpvz
TInSe9o7XI0HrnBHrhjRqTCWykTJxe7RscbmscBqADGEAc4dr6X7KNCiXjKjFUOghmp+NF1UhoSx
UkcfmLtt3fQ7zqv8i3ABmA5hkXS3vHvlOwgZ7KBOp+3SpnN2lWkTQ6jqbz2X1Xv0de+Wk8vIPaks
3iaD0mHQpEl8KGlzDkpDNTThVT2fN3e01oaeiAe9NnTqaYkIPxhKm+unss21o2lXzYdpIPZsqEVa
YlfQx0gDNgghgSfa7hOupf1BK03/QGs6Z32GX9lbNURLXZe9SO3A88rPami7rxTN9iAYx6rRji1R
JyAzeuqn2z7q3SfAOsgUlpO7x5qOyjigQo5/UlNCXyXfjcVM11y3XyNdlyvHBPccZDD6H+zUBL86
kJ0JeHMNBhZt2W26zqPpla8usFlFUga1A0uH+rbuh4PNDaNKz7+TnFE/nKHrD7gk6vMgGvfoaEn9
kFW0BwctSGBMJbj6v+R02u5iWbSnJA71nY7qdvTp6pKInEn+ShtjHlOz2bLZTPxy2pWb9bzCPuY/
+jRx+/smLdp0W0/WfJF+mdobOVrThRRc+LVrR9fetG2PlBJ5toyZ6Uxxdm9oUKV449G3Tb68pNOz
LvF9um15R35jfuRgGq+p6TXzwE68iKSFymceVi2MdgAIqg/acAnxO1Y5bEcN014QZvgAMGEQnqs6
QUvk1JSXbAKjbOMxuViMqjd92ACi82wtPEWVpDyOvEh2cHlJG653qEypp1evHYLcVwYuciJ8xnw6
iR1qI+miE49xNY3npq3LZ2ROXlvTVM5ttbSjrYY6aQ+lnHGjmXZU3bPqU+hGmGDec9ih3pEynehL
aOTLujOwTLamD9GmWCwyDTwEUo9MXouVNU7yw0tSthrcJvNdU0jHXtdqVJeuq5wNmOC24q6YZXcW
JHQ7cK/mnHiydZ1RGKPWrjGUvWo9ff4SzZ3/zJgy8zA1+vNtgiVqX1ZYUNajO9pvgOb7+An+r38v
7djKmaFb3reOs2UXjKM+hViZR/u+jCbnGOeLcJ4UmG+tytK6FXNnbQoifmd7ur37HRQhAm2O0bgP
jLo0l4bIwXwS7DrrWkTqJZ675MkCeHo/TBHnthi71kNudk6/1X2c3hxJNH3iZN9TdYa+LJ564Sd3
NLCRSdK9bLpbwj1fi2i0HmXNQk0ijTZxME6O2Di9o31jxUu37M9iaxLq+46vpQZWGjtf/NGvjG2r
a+JRV4P4qOYUhoMP/WGFAxkg4jB1/jEGr/meMaO4L/RG+6TGLH3Sp7hJTmbbFaeyn9wfpP6TGqxl
W+HPAoP4jQlV9zIP47TP57w/uUTVGHTSIkV8zcX0RRtHM9FDXrIK7aUsxB7pW/tCezrKYd7W7U7v
HIpzFkCdOyW6vpJObW0MepXUqjTz/KgTZ45hUvTT6+yFNLsRO574s6501yhLBC/g4p67ilK1NaW4
zWYoo+Q0Rq1+MAr1NuLBCcKoStao8ooXYsqPsNKXy5SojyC+vEPS1Kw81AM+JIMLsHDC6Rsk0wAt
lcUrsLT4BeSlF9gNUDCeQnTn1v9Rufa+FVZzGKMw2khw61tbi8cdJd3E25Mp/B6SNL2ziYtwsvLx
tzQjt0OtQ9ooung3cESw1+bYI7pCy7wfKb47yLTG8g9gfW+0Q3aSkau+DllXPxDSp+w07Dka5aNb
PdvsfVvhDe1+yP3og+MM4EI/fkxKluZW8UKn2Q3ZwfHZuX0VnmqnT3a1T+xgjFR7VgQJF5VmhkI6
IPWL7mDAjs0DduJs05dD9y2TpQ4gcci9Q57G3gcOaBq3KKnvjgMPCHbUqTk10uw4LGbp0W+z/jJ7
8ttcg9YKaBxetlNuY3VchgcxNc1x0syZ2U8Ubfs45laLNUm/8RM4Mghh1kqWWg8omBa6JBxJGhQ6
VkBw2mgkMuvOsMLqw6TVkuwdZqk7Z3aQk7VUnK0qfOaxfxB2dOpH9cLYjlm3i4LgOTk9hVlWB7gu
4ClMLai3LIJEKqEf31DWXWardFI5iLwxftUj4a+4fQqCLKX8IrBJXzAbjvdiNklb6zRM30yzcEFb
DfahIvplgQlvbZY3gNXvUMfusrpt7rIC0Yz+hD1QroYToEJ20HNLMaduwlVJxvKN6Vz/Wc/tDeXJ
8tTiiFxLg6I+lhh67Oiu0plgwgzwyAJvJzV5Nxz0Zux3PiUzea+eipi/mx5RZx1xVd7KHI8Xj6jG
CJvy4ttKuMNz53I2n9oMnU7lWvcuQ885dgayfFmoOGA43n56ZRJtc98dT44fDk9hRAWX7nX6dsCA
tG9QUAkfGOLVw4yQBWUdRf2azB8uLU4j93REk8kr8CzT3qaMYiM1iXGvylTZocRguHIGQ8Yrwa2N
27Bm1R8dpv1iHWuq/+HmYec+QyRg4gz3v+Rm0plwdNhNvjWmNli4pItxTy68/BijhvGEssw8RF9K
6+i+SGv9JUx66oqh0NxXqWV+mLEm7sw0N761AC0NYiw5bsqa9+GguN1sBRETPXDnMXnJJFUlVLCB
aX+CzFCSYMKKgj9AdDWBfzm/9TGdfy4ToMOoWpP7wmiV8AByU+yXAcklcjSD2nK4wYHdjwKkCvy6
AgwQjlqDcG7QDQQ/2V/qpzh3u4uZJywArVHsTSf5aKhfP1nwlMtNvig0+sCchXsdPck0azjP0p26
PYKnZd5E42S08OubtNmY0M3cXacXFqkQVJwu8Iai9F5SmZj6rmbXhN6H740jY3QeBsjBQ5Pyi+h8
fOToyNTOpb2v/6j1Ud16sx2+6mPhukE8WcRJMmCFoH6T5sgEp6y2XiphBDFWp4nZTa3ieaAT76ns
wD2dcW11Leb/EVLtHE9MvAdtWE1MJXad5b6jJRY+aWmsNxbDOZcVKdEHaBjOfMOls/nwS3as7TAk
TkBf4gCP1tKeEVa8sybmFmdfaqGmA3DlI5c0tyz5wj5JVaR3RmjZX/NUea9MZlDf2Y84SdcO8OG8
voUqKr/adGXzYfIj6zxKZWwNP85h4+FS3NMMS1xSj5usYSAO2Ytob9HQN9gwMECIM2nqEPWwtPcl
9XCTZla7XAtVxDwil3REeiPJ5jXruhqCGh3LAQNboT8j4DtFgODKx71NYyoMQ71Ap265iRGJcWmI
3YEf1AnkOB2VyE2t3qxQLkfltmrYc9o8fwYBWNKgw8TyDhRpzv9bNCzuMY1iImCfzsRROoV9IZZF
bAorDI42eNiccNiiJtfRcALHxXgc/Fp8ZrlRv4rC8N6gjpQAnZpYu6+83MLgR3VJC3+/nYg3dxxh
k1w1B07iFJbPdZavwkm1XO9KqctVjcsZKZbGqw9bTrA/BcxOYFYeNtASFWHbucpdO4nnfBXMPzSC
1vgNhJ3D+U0487zhwG2bnSEov8VnZ91TQ2vt86KrAp5gK38stVzuMThg3I4b7h4rMEYYjoxGlJBR
UXACbHZ8SAoLnXXTF1Ujd6FZoLtgqQ6L+pD6Tag2qjDSXdbDMg5C2OXvveCCxU/itS9qclWzEmr0
+aldMUdwrLsZzQPHeROAOg4vKo+NZ8/FWbaxO09wTiAodxJtT317hIX9YlKzx9wigcm4xZGna4jp
EKWPvqvm17RUXLp4PAVcSXxUjgHXZ4zeEqTqXVGa4shAxE22qMXljmlt/q2UhXlDh5cP8jzDSRAU
rduIuwSz04v0nfRVDjosYqimgh8T/QaqJxEXVD0b+Ajg1rlEPQ3po+waD6yy6iP/GbMNt/nRZPmZ
hJF+htPQMQcxTWmeWScSUqe6UfOAZk5hHLxRNuUu8vzeOg1FrwjFpqP7tXFU8wVbeMxljIxTEWQm
I70g6dyJ1IBg9shdQAMWSx4qDSo61yOqWRP3NJoNs9LET73bdEyQ7VzWTxbsNEIkJUZGbDpDKIRo
WaK9rXCrMrAR8VKC0Cd9fZsW+TgwpM3Gd0F6dD27Ur3zSWrMc6MjLEF8bdW51s2eagWN5PZas9ro
W0j+N96Opko57IWlRvjHBQ7P2HTMiy+p1dvH2a9mJDfVURo9sE3S7SD8AQcvyrFmtrDE+lqfzlOp
oSVxi9QiCCWjjDZ05ebpxkTDfzBlCGTH42TUcGWi21vqfOY3PfmfG1J64bBqKEbeSD3VaWrLqCMN
Mt2HCc6qauF7JwOKwK2r8zQ4pVzRrCJnCivoil4ljc4wqXUF68Ac+95tO3ec7nN2Nq5gYiox5aSI
456VN2JXeRFhBpLQDIvw3iZBpI1Uo7cIsSGpOONHn2neY+O5BpNHen9p9ag6OkLjtAN/Huc1ImlO
KfOmZdmMAtFJ7SHiquG9mAnicyT6hAsMrhg2F6Mn9N4C+vth2+X0gdUAcT1NzATXgUdxMAdXCezU
TR6z3Jv2roeAsF0cMy814PrTPPXRS1rEnKRLr07vc5m/1RRDUajiutmBiAgTd2Ui/ssO+VmNYXlB
0NG+waefnlOsNtoaZxFpaZdldzrlbIVNMHp5ccsdcvT2clhm2VShfOUw13zqqVd8mfWxgbFTD+2G
y1p8xMvheyvCj/xEiP9WYAkB4DzGw2hoctgytbC2IwOFEyMdwA2Wo+5bCqXVWoMLhYrrDvPe4sF9
7ORQP4YzlZ9ximsAokaEnZLkDQLP7HWka0xjPFH+VW+p//Wi7Tzgpl2BgGUSZdStoNXKJo6793h8
6eeoeou5ZRIPKd2BeTbBhzL6+VyTjxd7erIt5Jm48whpZ6Zx6Kb4KSaYj7huTBc9TOjYIp5a6yDQ
PTnnw1cEGclNQJpvnMlGqB1ZGounjKsJofXMQztuRPTcYJB75ixKZkCnW1Bb6UhRGsc2KV+hMFQ/
gC5yFrUa5gBLKqX4bpLqzaAtpPm6FCPDfqkSuZrNkSBHwULPibIRxe5/r/T6f62DUjd0rIv/0US5
vnxrLj8bCC8R/YP7S/89T/4k1f7ju/xupbR+My2izRgDXIIJIBb+odaavxFPWzyWLn7KRbD9p1yr
/0Y4DYAkyTXDEYuQ+4daq/+mU32FxKuDXSGE8LeclH/J9BLSp3XJhVSJJswL0f8CGE2ReEaLPXsz
QK9P03En7Hhr4AbPRvvnU8Wb/V9rOuRnJ2235HMXMsKC1fhz1DsqtBpkahvSHFXR/9o/ToXct5m7
LckUY6N4JxDDJeTVt0imzXcR2sMqtt5yTiFmMp7GvKZV2Nz/IrD/izyH8Wcn6fKOLBlA0/Ysh/8h
/kqmDuuk8qHrhJs6njZdJg+5WIybprs1ogbePlVtWsFFioQ6pyo0u/UU2stsg6Y57uBm/fCfX5B5
/Z3/M2ByfUUIWp7hWARNqK7kefkVOlLEbq3RGhNu2plIh5naB+LH9iMM4vBujGPKIBwtv0NKZKw4
ihkM33L7mR2KDzO8aHNcYuMqnYewM/KThUZ5wuN0qN1yW1OJsWZ6+eGOX3P2tr5DJ6zKG4Hygxlu
9JC4SgyRKgp80OAWMjfBZSSnZCWreS1jHPSmc6NLbe3XTF/tcp3mNok9tVUxFnXtcTCrxzks1ibd
DDbnSccjM6ArgHd06+jmMRLhDmno3JJ9S/CYyeZtKrSDFrOo9Z9aeRKuYvo6WMd6CnLT3mf+S6/6
V4xRVGFNEALr0T3Y3Qs1bNRp9GB+qx0mTfSQnClR9DDbx8RNb3PPWTHTX3nOtCnc8OjE9FDZYeCH
+XlyQHH05dGy3O3YWns604sVbR1bmXrTVhsK2ozcNQwtyAnoCHZz08diS6J7dAcKBfk782FTVz2W
yCponVfh+ce0cFYILgcjd7jzq8BI+i0naYAGFal0ZOq85dfDX+MzVpXDY9U4D7yftDZYe9WJgthl
D+4AqihWKUN+xu6dWcpzOVOfjgUNODmjXP9Y23wye2+jk2PRkqcMqVFrbqeavm0/vvQAr237U47V
R9t+JWQYRB6j+YiKeoAg/nSfNOV+iUwUnrtNyOREYatuGcfWT0kXfkSoQTeT5J1zoVwhhA+PtBVU
3Sri0TK7EOmtsKuvkSXDZLmAFRzD6zTmJJJ/xxkWP5hzVF18jJUC5WH50IRI3kYYH9zBfnLxR3/B
eNAf2iFS70O/oIItP9oNg4s4L3I9einqrORgZlF/HJazDJj/kWAh6FI8MYlVWwP37LprZg3bHcPP
hlchxotD6nJfOmi/wYht5Cbu6+RsKevOaZhONXPvPnZmIbf/f5P8r/T0/kxnLwjRf580WP+jppey
k7/sjXx2li/+fW9cdkCTb4nF7ZomIDHwu5NJ/40YwS/bJqnqP6Ld+m/8F6BjLNagt2iH+HVztDCi
UFLLqk49r2X/HSvTFZ3+60oM9MmyTaJ+LMQUl+r8Rb+uxHXDIdUuDRvMcfJDueLWbZxdLfznNKxR
B1IDGwYUvV4Ln1GNaEUU724T7ZT/EeP8J4IQncJ4fsmU2ME+3RrUo6VnfEjHjuHF6OabKOxvKCx4
kaa1y5ZM3ezs0rnZ4yaoYj7MeX0yltuztxUDXwu3Ok+bvS3zQyasB9E4t46wdoO0H+zQgJwXLCD0
MYq3U+0vw7QnT6uf5hEOvrDQyElsFXqQd59z/jRFMCyKeeeMYuvaw41bewcVFWc4dbelPb7UFnS1
rrwXjr6pCTHlBQFcFtrJDJ9n6izWXmg/tyLaN0N6V4TcSNzYL1gPm/0cDn1Alvuhi9y9VWMITZz+
o2v8Z91r3lKbX1mk2zRkiYPkNkss/KvWWWtZF2cbi/svT96/2uCXN+l/eRPJinDw4jkD8/vnN3GC
fNTGOn7FXMp1hNtnoR9iar1zpukO88gCjcpWjBM3GiUjPe/Mf34B9l/tcMsZC4OdLpx/bYeTvldh
Wg03BKAoJkjO+KS33KyMoEcp3GSxiak2EzsVzvepnF/6MrHOnAo1POJMAd3g+2R1zXbmDEI3lJVs
XSMsNmE1n8e82StEuZUgTnHQuWQW0KpXtoPvYlcOE2WHDbZXb8g3eJFJEOaCqUFIUblvneQIODym
P3jDlJULDG66YZwflJ7s5hYgCZ+9V0uapxB1z0vVqZSxPFYEGk5/fyH9t1SLP10l/u2f+j/Q60kz
7X8uM3+8pJe2iy/lr+vj71/1++LoLZkpF8PmchXgjvDH2ij83ziuuvTfLuS2n0CMPyJY+m8Gjkxs
nguSmPWPp/2Pi4P1m06Ui7UR0NtS4uD8nbXREyTA/vS5Yt3mwoCj1V8uMFQV/PlzVek1jVRa1271
QhT5TguXUQhgJcYirV+JA7dwhiWwrlux869DFClAQ6+LZbbSQowkZGhG3snkmd4O1mgB0fRhHxTX
wYw70OK2mq8Dm5SGU3X2GeOo60Ank+7Q7abGYtxDRRK+HCSBYaWWeZCiWaDBsVeKQ+y3dbNRqijq
HT2O2fucjONAHn0cI8AvaQWkoSowF1BYGJ05/IpP6lXVJnIZUI29793PEJxupEZBKF2xGQChrNrU
UmWPvcmsuzd17TJdR116HorPIuvKN87OcBQYYTASK5wwjreRzaSs112ytKx0mFqvU7R6QCjbuX0x
PhHyV7vkOmzTl7nbNNXhup6n8R0iCmO5odRrRPSW+q7i5+DuOsTDsghaM78O98R10NczhAyDvmHe
sXT41ndFY0iKow3lv9fXYSHGNQaHyXWIOGSSc760m+YWscB59zD4MNIcYoNuPr9cTCUWNaP9dTyp
ucuo0utxlezaksnjgVAPyL6uVK9KdSm5ma5rzbMOXwdZbmwKTtPA9K1OZex4dn2fLwPS2DDGL3Q5
0RXAeJUJ6jDK8lhnMy4eC1AaUY6hfinakon9dfBaOIrMNPGmKod+p5yX+DqlxVwQrWmcSBZF0a4e
DRGlEpdKO770Q5ffl7WMH/ABpc02ZHi/x47X7qxlLJz+HBGjBLkesvQyO/aWMTJx2L45Crhw2sq6
TpqVFk/mXrMZQGMTYBbtX+fShlujs6KEQpmdGNIFBXbsZ1ypiEShJ2jsNSAkwFmuWmgqhOsZf/vX
Sfh1KK7yYXyHHeWdUUNQ9pLrAL2/DtMJWsEbarEo+osPpmRn/zlxH1Kr3nTXSbxeaT3OTF+d28I2
H1Q7eF+ytHUCP4v5W7Vyqd31+2K+xw/FhB9xjXO2zzUnWQQAAz/EaexRYXY5wzOieoZXvhOrzE7u
VUEwqoaKvo46HQA0KAyNsrpjEk4C39jIbtQ45bBBohLvfpQifRCfNph8KWAIWIModF2h5CD4YXA4
eNYI0aRqsGDCqyK7N3Byn1bV0EWP9mz6ijxW6r/pQyJfUz33PgV1xGQa+g7ddtFV0kVhsSvvlTYx
nLSVNdhoMYZ9wX0o9LsIy4vY0LeGXOMvyo0kZTlRvqDsY9MjRQWYI+A7WYvi41Rx+xmnEU2k+VUS
aq7ykJnNytrDoUY2ilCeS8QjwHBBKHCanNjtOA8wMkVyiungATou/CXd9lOWukpUeJEH5OnRpnTh
KmKBEV0yfKHHsDzWu4lhIOXkXFZ4YC+VrSWX7CqIAUTIv02LSpYuelnJJ3wGvd3GX5F/q1s6J5zd
qOvzS+wrgRq4qG/NosN5V0luvMpz0aLUaQtxPy1hExh65Z8ht0RfeKLSxenDU3kV/NhMpvdMTfkt
1nsEwUaXthtgbzZ3JGhKf0M4/Gva2OOOeJvE64WyCIkLkVGlBhzh4io+Quqbn1hsnOI5873w4qWa
d2teNUvhyubYRnX2hsEATdProGegvxfaq1xET0bF+g9FKJcDSVqjispOMpzl833WdbP6Bj4IDTW7
6qn4HDPvxb7qrOqquaq+ndydfdViB6DTLXrvotE2i1zrLsKtd9VwjUXOLRZh175qvO1V7kX3jToE
YGuRgjuzVpd8kYfVIhSbi2RM3ar2ZF91ZCa5Lg3ZV30Z27i5UZS4XhzwBmKfLFK0n2mo0j0TdrDq
HVL1Ilp3uasWRg6dpEZtVeW+CTs7edLtYnT4s3DYIdiggavYy7e0B1uHbDTRyCHZ1waFhrrxTYW1
e4flzPrQtL64NwkVMmLAWJGj1Cf3RdwVLChm5CzX66H8SBeRnl670VqpRbpHHIxXcUKQbKPN0idN
1ueD+xwtkj8qEbxrp8Dh7/z0BLQEMlZhGqmVzbC9w7Ed4iCIKrfABbr4Cpx+AjXozOG9uvoO3CRk
+OV1UG/QNbAmwG602bizcL808G3Nws9X9mJmIBU8nkzNNPeR6uNnHJYxpjev30C2do4hLbHvtHUv
tJ5iMSXauIxzUFfK0khy0pPi9I11h2D0qHCWrS0hX6sIqyN2Io3xfwcSO3HCU2I1Chmktb+Ncaof
ItSblenUEitXPa3tKcH20TE9kO53zIqfXWTD1Ujyar2kvNVKccalhC4a7dcuS3AgVERvMfI6LZZh
s2IEdSCWnlmrCSBOfRhs8gmBo1UYaC2N/CD+j8mSq8jNaQgewd8uzYXet4pmWQyHRme8xLgCZvqp
usTZD4g04+3M4/MtFAIv5dAvmKcYLRZ5qK3OdpciQvh6uscno21MaFc8K3i7FCXDayJAbkswLkkP
FS7QTUwy8jFzcFY4fZjDPPexqHmJ+cNLwu499yzqyeep/dSw7nK1ETYEIT3FAGw7IbdYUQnyZUNp
bLIyn6ktbcpMnKe00rQvNh5LGXCDS6qVlylZrk2Z9POtxLFCfyMPTLQuGPsgV4WdhRGjicZDnWjW
rURBofV8tIC0VIay3kwS3OnBn632uydDE1BKPvDseHV+KIqWGgJWhN7FTqF7d/OMOo4Pu/Fvhrn2
zzpRm2nVGSr+LOrWOjpNo2VB2MfdZ212uOY7v5o+KMfr0jXOWJKWNHAyLVOUJ7kI5Qaxh07HPnmI
RA4uYHLCkQkgTiKDPDzGnMxiTGXCeM0KzEG1WXlDgN+8feEQhTM3Y27xtZUThUdVFx/zwvHidWl6
+JHYlMZbWjEWQ7vfoEbTiBMaQWsZ6Z1yDcRbCsQ67IdaPK8NGnDFuY+S4uAAWEnJYugm7otm2f2Q
WXH9kIxkdYfoc4NdNzFX4O3Bkji5eBjIaL4w8HBdBqkJ/cFYdt/SQap0XxqxfKAyOqqI0pvNtFEJ
3/KcVNj57hojjG4AZmPms1CQLgy+5YNZF+IxbBsyi6Ep6NqKegqWWCtNnpPe8fmZrVzpmCLSdQMX
kekwePpA42D64ETOcFLhIt6Rrpyh98P7fMkGTsUsGTHWhITmZLnxYtsrXqHoV99Ncilokx0l7kE0
LKejNK5n/Fmqyy8cFMLHqR+n6OxhAtIDwLTTzMfGj4oNKVWy1hgWsdOxQE94t9O4e8lC26ANmD36
TlVTeCpV32/4CDTfC+UYj0PWx+3aqP38Ab6e9sWUuv9i9qOzM3vf/66sXv8CQX44eY6jvVPBjlpN
K+r8MFQp40jd4Lhgy860mY62Kc4Be+JCXOjeQceJ+lolE8qcYo95hQGPn9xePE4sAnqa7Wi6x/Vn
+xYpjQhKTM5JWc/sA5kcTjFtUobN3uP0fxRub8ig6mPrkLSmyLd0ejjwimJ2N/wjsZx2oRVHyXEG
D3VylD3JA7xolFdKupm6g8Xzf/RlX3xtG8oXV/mgCK633KVe7HSKMXzFw9gYOz3Gnr/i6SXXnCBd
45HCu5XSVD0MvRXA7fK1CwFkdz9hGfGqNckVh5BXmc4duL2e687a1kXlveHWMrxHB58N7dk8aTXF
jqPhuEEaqouDt6WdIpFuhw4DTDcCeokwuWvQw2xxsPg88WDOmleccS/U40pZdm8tIXQOrNicSdF4
zrPOfjMfs3AKHzKfM8F9Tr93GbEj+JF5Jh1HsieGwJZvCi9SGyQxnWmWVfQ9N5W8ZPybkDSSUt7E
dAWld0QTFBZPoy7s2y61Sqb/ZG3jO29wlbgTpHiHfdom3QIMKB/A30nt7JHErp+nXMcq6cvJsQDO
Q5I6QBdNcGZFOH/3ThNO0xZb89R+FPOkX2CCwvCqJ+WEH5mISgwXY2S45yjvrJCcWDKY4KH6FpeP
iachwWw3kU6mY8XUPyzRtx3GhWZQKxnWixrtTD6FtvChYYFTWmNPhYHxzGmNfaWb2a6LOs4SZijG
p5g29uIwJcSrqB1AtQa1pKL0huqMwV3B1arw7Gdmu8XX32vrLhrEjoCGDzSjodpkW6cee5dfhkgj
FE9Pkh6+ztQn1CCqQzeUCeTt+5hx3K7lOBU3ucVYF+NE7MxFgD7m1cdSJ++0Dz2fxoPOKdz4hU1K
tAecySXHHH0gwz0wkkNCT9q++IKZwk4/mbP21UOkugk9u07iIEZM4GrXip7Zl++/pxzuMFhNXe1C
QkFRXVdNMs17I/Lc/hRr9pxvvNBx7WDWXHLfZiNFMHuNdkqK7N2nhrUIpIFNMc5q9kQ7rD80ayRA
n+tM19roMe0lelSTZC0Pjz+AyZitHvfSKOp4nYQ4pcyO2DxPlBb+mKHhmgfDTfFWMWLoMW/m8fR1
ihrLQscwIg6set+SzsEaqgw8LkpEFvu/Awewt6RmB4OdP6qoZW0q8eqeopFPLKeWMCFz5U2OoLEj
6j9b11NLVBBCNrtQU2Db4ypMX2jbRAIa9xS9tNDDeT+8OXWCPImMu0lYuXnj6yUVdHy1ngR22eva
WqYVdTUQkEcyk40+7kbgFd8kS3+yGaXZfmkNiBQ4FOrmUmiiPGCS0Fa5cEOKB/JWrUBeGIJ4pENW
dC4chJQ8wv1OdggGaFocUlxOMxlGfh2CkMeJ57J75jfv720/IjjfVdCyNsPcHmq9HC94wqOXiZ6B
V8SlLt1hLDOPPY0iB4ULy1gpz8jfI+xjNeT7wtNXbmXoxXronRqyCb71/NZXSrIuWV6xoLvi8YWc
vE+1yUxybCRdQjWhB8ZkXXPZJ4MUCrnuiP4BKCHT0KM+YmFHj/TFz+Hy/9PQXmFgK2BG+MuUe33p
Lv/t+1Udur0U3//Hf3/+nl/K6FJefh1eGv/8yp8DTM/4jXVBLFo/3+9qVfhD3XHxRPAhhVeB+PPT
3/D7BNPwkYSYelI97piep3tYFn6fYBoO4F4GmD5mCfCdjvhb4F6+418mmAJkgiFM7Fi2vwg9C9j3
F5hUknlwulOKA1u9e8S0l+yLjmrZCr1z62vF8B09GOgL7om9qgrSD2TC8dALJOO5sLY+0Rl903Mc
wEhoDM4DsbNua8xheYAIWgQwb8dbN4zEjUU89cDno9p2rF14rMNqO+djSowSc9Vnm4R6e5MCCdRJ
KyTiTThG/NLVZXsjaXpv1vi0khDXqe6dXNqrDskwdFw3IsfP92mqLxrv0MDYtHHyM5/5SgNFs5lK
7+RlQ/8mzOJ/UndeO5YjWZb9IiYojeRjXy39ug73eCFcRFAZlVEYya+fxczp7qzCTAH10kADhXpK
d48rSB7bZ++1WcRX1GaseDtSWP8TIQolAqASRNPydaFo1dVwtl/KwncJsjZCM4zJMVQrww2Mcl0y
l92whLgVJebYGPGRh961j4K0RKLwvZdSmcM7NY0zSwY/7ahmyaJnTj5k5mwzz/FONoKu9FwR7+iN
EWNlRw7m1kk5vOJVSPE0qtQ8MwoD1yMJaiGtHVLSGF8VrCRu4eS+iTW27a3LRyPZ6BL32SQt7zUy
tXPpHDzMSe6bS6MHcXNG5uE4NYN+GMA2bpUTx9/BJHnDYzEu/3Dp8CDn394n5cqrAnWoeru64AXs
Eh7isvwUPSZ09kaQOAaAsfwjqQ9dkXCr6NnIrBun3agkjUTKJgKMK1eB4SybcpHubQGrEtVVHd2E
Kqeh1afKb82t3dvEUcAFP/Zjaqx0Fg8WG+u5vBSUncCX72f9ESdNdtKTr698ofoMuGtQG3uB4XUb
S5/sjQo3w9hWm9wEUBZCAT3gT0lf67bqNsy9zdkyKvloGD7reWymN1qLYqIvkKSMTju3JMxNAEhZ
fBCgunCGVNHRNtpmV9Bp87OZ5/mUuHF0XzkloYuML6qqtP/Z5SW1MM7YHnNgOQccrc9gcNY6VBUi
Qk/7YT5q3MOqfkH9iHZxH7gfqdVP59RULkMxPAABd97xVfvDNOv3IkmnJS+J46QZXttwQIsu+650
t+C+06di1AeCO/e1zfMh8U6i3sX+rFecV7Fk0Aq9wurXH7Cz1vXatG0Y83Ubp89cB/4Vq794BCMt
yoPZjdlJ8ih/a30zeOb8V9HUTEdasOc/SvExjE6B2VvJ6YkTQ3PAuu3dmbx9wGU7BFzWz7CaQgeb
XlEJigizwL3zwBUdLLXIV1NBJivyNX2vAwYlRSigW01j1H6ifLEJ6PsgfPZLq15nXcqNAo1RUdLn
iekeOmfy4Da52DBf0CdP2WN8X+N9tTdTF6ePYxBAz9JTUmydUAzvdZqxB0hdfZqIrN9hkk7VSjsk
xxK6gzf4gazH0G78A7F+J1xFZI+egyXL3Re+PggME5+hTIvnqbMrdQAa4H7y/U5/J2JwKOz0rIYx
crKTDwvarCQCFCyiS+L7t8xtIGiZhc3UnhVOs8urrNlrrKNQolhy7Os+L28c9p3ngZ3OKVKe/ZQX
rXNhg45WxpsioHERVMFW01hbU6HG7Hsg3bdZZ9YDGoLYZzrtLtQiFV8ZX2E+1cixX1tU9Atkc2cb
WXNzCByRAsKSAYH2gmOoVFNZAAeLzLOIausQNjo+Q+7LLlaQE+rnrAdiQxmW9UxeD1uqL6SBe8by
7/y8Kx4CFZuPLrZtkvaWcJIT6X3/BXiDiaYG2eJLzxVeTSqe1r5ZE7RXXrOs408ZZwSu+YxzK9Lz
gMhqUEGVFrppt4CLk5ODRfmgw/IOFG1nYAXwjE3tkOZOws46jIFVPIis02uPC3fbmkW6V/zfytJz
+dQOSCFdmyLnpuFtyNL4mo9F8JU7YXrVcZTvLLuaT43qaOcUhX3wO8/8zOcmvw4DuPSshCqWFJ5/
xmDLZ2jHQFPCJt9Icvlr7kXluZymbF5XXq+3flF8Wq2sttIy1MFxS/EDOxYpt/5HJuC6cuknRyun
BKaxk42Bx+wb4sgvGOP+VrTGhJ3XStdDZaQr6TSn1AAd4fWeewRqcbMNl4BCJAwaN0tOm1RaHWMj
OpmxQsasxGhuO2lMb1NdchiIsNw92BH70E0cG/VWYXeaS/k8A/PbFd4Q7KqkfpM4hI+y7gjsqPQz
MwYtSVbbPrR9NnQbKCLsT8x+Hndd5A6P1uBm13Ewagx8dbe0qJ/p7/7Zj/XBLQsw3i0iRjsy9xYT
0Nmgsi8WhCpUxiSAZyJUmBDVDCtOIn6fnW2HWr9Vy34O55MXSbogiGuu+sot9lBvTyqP6JmKvKmZ
iOdg49xYQceYmla6PgxKfhSTRAiQon93ZN2GCCpTes2mbtiXidUAlnGM5rHppNrPjQZIp9yAOYGA
HXHNGCAkZN94Q9rHWc294fwqKBdPtzziIZ+7VIgtgdNYrmsNEHNNFJLnQGq3FclEGxbAepaZ+Cqh
yd980elbmicAEkrsHL7mIRaGsBQ47F2rKrjxssjAxt6UPeMEbJw1bRxgtq1Ij69RlHyHfN3fZ09s
GHuuhFT6HVDm7IMbYvOYCoSyinMhXaMjZMrSIdttZphksiEFJhk3JntWOZ4yR/3ZnjrTFK07kLuh
wosS5N5na+d40vjDKxgv45biMqwbheHvlFOrl8ofygPSHmlWH2udgtlTZ1H8Sryi3hfsjX87EDre
0I/qne3PHkZtWRbpQXaxOugSzxvBA0W6pubMBADGLe95Bug9wM7hDjVgPtkMZK8pKbPT2BrjqbGD
eMN+2DzWtM/wQPI9qHclNa9ogkDMFe+VF3bzl9145iGIl+ZaxPNdW+BJgzLs7fPE289d/jIJqhk4
nuD3A61WO2pjUwjnm8C9A4AzbE4KIjVa/XJcfDRexVeR0ym6B+t0bsSbotM0Jwhjg7ryYDiNc+IA
5B7zevLwVEbVB2zrmqARI4XXFhz6gtLc1V2KO2jG8J+hHD2I2bAucYQHH3U1upYaLZzwrL2rwflt
iKyvvdSx7+KhP9v29NuyWjJa+AtN+BlM+9+9bLfu7E3gUxi17sK8cnclppozOdNkT0sQR3rNUyVU
1vDcRap7mVwOuGM6DjttjXdmzOEMzAU0SRgxCNgj0Rj4pts8ooFlcutw53ArS9aOM77zQxSoFf78
qQKw1FFmZjuXDgKyqbnzg/cbf70rejKluGv8XZ3k7taLTaCdqZuc/Mj3H2o2rCvqq00yAlF+swGq
3LGAjh6wbQeXAvHyMiRGTplCnXv3XKEgSOo6URfOIcVDGdveL8INMQvvqLw5o23deT3Rol5J71eY
ROFV9CEBHJ0QNoeVDgBduBq2eZm+G1bRXbltymMz53rTNv4Xa5Hw4JeY+mM36+86zGfvLJ+6bQmC
p8Q8mtXMRU5WX+upYemjUic9VkXc4lXy6om7B4uNeB7LneTodAiVL46G50+PhFVaoj6qP7GzBCpo
hNhcRzDyBM7K20hfBwHV6J5C3BzJM2gOjg9rccqpEUUR2VJ31uz8VFhbOCTxhuaj6k75GU86qkWx
vCL3l5SqIEOKFHBC7v0wOcrwNgfFrem54TE/Vm9JmXqkDGVOmJHaCVyYLitJBJ3VHPc9meA0Th5i
G82h6AV6Xj2PX9EkcTGBAltFgc1fntoBWgfP8ZEKhzMFlC+iG+IfwRL2sQthbnoGIqXi4xzne1jk
NBwX8mOksvCeJ+pI9QMj78b0+haBxtiY5gSbhN3IKqj1V5rqnvVlXZwypSe+1gMgK8+yTv6IyGi3
ubkZC9ZaOoFYaGKmoGokY833rQcz/I6D2jnSMboKGGEBcmipvia8Amc5CMCgSy3DztZooFEBSgnr
V7VjLc3b52r3ZmCI3s9Jru5Rbks606v60+QLc9fn1oCw0ukVSBMf22zLOAFl5NCx4LwWocnSOU6n
pyhKW+aFTH7kVjjzUmpk0XJOvjiM2bQoKIsOPGSnASX1xTBm/ZgPM5J/UzrWe+lXxs+CjqUdXSr1
wRsXcT4NJd3H81hw6OkC617hUiHy3lJFgT2GHU2Y7wIcgD7cJ7rvOMkBnqhbPi+PVeAbBhjNNwuB
sTJKdJiovxL9gXCwtECCI2crSTVDCoCGgX/owgsYM35/3a3HoaRWioUH46l5yoUysWoXvxo9HjSJ
uqAP+DXWkMIrZTOYy3I6tIEf7yZXNYhrVXdkpUy62qxIwA9IpaEfiVfDs8NLNVXRl8HMtCDly349
KC/c8/G427AY/Kszy/oiOrd494OoZzaCQFqZjLSsIA2egtNobC1pp+YBRMQIi9EyxktTltziIfGH
e3BUrPZ1xY5uGqtgF1EF+GWGmCSI+npg22Tk/8RBLyh0hCHxWjMibWsSh3edniWaOlCACc46gXZn
/BBlUvDsyEsL5XvCGgNI9iFmB3zKvXl8MNpWQ7hgv0H3l29vI3pFjzNKxWPIdv8DfGW6F0rXbzXP
N27xrXP0J7fYilyra4Cqy6Kpq8W27yxzY0dN9dB5nTCYWAb1y5zj4dkohfZX7eC2V+HhqGCFDvEH
T0TwLlun2fut/TvNy/DEhgJdGynPuQ/IYa6pE0khV+Xo2GbbJ5va8Prr6M/2SUW2vTOmqXjrvZzJ
FdDfPeF3sUo6Wd1FavDuAAKz9p3bedpUSYnr3i3s9j73u/rGcJ3VK/aIE5wXm1tNw0P0EXqKCkGr
evJYiyLYY85ST1nNDAsiKS8OhY25PuQUc7FjK143smxfhGlUVLuwQCOPvyxJgnQfqQjBPJwHOKil
sFdeq+dTwXiGjDvrN7Ziw3PIFPpAnRlPkzlzXgt7TE/hQK4TNATPokjPd4AQauTf2owvCkTptWxh
9yXWgpPLpHcElQbSbG5meDo0mHkfA2GwGpuOY34UwsobxIN5/OGie6K1ZGGL8NC59OuCpejPxtxa
W4fIsAauZ8y7yc/rK8/x+j0Zo/p18BtvO9cuBwOorKspsKsbZrGAOHbun8AbUzXdD95GG3Zx5zUT
I1a2FOeQCE2HN8vvxMYzs+QWuaO9V601+1gQcvE+W5HB0ADUheCxPBu5x9SZwjNfGb3bbP0myhDR
RcxHG3zUGgUkyYz9jGi1MyfO4LwOa22jyA+wi0UUcHfNtZG30BLRHqyCT8nqQhLeBvlQR5oYSvO2
h4vAvuvTgIHI2jpjXCJujePFNxrakhyrJr2QxuWaV814C/PrKY0yeU1dj3+sPUIRGV2sSf++LRVr
Av/756a1/72eVBdfyb+SdW/faZv8g6Zr//Uj/1fP9f8gLoWJFLPnggldzKV/ufVRel0Caa5nmUip
lAUjpf6nW9/+w/M9VFsCjAiYiL3/ref6fwS4SAU/Q8PjYnL9dxypvvhnp7dgLke8FqaDmgtNeXGs
/l3PHXjouFU3M8RWjbGu2KGXCKqGeU18lWxhRYe7vrYiHgIeogor9+hiiVLuIjk25zzDzx+NZsHm
20lDtuR1TO7FJmNP+Qu8573NrvE6WmkCvZhc7zbueF6uS0gPJxYZzducehKttpJHdq6IZDle/b4Y
uu3AzREMT1zeUjZa3Yo1yBBuPMfFG1gQicEtxnhMuwdmzPJoB9I9p2Ma0YxYuy0xXce46kxx+Zqo
pNhmw9H4RXRHFUtOOPzEQwjX0dTASrwsPVU90wLT2Vyx1nTw6cBPHLeQgCDi5DUxU+ZJxfPddrBy
AAuiM62T73o202uq0udIAej24mI4EmFWH7hVkrNrN8kjU7x4ErMrl84nG4es0W5NGOMcHFAIhskw
4HGYUJmV3MVVOW9D3rqtFWcJm0OMqUAo9aMqIddgHbsG1SjPdtxRKdbm33ZcE5wSVfqIRShDOmCs
wZA2/RznSlxYO3ISn6mMI7EtcgoR2F86p7xKETFa08E/0fZ1Mq4q+h7PBuIZ/lIiuigStK1AKxv1
YsdN/ODFimfzXkwtT89ByvC4uFra5WTa3HIoWIC6eAp9VH6im6MGmXcWcYyCZVY6usFmgm1SNMFA
i5Oiz+Csa0tCS5nqhFy7zwkHg38c3tNJttz/OhYgu3KCF428gCZQy4IofBQ06SYGJJbuhAvqgRtv
Bouote/Swch+GkNv76JWl/sSlMrykgZwtnEYvNRd6229LhgveVsMt87yJR9l+Kd1YAw82ItaDU+B
BappRfml/aP3tHitanqjkAOU9YDtjP237Q44wRRze88p6FCErkZl7AE9dSYU58ZLs4c2TZwtY9yS
EUknXBqalzTseslez5vkQtPhBv2Y+H3AgJqbS4ZuUWiKAoBFPlSHpvarKyDBbhcPT2zBe4A0A5Tu
5LXSbPKqfBru+o732ILJ9w41oL/3KmwKnpsQflflrUOKcabJws1JKCFv5II1MnjLKEVYK6ugJ1DC
BtxLz6Nqup9G0E5KpZoAo0EnYE3d9bztQ2p8EEFG6J/QyX+hs75jilWXrHHKq8Yjd4xr6LarDCfO
oW8Ll8lxrE7l3AaIhzaBy6yF2A7FMCrPfWooqgW0lfrMO6n/UKayfbVylTDLQpq5tqGl3kYbVWlj
qZo0hg874uzVUT8edWC3Pai2WKRA5p1g+umi9zlPoG85E5KI/WYZTXcY1FEh6gvL7onti0Xc2/ph
xMk4HpNsYVuwNMCVVzlubn45IorCS1lBm9p4E+H2zq9yuvF6H6tJylbAWbMkmF7QsayN13fFD8se
3eKEOaTBsJPTFzt3Hj1tKLO2RV+WY+Zb3+vlD8q8kEJCeA1rbvavfRPqi+V07Z2hzfJFKs+DImgz
bKCqjOa372f+vqWl4Er9QM6KzIh2Q5cR/yvRqW6VhfRctpH1LtUo177qvMPIVcQdto5h3XT1s05t
UDvs6L1pXEu3qb7joatIc4roV2a00yHHpP2t9MisYJv8YisCbr4FFY9hdYwdr31ODbpD167fBjHQ
Z2j6jxNn7WHrt+0ScWr4T48xSMNNRwJfb9MM6+Qhssc82hS9LuSV5VdtH4veoUPAszkjrqw8np+B
cC405ASTGVZF8tEcjFxgEDZVTQMp/TC/jl5l8HiJWSpZCYLr3FPvbtdRtZ/AX5D1J2pgyfgm20Je
sArGa8Mdx5HlGrAcSpq4XnVbn3qRYY7lcK330zgW15h12Quc1fjSkVFOVjNp45+94uWsVc4lgWJC
5RxpzcY5c14I5l3jY/JYF7L2Fx8hQ/U6ojnsy8TCyOErn8LPpEGPWNVZqstV7UPRZ/9iluEeYAsF
J2Yx4bpzU89lcEvYI7U+wz8W6wwzNBmypVut72Nc99zg05tfmQp+CSehY8Y0etS17eqrdCt9cDzB
VdAaxbmiAQHGDJEVoDOgtbAhYvjQSffIcbvbtVItleTzozv4gQNRMeqfzDEnTwZqB/ZtR10kidVy
YCNjz7n4UPFkyk1ej+KH6r0+XLsCZvMBqsyQbPtGzJSJUs9C+THcibU5aSoCrdB88axOP3XwbVgA
DVP3JBwzPCPQyNVo2O6j1TbuD6MNizM3bPfUYvVkkEdq1Xq6zqF0cS/hrmKlQKAhRB7suGBXrSXn
b8rAXYx9zuIY4/wlFnpj0S7yRsiis2kKNe1apQ36X6Xr/GZwIsta44qaHpzYTF68xBmW3856N2cr
Fe9TWIcv2ZhxvyOB03EwqcJObVXRdDeDgHS0MgY7/FHLkHka+CWHNU4OzgEwFu2fEf2mI54y5jUE
U6BHNDu3fNCpCxz71o54KLfB0Eq4ZLl5U5nR4Zh2EFTWaphKZogQgiHiaf9OxV5x6+3ZoPwtmqkf
iL32qZ1d44P9vGevkVf8dEvihRuNWcDeTaRNOaQtXfSgQjWnKDHM9iBqE+5unvTtr5ZCVOhGsY4D
lB6a4Q/V1EFTJmbgJ+vAaFh6JGbCDVvMlgGNCi/O1R9NskBgP8WyObPqbyuwvZy89VCd2qRx6rWr
m6+A6pUDHnv/q3cXI2owRoEBsd3wKF/zihn9qiGnwr48fveiWF04AQ0/jFSycjanNrsOVvUS6AbN
QiJRWVvf971zoVoKDIsh68Eelt+mS0KDolH1NpOCoRYx5zMfkLHuxrzGQkldQwfVFdd80WdEbaQg
uLwr8dHeZylg9pURdYbFoiRD/8xIG72nPXIdeUjICRRR2/ptSgogn3mOiZ+6Pdh6rODjl576ml89
xjIuaRYeOGz7aqa6fC756o1x0WzmTmF+jm3SfKumBVYChUGEm8gmKz7Qv/k6wBxa0Z6o9kosZG9M
3tQeTfOWVcaegfSQmzktUyqDH+lOgA9Yf4gO7bmrTk7A4p41nrs1W59bIGar9odOQ3YOuH/WPPe5
n+R8K09x4ESHLkZgqYZYP8O+02tJGGFD0dj4HjZCynVL+OAzxusDQTpJnK+xwBAdDUgb1fyeROLX
kEZYD+hoOrSRzZY8mCBHwREMyLng6YX0GNHUByQpmfcUtOMyNHA6veFrGs0fSVMZBOpHx7t3BhEc
55Qc0NZREtZVjDnTYpvT2w032jL/rGNvhD3ADWKj3YqUjwgSA0RqFdYHxeNi3fEMOI6prB+rMNWv
Ucep3sM2pvctGgUhofI8YHQ2EFkwRR+Mlq07fecl3OLSDvUzdMclL0Tl+N7x8+LTtxgS7DR3vU0B
LuiXwn7P1GkLfvcYqAfuQDQ89qZTY+vIq/berHV4cU0LEjY7rvA+h5/9ZFp40/eEVDDq66lsforU
T1lj1RlFpAxo03sALu2rj32uDr8DInjmwmMwTMuEjL7o22fWpM6ldx37vhit9iVwWI9tnRqnC8qL
mHjOAmBFuTPCPTTN8cC3Rye7IjH7bxdXb3qo5jQ847Rgf25WpKLYLOgAwtvkQHrN6LfG+oFXQMrC
jVdG68cYwm2Ba0OXFJj2kg+wq5yuWzOyWR9h0PYnS+j4qu2CtNcULCPY0AFawxptK4YDJ4IghDRM
58rUXsBzkZdpoKkbq9mOzHCflG7xi5tE9pFp7V9lYGbOZiJhtuU9gz06BCmhCCC/FCThyY02VlS9
tiIbzlys7hpZ2FgPtWOdLBJgIJ9yF7mdDSl3VRwvPq10GwDpEU2sYuFex/MUv2D9QBIO0bBXinXZ
59h72UXVXmiv/DQYC+yfyvp0eni0o5lACGbJALaYcyPJ8npb2eMZWym64pxn29BJ5M3J5vK+8kVG
z6eB+S9sJTeWukKtUjR1etwkP0Jp+qsq6L2fLPDmz1E2BRp9MMXXCRgyDvmqxAwi4yfIbPmbHRXm
E3Bzzn8+z5C7oa4jvYdDjQGVnH2Xr7mwcKV3pkdJU6rU2eay2CLqkrVgjaIDhoKyfAK2jF0y4XU/
hL4Fxt+tHYqs6RqhKLWU0C3GToI9d5LDODNcbBTW+2Styjb5Fg6J+aUsYNt4frEH8j7HO48uPNyD
YX8vFkyE5AN4Dr1BPnG/aC6xw8tgMrJyRpfFZap54FKoOTzbmrYlPlBW/vLdz7jbjktdN4ySl7/J
H/+P8Pg/R7cBwoQ0GgLIMc3QF4us8XdFAepXUzh1N+/JUWcPlJd1d26ydMCVln9KZ+nvraVH8F//
0YXv8vfAuiBW6wAfCUJQOba1OPH+/kft1KrmyM/HvU5ieWHK6O6pwqg2Dordcz2rfseRTGA/1c2v
f/2X/5kGtPxlZBMLLKSLA8/9p0hv7XnalwXtig07DkYd3x1WYyWMs5ocdpYSy9P3n3/xf8xA+Q9a
3P+isk7bWjAB/3+Cxn+07Ufxd3PlXz/wlw4XiqXlx0Zoc1xCo3xH/0uHC//wPUhOvnCZ7v5q4PxP
Hc7/AwnOI7Mt+OFFJvsvHc52/yAz7vF1s1DqHJ5A/44O95fO9t9f4MD982JhX0YFKKwPyKL/+AWu
EvY5Cd0IB+AXWHNNDHvWlsIKJ9ubVd9TFEc72z1RJQILIdgGlN2Y2ohV1GV1sU46f2AKofdIbWZa
ByA3ciykBMfrq8No9Kw7UMuMA8WZ9NxC3fo1WR3fVvwl6Qn0AacL3GdLFI0WXQEDPlt6dd20tB/C
dunatWndLWyjvIw23q526eTtbfcpWFp6eQenPfB+takqu7tmLaUBQb3JlnZfUBsnzDI0cNP7OytN
heaf7pqlFXhWQbXzp5zYRE5nsOPho6ioEaYfxLpDKIv37pz8xBGTnicCF5vMGASAIgTJikriGu7b
WlNSXBaEwvOltxith7jJGE3HrK66h3npN85TE9dFw6C+0PhOJTXI/tKHbC7NyBla4UaH/M0gFb+i
wbfuumb8nnsalc1xAqqUGXei4bGRzZ8htQgGJcwkCn+MnB5JXVxcSpq7qT8VkGPxtFDf7FPkTPpW
7yKqnSVWoJZ+klUupgMP72pta+c5DhOww8hwW2/piC6WtuhmqY1OvJHiIf+NhMIlI/jEzWSjW1yq
aT822xDkL551YzhbmnCL3VinYumonlJ3PxpI/0y697mqlwjvSKmbG+Ny0rX7OWlDbkDemQ8z7Zu3
qecUIika/Vm0NhXZlRiWhnIRkRMc+Q2IgPvS0uRmVW/sZd8ENyrI/bMzium3CjvgnW7qNKuKtMc5
rwt9UUl+A9QJdRGr6qLskZbBoQ8jlPChl8ruu877fA0T4NFqwlOOqrK2YujE5BFILdqRjg7QUe7z
yg83WsyPQVI9YEzdG7H27ynU1EcecOk5bboFJZlH9j3NHM2G8McXEZxxFxjyJ6ex4QqU8mjYCzd5
YCX96Ps9HH4w3JhkkU4aEeycrNbbcnQ4G4GIPHe5f7MM13vsMApYF9+PsoW3W1rNppwMxKDCzYt+
1xWyp6Fe6tjY+qEUzSojK603sna57jKxZLhFnxZ0jULyMvd5mglesJHZjzhHQDVlDuUjcEOdEkcZ
mVZz3ZOpQHMj9h9vSTJMMeWxSbqcQKrI34CX01AVKI2kMckgU7wqY0j7F/TZYmF1h+yCExtNE36Z
m9Y/DHRznJlGGXR4GQpg4qSiK8KdQ1AOdx4J0OkQwJyczlGTSL0LRo+ZPi6VCp4Ku/GqY+5Jo/pd
5+kc8ncpudyRqpYhhyMjw10CqtQlyoUxdjuFMTvueDC9ap84YqJ11Wu02LI2pU0lKoyg/a4Q6It1
ZUFr3VhslpMV47RH9pBYGJCV/hQidd2rWAUTu3crbVZUYScV2pKGCm8PBlUTgq7WAi8PoYqNn0ve
LD836Btw0Sg53eWZyRXSBVwKKbZGxtXiqc3i7pdmX+tu0oRn/TrPUiu/F1VWZLuZUvpgW3TUM94l
ecmn7yJC7+NhtLutHeWgTUF3zIy/+OhIs/WJbx0FjkH51ShQq7uQ2FOOlSKIsCwM1vxRhpQTkDZO
HsMSyjjxQ/5gX+cbctNow2WN2HucIiikzNzjSmJAFER8CT6lCTRdt/vQZQWCSyZjc+0rmKirhKzK
sQBR9xEsm7oEcrIp2ucM+HjSjW9BmY2btmw4q3i62c15Ih+czOK2l8ZiF5dl9+T6PqjAoQ3eY7tR
BCs7d/5JD9K3Fn20UWZfvkYUatZhuTFakLaFGrqz4PeqlehMyyPnOeqhuHQKyMg+5PD9Sw+TAk0W
a/Qdyk2b26RYzlMhEIG51XVnY/NDd9vCRZf6zF37dejcEcBa0nRPWeFL5zGSDR2zuLGDDYRycW7t
5RA+qc4cHz2ZUr6BgslqxZR58iRJhH6Tp6L4Q6dFm2wC5abPCjVj+BlXHNpPs8XKfJcMaSvQ1ago
S3P0Tj1+kmuOAshoC1EdmEq4Zksy76yIXQKmuuG+68h6ukYZrwdYBtfA6R+mvHePEZaqB3Z4PeLa
XL4Ys+lfjFCO7+3o1Q+1YXKeQF4On9tZTg9TpAp5P1CG8FnCSDz0+ayP0VD4WNT7oPgQKK2YEFCj
OSqEt7EDO7+CFRJ8xjYeUZnmWbNZPPxipahlztfEgoPfgZybC9E4/TtKBiJuaVj58rk1Gh/aLhUG
a9sRVPGiIGbydxoINNHMSEwoAYN4hC8ifhTayPaUnEBiDJEj5MUqaSszSnpTjDJUz1UMnQFahi5/
2Qjtvwff0G+6sft6Q61IuBFeoajeBL2brtJxbm5GlTpXQHwGeba8dp+NzGmKS1mPQX6gzcIVS8sT
Jddsz4I3v4opKsvacNxnCLk2aJDc/a4MNTwAsQuezaqUlzKlIvisqM9DE7e8n3PPE4RCO26SfjHF
b2IwzAd7xAa1kpMcr9XEeSkA+nOIdEjdBmLWOYnt7ji4No088CzKDQdODEt+ThHrLlAc19azMbn2
iiaV9mVMLOMOnkOx9Em0WAVFLGd1LYyUbPccF/TdkhyngFaZYYmIAKhrm0j0m7YbWSvNjtN6Dyob
5FvR4qff0YfuDFuSlBF7qCj06ZNYTmZHXDFddDRSG0cwe1+ef0AjRPkweLZBI4qIEvuB2hRCqyMi
67AzIlyxJKB9bFZ1wktHNZUxOCoj1wiPgZXrPYlpL76kpSHo/C318GDZURqf3Hr2zAtLmJnm3tCo
A7xF1WNYjYtfLDOm/pE2d69+jSAsjgUH1Iz+upUdOua2zLnkwyQJ19oSwzXnTLrXXRM+R2MhHjIm
l3hNB1W4FoQvD0QHHeqhg3FT2ylgl4wORA60xSFgZbAf8LZg/Bkq6hHx0F0gLwcd3mCHYCEgenya
sqk1X4iB5sJANJAHqJJA9DXv2kmnG8g7jwiQ+VphM9t2AnByK+vhLbBIFBZYuF+ytmHz2VI3szKp
pnl2vTiJt0w3JZ9wNR5ncAv1ReG8pQzWBfFyECTB+VjrjpYOItBud2/b0vw/7J3HjuRImnVfZdB7
FkgjjQKY/hfudB3CQ4sNESKTmjRq8fT/YWTPTFZWdTUGmM0As6tCVWaEu9PNPnHvuddu45iXmRaZ
DxY2oGqXxeSrr0v2oiOsb9tOfcWg90CKq/mAjSbmY0a9FW68qevuRgxPiOUmNz1G8Bo/ueY4LIN6
QDLSD5EZ7rNYDzYG/cebMnKPabienWHsnCvHGHeEGzK99ABZ18UsL0oUtH7RyVM1S5OJUXvPfisl
0bcIToMm5zcujOQudET2qTrV76q0MiqYERqkzLYOkDpaTvUZhgyEylIGB+zUwz7rcy4oRYJggZqO
FAVmjqa1rUwHKRN7zareDSNlO5rj1ts1RKWz8xrH+Tq1mI9U7VR+qGb6AK4NvaE1EGyt8c/KatuZ
dLC+QTRF8kMs8k/ZtggffmrZ/9jxLI31T8oDE1OnXiIJOFhlhiOAdRSSAEJS7n/qAf9kHPFnP8a1
MHsAJXQcIX/pz/s5L8og0IaDM9bMWxNCkTF5V5bzL17O7ycQy8tZPl8DSYZOR8i//v7lGJ4mWteT
3WFGPPeWLDe83c50BCFZCggRtTT+RtBchGarzYX7L366+P0Y4sePdxiAICVx6G5/fZlMqgDk1GZ7
sOpYbaOlEBBubm9RWWFeG5rsxq2+TCgWRJupHH1G0M9IM+9nqgvrq8wgMidbCg8SE9AnjWfCe8qD
bVYEyemEqSo2vi2qSG2Is+sGHSlBoc5MtHwSsaqT3sVff25/fEF0wrpDy66zmrDlL0Tf2bRIwyw7
tYyiG9RsKYbyVV/G6ENZuyAc5hh3zcN/94eacAct9MtUpohvfnkm6yAIrT71Gn5oOF+Yjkkt3b7o
dQggd6pQAf3ndOJPnszfWymXj4wfZuhwpA3+Jsv6RXoTeqbARJC3h2GOtQ25AZ9jqm1zfWz/xav6
41fAXJRC0pVgqy1TLv/9p2+ayBuDPQ7poTFQuPbaQhzGxVkYstv/9Ssy/vihIUiy6CIpE4lZdn75
0MKUfRkav+yAPNs+RR0lBYv8aKEVeWbnpwK0xs6bmQhz5Q3NdTqwATyDdUbYR8nXfVV/ykDN1tag
HffjV31Yf9WKf/2r/uE9MQzBo+Ux2OFtkQtg/Of3JGSNjOHUjQ8pdGjnoNyuPY9L3trVf/vnwL+X
P8RcElvv738OaexNFYYduYe4wvDQO6JAyRKQFvb1c/5vKHg/KczTb595XPhx09bxR/vzjM8gj4ej
9j+/d3+wXWPfePuI3rJ/+7OE8B9/+MeE0PF+00FnwIj0IJv/0OP9UOo58jeeahclHsNDYsB/UuqZ
gOqlNPDF2KRFYNzmG4F9oI3+/jcTHD3ft8VjA9vj6z/9v3//3e3Y/PLv/1Z0ZD/FRdv8/W+U8jwp
/zUhJBScuTbOb2kxIzQNsQCBf35iBXFQaqDf3bGF4a0iXAV3r0dHprSJEKHWhBajR94j21h3Zy9I
bkgOLR6lBLcqbLlPvZ6LfdoDqmdMd93lXr6z8jZ5zWp48uVsKxgLwNw/qhY9tddUaEvI/7vSAoRf
ICu0bdkVX61WW3+CwZh2Y9Q4t+iX42ET6cr6CLIyt1ZQTKItDfx28rrLOLGy0xKu7neD3eLmCA+I
oCDSGfhrYuVd62Qz7JUXds92WHmfqWZ3RClFU7CrtaDbmoVBS7GkMH+GoCpfwYZ0x7lJhC/tsQW6
WkZ7LmOmYEQSI6epOh+XxKU3xe61yQxlMxF2ui8jxDzVhJQa7K++j7tmPg92Gm08Mj1QpzHE2AUZ
IJcV0DH10M9l+Y2oXvuy1TXzWLndPYhY7wmdgns2ncrCdyoZlAq7ZLsGZKhRq6wlQpI8bkxm+FuT
fsf+Z4TqINLnBoE6y+CxPRap+KiDvL8M0ji+ICul2YJUbO4ybDMHc2rAhQSzDlQvdWJw5qP2JAJo
nyz4rYvQbYJ3NfZkoIwILb73k43HYXL755Kq/JIPnNcpmc4FVYGnWreuBhk0BRgsSQppmWWbQHe/
j1Za+DYpNsj8+j4/kpBLWZqZH0M+sJOcMxxplIvBmgfe4o3Sijsk5sk2mwOSpd1OfyZ5hNvYZi/M
1ok8jy41Ls0oavZ0CJU/mORLgryBdRO2QNx6SdhnOJjJSWrBo1vPgy9jI7+nQAaT2eATaefIfBkn
le47QSx0bzn5dZwttvPaRTpis81c1QL3lhM0myF1BOI/u96gRv0meEsC6mYlrwz8qwdGlSs+dP0C
FmN+QZat9ynRez+MQG86XL/54zSK7OiyLb8fCtKiiM70qgu317r1oHRx01SmXqw1TyONvbSQilp1
pz4bq7n2iKtbG12oEMMm4mo2p3ybDPZ4FcFQxDsveGpj3cseMgc7sT9S+m21nPfMS3AQEC3Qvc4y
Kk+a66rbLlfOaY6Vu50GvV7hcP2srGZlG+ROqclxHhHqIE/BvIkNF29uPSX+INNoNwZx8WC4eCKQ
D80E1pGKuNGDwYgWKmR41ZZ6eDZnw/IhBYBUmQxwQGDfa33XmIsvLtCndTclxtqhK/xw5xQvpSe1
ak/Mq7VF9utuxjo9z1350Rjj0U2DZI0I0Bd6C9ayHC7z3lR7t2LyAMD5PgKvFBqFOJAJy7xTRBjs
fjqr/6RGIpnjD6eeQD2tsxExFojFL9vEAJXcUDYcB3EdCoJhsPYR5qCKIuJxLBQ4Z9yEQ876oCme
szEzow2Wh/rKmo3YXIVB0WGv65moELTuF1GRnbzeDBd/p5ZeMK8onssqq/FNDbG5QayFCaRFFrFQ
SOf01vv6Pqdf320zoqM6FHwv2CMu58IgCTtkBYH9d9NZWvr61y/dWaThvzvxl30VWnIqNseiUNR/
OfEnAjhxwoT6zpDhnZdh2s5T805zx1fmC8nKKFMkok5YXTh156CP4zPeuv2oeBrICcVHA43GgEaI
KI0dcMBURsjBr8lk/JaiY74ne206OKCTrBGjnTkjMhVd/eo2LZ7hGkdy0RxFJtx1msYfFREJa56t
/Dx2bn2grsU+P2VMcvE5HkWV50TZpn0FlCI1DwU4Qnutp3q74X0U6wDBrt+T1bRDKZWfO2fwXmna
i9ep13E32tAjBBP8KxlO1VVG9ts2GowcSNjgPDNACg52bgbnKY/7W/4VP+vcxc+Jgft87AccUV7r
bubclruhU/OutAfzQuCkgHBIkjM8oRa8QivCu4kGk/haYmHX/NqAV5M02qZo7Xd08/Y25ZJFIMmG
gjuoizd1E9SPrSBfLzQ99ZiYiefjkbG+27oX+nGbpqduSMAeKJmcFMgfYEaNkI9aK8U1oZPandkM
IB0DD9HiTGbxN0BD46OtlfajdMriHAVVfca52x91CFR79D7RRVDp9V6QSpLXrt/20WIKI+evcpux
XTmdMd6IYRhuxiFPr/qh6HDQ4CbfRRaKi2zqRj+ZqvqO1GM2GWJmRl8a4h3ZQXBfBlaJeTp7iNqE
xMp2lgOu2mbOX3MUM5eoGduLuSbxFd37eCoYX13kLqRp187iC7Z8rJ1qBIdbFvvTQqLEbKbXvQKB
hNK70QZ1YzuDU+2Y3k17CbrQl5YJSqRml+H1c3oGZVpe2uPc+gjrGT2HJsG2bGtv8ADhT68CyhWo
L3a2Zth7DVfhjlCtFbFZObug6XJsbNLGXYeZEtcEMdfpuVnOrNDm9AqWc8wMjegmnzXtu7uccP1y
1mUE9pZDLZjZx8t4KsNS/HUwdl+HJCeF5XfLyVkvZ6hbR5wzME9nDoJIJxp0OW8xjBUP43IG18Ia
j8VQcuYqUU3PRYDFXkAfOc1GWd3itylPs250rwjJdb9c+COpVostFkIuhmS5I5zltiA8E25Kutwh
gJlibe8A+o7X7dcVpAPMhc+rTe3gp0bl3E96Ka8bRVStPy73WlxHJm7K0kjlDq9CfdQQqGyb5Z7s
6mQmYma5QYlAdd8HlRC6I3mmTe6pWJ2Q1GPfVi1JQmXAkDGISJlcdCdc6axX+WAnjZk70+l+i2ic
MNS54SNyvqqGaSkgMOh9n5eSwv0qLoAvJ+uic6QfLXWHTvkYeBHQB/Cr0DAy1wX10I2nnIhHP/O0
8RBIEBQEkOY7Renj9wQ4H5Kuw2mNgRH3f+9Z62Isu3HlZWl6KQEyHsy2ZLnMUvMpAipyxbLXvS0m
sP6rGlLYVkB5+VbNSpxHktQ/+qzrz3EzxQ9al7R3Aeqkxg/1zjmQVaf5WlBr6A1BeVzbhjdgQ0a9
f2VrZrcHv5FeUtNNMeeGsJcRvpBnCOvRUQUqv2oxIqMtwtzyPtb9s24r5XuuNkVrbGpymweusXMR
jBIWywtP6BoOtQYTmfWq3bP8dZkAq4bRH1op7SznEu+hPVp3eVLaZ6aXco0sjecjj8t7VXYhTAC9
zg6mFidE9sSMdlZR7yZcvKpbZx7IyktbsbK3+wG2HPvu99Gbuw94uor3eGZuQkGKzHoYGBqvbDt0
FjoAb+PkxBjsk8UyytwnPjq2Sk9D7WpHDwrQPkd4fEwcYGfLRJGGvbLDmzjU9BdjBPPO/OgeW0C+
HksNoEMRxMdoNhrwk1ihbsCAp68JYnufXadEglbn7Xso+/BVde1igSGGDTZ4sON/edcZBG/4jeSm
BXqCkMrj4YdUl3GV6/HNkj24KkyCWFk0UgUi3rOtc8zLCFj6raWdII5QkDGS+ZsuNI1MoxLjPmei
CT8EhOvWjVuovEwsnssmtY4Q2btLaWJ8gDzYbQa2MfxhHKKOIAwQdjxuAaR946amB2Byax893fqe
D947RgdWYiNicVKRyuLg1HhnZn2gKC+SKryNcnPacfJQWKMTfiRX0rcxBD8alhLPVmV0+77L1NMg
Scwk4Lb+lvJ990ncbvZ9O78Wng66NIP5kyTSPkirvETjeJ0QJkDRPwLgHYEapGg7CNPKQOBiixhh
wnZkB+inWlnq4Not926QyiNkTXM/tyrZGLWcXmKN51RHDn8aB61j/GIHH5hMrF1ou8kAP24p6+di
pFAeuxlzhvXZdVGw86xK29rGJMAs5vFJETk+nbpCK29tpKv3+INAVcTl2H7rU0W5aKaNe1FUBadN
H5rJXaEGG/UhE8hVgpdx6ySW2tWlKSmNFdthLYD/5DtebfO39vFbFvc4gh1VH0Vc5Hx/Gl57nwUH
FmvJCWFCu3Z5odCxgNxtLNqRaxS40b6onXkzeFmzU2Qe0jhBUmCaPR1GzxO7WPLzyQ9xnnMqwXgT
zJOHQ7yYthL20tY0Ouc1qmID8CnWWUTQKRGn2cS3tp50mzaUDTp6wuaQAHn08GvPjv59gb9teiMw
3tpec6490kMhxd43qYN4U5A4fCvCesp3QxzPn4mJnNyM3Me8LSiqO+72WSA8Hfp62Ll6hSM1Msed
jqHBBwGmP6LirIjlnTiKq7qvOZL6FvaBYBvpBLlYc5XwfGds/O8ZT8z3NtsCaIC6260ZUJMqEAFE
WNIozxnEjcuElh0l9UJWs0CKdJCDbN9qa7fYeY6n3Umu6rNpFMN3K30PICIUA3aBlQjnyL5m/wT9
DNPyKtKKyxwkL9p5268bTNurIkt2dtxBVh0FPQbkD0i8nxMBFwm8N1ys8HAzMmDRP/qqDy7aIZmv
KAhPrUCaoHfPbvpazrcTSk9htQa2e5F8T2R4laZ5wT5P6TeODKoXni8uL3tqr4cZwEEWFepZ7/sB
FFXGFGKtcc/uPL7RAFaa4QGOu/kS6AAX7MSGcK031gFzRHLkJogu7AzXrhslBqKGDGq7RuBYkoRQ
6JJ4xVofyDp7/Zs4UfYt4NvpVULiJYI7zA81SdTrOYHuT3qZzPYu3uGZ+9QZnzuOvLUqyI1Y1ifR
PrRkjkRzqjaWge1u1rzxTsAs3+GUQIWdOdaWKXuyt1jk4NKmksUGP2362Bj31JA65OfSxSFfm3pw
xpmpDlbVjdsw66wNIZvRQx1T+fWilWtIxrCerNrbh1mG2xL4LjulgIU2v4PwK6IBN71qk+eKBB1Q
cmMYYsPMb0M2gnBESgzTWPeQ8LK03xlG+gBiSB1ZD3W7FBce7plo3pIlQs+PoefeQ6G6mTtVHhPO
jB6kbaY2EpSyWLeZNqAWa1K+gWmhc2Aj/EIe3vHN4lcp162X8yf6FmbCFBTm41TgYGDV6HwoIjj2
oEhAHiOY8ZuWvSfKi3xfCMHvXKAKB1IF4S0pOc0QeJASh1dj6tLghPMMKItRrAovepcMZpIUwvni
IoqCU50HYFfS0dx0ZfTc5i6+CxR3m0zO05EJH1rl2rulL18Lj6S6VORjugKim19GKebLfOgdnznB
vIlHGdEmxQ69OTL1U8R0mbcgMFAalwbSsT6hYGiK7xHIH1CfTJhdc4IrrAUG9vyAvXJRJJg3szJ9
gbVSZ6w2RHALhtC7LCi0z/Qq7Qk7UXfQJ5vJkrQb8zEhU2O9eDRfyDfK1wK37ondf0L/p5K9gkuy
180421l9TQKeWTT7JsbBiM9bHxMHoKDlzdvZSYwd3zDzgVyM/NxqBNHhEao3cc7sI/L0laGH5qpN
0lMpJAifPZrrYgVx9IW9+TqpIvdWFL0HdsxJHlnXWocqzbILJ27YufIVPARDcg5NGxvYX/fC4s9a
YYmJWhiO7gnd+2VcPySFCGBcuTv4CM1GWon9UYc9ordKAhkEmUP/a2ZjyC61KNJVnWIM9KNIaTfg
06d3nFrE2mSWjDYTwjuUT8u8kpkOGkicv52xJuTD0qDpLRNO3e7IWHZHBoRTabvHWKLaXuFGQpHz
9br+p6f2/4tEumB3lt3kP5/HX75Fb/VbE7U167IffNTD59//9o8/9w/TvP6bp7Od0W20BboOBPk/
xLqO+M1GJcssRLoEo+JY/9k0r5PfZGOjEiYi2sXq/o9RPBBUZvCLn/6LrWqQZ/bL6P2vRvHM3JfV
3M+z+K8AKbxApokkaJEO/zKL7ybGuUIbN1OrRL+3Y8hUS2hTSyC29T1MkedDBHY8E5F9P2NVCXvU
D0aoGydPczTwUk4Coaogy/s5nyzPu+o7ffk/CmLFzIphkB/P9AUjhldqimBEQOAwFVkFWpKpG4nW
7wnVYhze6ZM1lDcVm8SGPHQmEouukVFfXdiB8K1sINkJiDz70na2U860HozyystFPqw8TCO4A0zo
KGDtivBctKHx3UhKa5OMtvDWVdp5fMUr7VakkSYA7oA5940I3jTpzOQkXZM4NVzoFR3lSmZ6wwuo
h2OLKcL1a1n2wRWeIwfUuIt19tZNxXPSz5OxQ9BBoVk5cEowMdlIYmJCONCtQgW5AHeOr7VwGxSE
HNkhuuIeMte6whV/D1qVrXbNkEInVo+ajwEcuPHrxtSho8WQG+0KhqKmmxOB1o3bZ3su7SE91qNa
BrVhg4TUZtuiVlNDtbgagVPeiNZIp7XSrW6lSRlhoHSJsVehuHagRV0YjKJvGGqol8bQPmTdkv/Q
wFBmowkWYUM4e9Ouys6GkGJl8RN/G1q8PqzPzCTc8iAzNaB1JTaCTEI9tG7TxZp1WeBQCNY2d7mH
nbIxmwPOX23cYmlGMhzYupwvrdaptWPoGIqqfuCI2kPlSZ5geg3drlNLFmJQgyQCPQYc33cHWtVi
HI1hHaNSLC5cvS2xgngZjXjZQ3vE+W3la5rb1DvoFjXiCUwiLijXRj9LyvBQ7MXotq1vmKUoN+Es
+OcWuOKEVCmKg+2UwhLgaqJB3kS5J4xN5CiIMFaoxvsmijTwuqNpvSs7qB7yqNTRDdb1Z4mVeTzy
1KH6Axcx1Zu+bsl5l0bprSJUiehYGkb9eBHneq1rbp9TbQX2Ee+h+a48oxv3kYG2bhOh4ur9yhN8
YlMd4rMbWirdWNUpmkXwoHXsnKnM7Iem6bgA26DSDmFnREd3GBx9BelUPaGjNG61Lmpe8UXZJ0+m
+56tGPYxfrS4W2A7ACZA24p7Bs8O3mk9JV+809V0Fxcm/tWI7IleAiZdZ5QUxnWNb6xC2pWKRQc5
q34/62F+6SVe3e5Hi7xyH+9k/tKSM3PtJY6OANBTaL9wYaXlWpOmdV9NkULvCawLQ7/mmu0mTQtJ
zkkRSV+FE1VpMmmhcepMzoRVE+bWZa0MyP3M1ZCrAxqNXwn5AF3hTBZPOzLseW3Qs7l+WeG3Y+8Z
PGpzFuxmpwdiPJbFJ7VzBxQ0irchaJsnbxHuVkSo49Op6vxlyther5TXtNdhKYkvs/LyVJA/cN8Q
YsCkjMKPAtwbj7FFB4FgDW0UsQ7JvutLCusY7dAKoLjI95VeWQ8AbZoT8q/wVaYEJW/mts0IMRhj
Z1g5ZtTTcU4g9joRRu+j0qpplUQufcUyU+PxyKp7YqzMwzg7oCosWhvybRj3rqzAsVFMyag+mvVM
U4wzcH7s0BF+VCDOvG2fmWO4i7hxlJ+n1AtONvRLAzlcLe7HQ2AJM6FnLbPhTg2YKdcRxnrLj7KC
vLvayxHc2yJQx95WWbcbJ5a0QJR0lfgpnpN0PUOS09eSVu6pTybnuuipdWkltFcjDJziwU0Wb/Yw
8kUBaYR5Ev6pXCCG3GkfuTaZTB1ncyfrgcczekIUor+34CM2kIqSjRWn9dbroorRqQuKystz0y/B
3pFdGbJDhYsBRYuEGI9jPw3bYzXha7snuYBQUuYPVP9WFdzmk6bfhxMAFYaBA1b/QhrsbzN8zjd6
F5AR0OkLXMVF46Qh5RXJm90HZb8PY71LLy0zICA65MhZM33PNyz9dLIEuro7B3Ea3hsux5zfh6PR
cl4gYPUNibJ05ckCjjOIsuHBmwA8cV4Z4LlxIpfxAmWyb8DJaPgSYNNW+B0KynucIvwigsbrNq5Q
oa85G0rSmlRMOwdMWxeH2BUW7LE8tjcFp5lH50vqeQo1mJm7NWvQ8o3wMI6lgrZKfdDshcawadtW
0iMGKok/bTaAT0VXlzda38aQ8at4/mAwl9Wom6SQ3A/dkvWRx5gW+i6Zya+y0nTfyGUyHdPaTevc
noW1og3kTSAWDqN+mifnJiWOcEPiovnmVjD1125RqPupdJtLciAHVozpmCIkX9zQXgc7aNU7YX41
LkAX0436x2EqMUtM6IS2wJXn2yTXXUZWbteg2/Tm6b6fmfz6Q0IUICvjulL7Ec7uN2ewpn3OJJwm
O6KQLVkNZ6sSkCJjtCGcSb8BG4BkeoyCa2tKxmlvdcxizpNrQ2nRBie61ECMvthykjeJ0E6VmWDu
dNqc1aW3wITnNvIDnDk7k0POJ+NK2ycxwn23G98TUtbXseLMFDo94KusQcphI5jdpzbuzO8NM4BV
ZI0lkW6zEWH56dODPhIfwRmDLTYOkztiL5htDl0C1rAmkw2JfnyrVYVzZBiui11vLpm0oR35zLlJ
iTPCECF+sDBl5xAlsVVFYg3vK4WsHsxHrZrxRuvQN26tTMvT18howwu7T3FtlBEyo1wnax0vOtka
ajBZGfBL75KwZDAMjandtVE4nEg2D0n0g9y6wTY1ORvo985VX2k102Yr/LQGO3phYXgPVAOeukhC
K147PRTveMRnlEf2gsYloo6FNmdRTeU1E+1t4dF/J3NEsecrMqEd+yQ5GNZECE8duDeWYNiHUci4
z2xTvUqDsd+VmVT9d2JGi4HagGb12m4jgieiZNDsrQT5sBaTqxAHGywq9qWVjgjPQ+8T/2zcP5bB
UMC/K43ys5KmXt8MgXCcjQDxDK8uR+t3EUOfwhMWwrZlbRKoTzMkcYbyRkT9IaDzs7mdU0HevFHm
Hi2t2d9VoOx7P061/G7wGsba5Wjn8y1sz1s2/Wl5lDWzh5XpDQjoHbPQWSdGl3Bq4z1OHjJ4UdW2
uzriymqzNseDbUXsHAWj1GZFId6e47mODrkbukc4PzGJvADSWB4jE4DvWm7akRFpUIJB8vQs5C6n
BvmsLXN8kIUD58IZBKu0UFBFl+6jpqFhYZasuy1Eo8wuyCVtPbXjoPXu6RKZf/ZwElCY18U1aZDV
Y0cW8Doxp8E4mumUXTQCff46q0LjiR228WhTq101rQx3XtYTCV9iusp37MEYdutiZI45KVUxIaX3
5IIkgwz50Jcvynxqg+ZN1FWAUhTG0rwKRapw41TVk4GSGxi2h5l6jfqFgkMDHkWaBxvcoUzhuLr4
72ladXk3VNko4fN6lXieB4u4mmrOho/WyhniaxancUCeCTX5m0EUIlKA6C5hjoRnCmUpMyEEbMcK
PZu912eSyS5SIwPFkGdFl1wxfzSF7w2akwBh6UDnCEU8HwphMLOceU7PNtAgwXYbVx27KOgx46mb
GU82FbGZbNxDcUf6jxH7guCdVTSl6raeiJfh2Z/3cz/D02G2bbCnx4F3jt3YwshtqpMOUXErNKqC
OLO+Ye8kUotAUXRCtZuQOJA0U/SUVyqC9ghBBo4XlGIqBpS6l8oEk2QNo6/lSODHjqUuqQrjUc+9
cmNirVn3Tf+aMg5F6wwSMYDH4YBMhFYpr6rRa28HNDm7UIj4GSaSeygKFBJr0y7Sco/PX7ORiFox
gCI7Mgne7DXtJWpR0B4TTRXQyMzceRhgKhDLQgwEhrK6Lz8I7iTQO+CivQqtpTkDMJ4S/OsxH4wh
4WfbMvYSPkI5v5jMBV8Fv4XtJwNCprXL+618y1TNzjLr8bWCCKbTjqXWNUss/Z4ClxM2mfHbTF0d
HQOzHL/lQTVt7cnJDgSdzfEe74p1SdPgBkei+sQ7AzXTzwzaGZ8iY3bW0exBWpvTcXwdxRRgHyiQ
sPIpBqBtyO9cA4MkO85JYfFs+DKDDBvmtH/n62tfNGmGXjgiWTOm7ChCXK1RBiM5yraDXrHNmAKZ
XwsQJ+GGdXdsHBuIwOzfC8hkPpaShK6K9sZe0+SSLmWl4lW2XGDAlzCz0mzojNinLoMuGmBInx7q
gIQeZqamB5qpKaLPvqrloY864yUfC9dvIkLWU8UxPwu4vSuJfGpXp225qQvoNrl0w2QFERzx1DSC
ISFn2W5eLa0KrkOnlzvbqCOwnSSSEUUFLXkLTdG+YVleNpBmQCn4jbd4KInOsDduPnrAbQZ8dBgR
Q+oaGRXjtauQ0a3DNmZ/i4UXbUD4EHkeI0Cocd6qLMBIkCLmbE0n1ncuo/zj1Bh4yiFYH9QYq7PT
V7qvahsBFHczC9gJLdstaCaDDVvnTKTzxs1H0kZ2u8Vp3NZg7oEM0LLjwUQHc01++YJjEzoYKomT
ZYnzI5XLagdikfkcGP5b820fccFTjdoXVhfhClEhVBwGmpdlP59CwibaVSZLNa2rvN+nlv3RdBQ8
xHkB4RXFcBoiuiRRoTpKMire3jafMDd+8riNvMfxQq2LP7M+zg8Nc14/i13e74QKecRrbOWaOuYA
NUlnKNWZ2A0u0LYOX6kpcqCa8WTfWekb7gS5Ab8tKfQL0ycLutgYzNEPjJzVHaxcfVe7fb3m4MSX
3JjkWJLo1GWasQ/02jrAVtjPBeBkaLtoU9Soim2S1+ZdbRjTyUGs8e7VVnGyezG8dTXx0gTO5/nW
ayd93Gcp3LENh+TwMUOygeHLmn7dBNI9IqGk6CIzKsnW/QB4Qqa2O21mu5IXU2cSmzJS06dAQHYJ
ZtS9Ciba/V6l54FJ8ZUtLYmcfsimC8hdVIXu0M7fpqRhSYlpUa2llbv3hGDZF5NQxNU2AGZQoblI
2IAwwxFKvmXaCLCmrb4uk+fKazpjNRNccNnYHKKtDWUHhrqUwS4vvXDfGtOuyrDQFC1GU8NUDD9S
W7UPlLts8bOpUWv8O/QcoyJCupHpd9eMPMIZWdsMUzK/AOqyb4sS8clKj5JmXQkL5EixDFZjyXHJ
5GaHkfMw4MbboVaxr7uUjcgqHcENCVkWFDtabm3NrgyIB23lRZ/Rn3aOVT2jXjs5xsRUF8G5vM2w
Te4BJY03mQ5xC0BIjkCpSJ/B3enPgZ4jMegQgA3mYGyw+EIOkcv4rBl8VVgGgeSTPEeVtDfSieMj
sj/4PlO3N0fnyqXMWxNla50mKQwKKW/2iX2qFpcOAWJ1H1/UDRbgnst4C/+C8s4O8wsOqmTDV8Z9
KrRKQRmvAToVJjR/YYQE5JEDvovZ1N7b9thsCQ1qeT68Tl4TceTaqzCxp8uBpcmGExc/tgldkzCT
6jjPoWJdaySq3TBNw0kaNS9a4ur30q6QNY0V9raZHFNMjkDdqzHRd0jEdD7VWd8rtOdwRMIWmluW
hMdqHChDhmjwe+Tq1Dlz6ryPRfZma7yQcRG0oFrMv5F0FOw4H8pbyL4D5VCgXRFS4W6sYHiCNoCB
y8gLUhwjVe7kKHvcZeMtGjPnSskgN1aEK2gkfLBK53AeZHyCwMmqXK/db3prnjU0J2tkO6AGnWA6
2/gUNyM8LQRZGVQaBifJqKFaGpP2gFSI2dSEOPnRFrl8kam2xpbMTRJ28cmpWrWb6Dc2uP2K+CoY
5fQ+x5n5kKaj/n2oO4jNsyfP3RzvwAlDIkErnQ6XUY9Gjr8L3uiMuVcaotloZjPuKb2n78hh8nPa
SLGvevRsZIy00w2u85XVTcW2d1sjgOcM3H8zzjIUlMNAdxen8TysgQ93N7qJDIBQKWJNsx+LkP/p
hcFl/FGXTfm9/UsO7/+itYJhAyJkuo/885+vFo5sFtLobeGp/Ndi4ac/+Y/lAlAPiZifrfYXdtdl
l/RD5++av5km/cJilvFMB7/Of3BA5G/CddwF7wIR2rH/P3vnsR07ki3ZL0IuOBwOMexASIZgMKjv
BIu89xJaa3x9b7Bk1up6r2vQk15vUjWoTBZFwOHnmNk2xb7/r9KCIf4AIG5QlGYjVXDq/kfSgv0v
CRpUC1780qDDjS9nKus7BfBPWR1qc+LA1ybad4XJIpRyWXg+5ALwtTbdQu7TaYZ5bYKF59fUFgaE
skmc3gtYhYp100DSBBFZ9Y+DTlx2ZatWbRFks7MzAg4UC0KwAH4Fnr1A8Abxxty7wAbDrsiPfEPZ
OltQhNC+LBralTOMJwv/0ZHSXOCF6htkiMwC1HBxmIXH+ht2SAQsvTHIsoGav3GI6huNOH5jEgHD
Yn0ovvGJXaCwnjtxjF7p5orbA2Xzt75T1b6aNDtZizF/g+w50k3si+4XP5zwEnzeKat72T3ZkALJ
62rwEVZDJvzdoOA2egjOC2stp2FOmfAstrWsSMHzRDLzANmMLlErdKqwwsqkgNYuZ/2OqhS5HFBk
HkDjJr69j1F89L05Uyix8WsTZClYSQt3S5hrPwrgB9zR0ik6FbSXfVQELpkAceKuyJ/a0XE0bH1e
OylsPi+Tds1gUNcNQnzvO2/BUHTvqZEMJteNlqbfWZNfoWlrmqe1ZXniSo69EZwJKrdi1lx1jcte
SJVjsheaMVy1WesfKH7JfsosZBeWxICONmxKtTcgjJO29iurKXZm1VhXzVB+yZAVgHKem34OGIr7
9KmQKeO33uotW1ziHoXXpI74sko8iR7MlfR9tilh3XYaqAYsODNRcuDGko1bDYo4tlF/cEto7lFE
mA2ptOvXRt1U13LSymvY1/Uej151C3lDMTpFSmMIiTMoGUTTNgklMx86meqL3sey81icURsI0uFO
q1tjY5kJI8VYIvpHDpmBecqnXQvUFNiLmLa0+Iyv9uRPZz3IXbZvSfMyUlr7aroxIQI5O5y9uuNg
72nnR1GM4zUP8B2Z7dh7tD5gosI4sElpDvbMEoNfJ1IQuHytHY06zdoXwIObhtpwIBH6Omj4loa5
NjZAQOaz1gWs0WDg3wnRFnsjC91tzgi4U9w+Xmq2q17hyGdLmhlzOBXMDSjsqj8CueOTz+6QcPkw
YCfvlTxEIT/pQC/hmgm3OVZ+zSa4jaZnzA8lLoluvJNtznBrz71XMaHSMDthYRWZye8fr0BwxSs/
P0ijd9YT3IZ7PutyVxoxU2GIjvflDGb7gMvEWMedEo9zMMwvGruIfQpnxN0OcYV7QXLhfcFDY7wC
qClfkqLtvrqwjl9soQ74Frq9mfC1Y93HSNAkrXWdjKx6r0gTPuTwbj4G1ydZUhm2+2hEHR1MISlo
L6ZYGn2RM4XdG37pzSCnGfe0ZXwMMxQSbAKN+WwYVXBv9mmyroc++xyD2L53cIz/iGEgISvBmsQt
3vQsQm3YMGUkDhGAu19247vckCqd8rFWU9N9bOcUIrh6XH4RPxEvywfhSaIhfWHvGEoEMT19nivd
fpiy8WrT8AydK2yz2rOVGPg5tapfY3EX71LiC9115pgzAaepfyFs291NnBE3f4yC3xn3GZRD+rdf
E4paWG9zNO8lYIMAuosvvxJuw8iCrqzCVZMY1hOsRAGVsIsw/qQquNVZkH9YtcnT37PghkVXplc9
YsDwgHFgrRZgqhXDvACTRwJ9LClmRfDGBBT548ZwyIrMFp+Bup6qLU4wvUX1MIFh6Koq13VaQ1nL
RQdKAzYdl9Yp7MhWSvoQioSHpGS0APHZGs2NjBQ04wLiCk2NXfMYx1W0scj6HvTYtY54EP1bkJrm
u0/L/V2uz/4PbWge9TIbT7TZI7eU+hQ/YNqjnaAYoEX0zQzx15dBd0jGmsWg0GgcY5SSJ4u+hXNa
JbQhCcsN7xM1uhfoTdy841mj3KZITSrFrSYY9kbUYtbVo/Qp7AP1w4i5Ffc99CHhhPoD/YoDMpNr
nVKD8FKUdBmxhy4s0clG9z6joQ0Zb1R30HC0moesx2ZMPJ54bYuXSMMIChfBG6h2P/MooBWzTH0g
0BRQYNxbd5PrZx9jU7kfWiq7XQXVAhOwlPUv0bb2diwi46kXEVEDM7c3Dn6YU1DX5c/AD4YPt4yX
ZnepWuYRLQE0Qe6k3lusEjWaolPUQZF/+Q2QitVy29h3bCu2rBi1iSGjUYfWH4tTPOC3h0690EbY
/KzsQdGAOk/TIQz75AFgugbJWHeykq1ywvvWYdl3cYHdwEMUiut3OPTDB+WfCIRQUf1bCKDqi2Ko
rLsXSUcvW+FQoMHb087PPnndbd5F00OdTfHio2nqh7ywif83hYucn8W2CYCBV13edxUvr95KLk0z
Bls7zIq7EFsl23YZG7/sbMDppRmgODy8lxGa6jS4W8PodRo20uiFd3YSeaTTW0gfbtH/yJWmjmnq
lDvy7O6zSx0Y+k39zTqLqa5IjE47phGJuEPUN/mTzCvZgAxt4uNcabp5DPNJvhalbsEyVPUhaqCA
r1STF3d9s9RqYUa7AX4y7kyGEfjwOhEuh8Y2+gmH65w3/EJcDt3Faty+KrcquPr386s+QKpOW3Yu
zeyk63h28pvrVyYxG2kwjViN9doaddhBV5SBu1K4/PxDXJfWOQrD6JL6VfJaUNh75sJWmTsCeWQ0
KtwGJ3ASzjv5Z4poI+tNN+GD0Ww2rg0NxHgUmCRZcPEulJXkEGKgRChkzUem0m7s59hqu3wDwJis
h0rS9zzQhxeDo5NkvlGXRzcU7iZsMVxTA2+M6PhpeGdFRXeYJkISqNsWDFgNcrkEGK/FceQRp+9/
TMaE9xe6qkWNnZ28OxMrsVXYSWdfkxkEKd+FGAiF3v/2VeNuuhGWDhejjV5G+NRl85GTZdvjL09W
XZuoo2hpDQWRsxvc/lHYfflam1Tz9WaNvmP3pBUoLFE61DJAFDz9Qcq2qNcZYPURy2I/76NB67ON
kCK6GbPbj3edhu3BAwfQBhsma/MNrWj6LMnkUifEqd6uBsDONa8fv+n2c8MW2AvwIHk6DbCNx58Z
+ovfqYZju0zfowpeeKhc5K7J4PW582NDwNXtkms85TypbjH564J6BthR0VOqB/Z1yZ8+RXrMGr6Q
qBudOXRrzDIjCAS90H6XKtOfWvo893E68eotgnob6ACecTTLpwHEEL/yLd7RVZk16txkuk6J2mBu
BrZOq9HF6WPTanTIBBlEexqDa+O05VqzxMXOInGBVeIT7NKHB/hW0SmZU7FNtIjeqFbwjl0h4oQK
0Wuw6aIrjC1SXXwR41ifgiobKKhnBUrhD9LwuZ65LMK7UaSQegWfdG6LEJoNUFnrSPy3femC2nLW
cjSDl4qzjjfYpG4lAkq8lh23xK2oaBNGSHFcEG+QHJ5pDXAvA2DhK/sb+uhIck1YwKdxvnPqvnpr
LGE9O6k1Yb21WSfTu269YMZRDxx2oN+zSg/feYD1LQILNV+ZBg2YZyZ/pPInOFMxV3OiEqilwLd0
MIdr4Zdr9RlRogHnxTrhvnmA3k5eAoCT20C1bxu2IFlrbCXmGmb9tJQ5p+YktHXXkIVcBd/o7fkb
w90uRG7zG85NxAlEHjZf7UPTzOYRow4g73ZhepcL3Ztipu69sC3MGwha+bmjbLIi9dB6zTcYfDL7
hThjpe8NvoZ2E/4FIp5DE151VZWqtfoGjcPWAjou+hEbEOxA4I9jyQqTJwJGud8b7qv/DS7vbd/N
VvQmU5CRdVVT3GkpeUP2WRM2JqDfrxQumMEOgo5zdKcBcHhsBNFz8Y1Lz77R6Saurq+mNoNiV37D
1X29tVFbbVoX1ynY+PC+lQuMPf0GszuhmHnpLbh28k83nplhRXUEVv82nLlrcPof27Df112WH0dH
mq8cS+pmEQrCmO+7x7yf2sdxSpqE29T8SuIONpYb4r3m+I0pvwoX3DxHEuj5/yeeyv//ViQ6RAt7
WRj8+w3J5SP4oIX+zwuSv/97f9mPuCw7DAX9ZCEOAF6xMD/+ZT/iLvsRwzJdA8y/svUlrPu3DYn1
Bzc24DMuXSi6Ac3kHxsS9QckcMt1LENaCwjB/k/MlyRg/+y9ZMlCTw2SJvqF8w37/bP3cnYYusn1
ZQcq1SBu2x+BHVFxFtXZJeStc4rSTtHimD0XJTXR5N60XaWPFB2ayj4TJ6E/HHZVTNP1IvZfc4nU
ARjwOTAzd01WEGGui+D6TUnoDYnZ07SsstWAarQeyi59bEKWkLi66r0Tmu8x3iCjsc5TgxjmqAg3
HAGCtvcfqGxfWWwkNqwOCXnHPiQy39nWPfEeO1MndoTWh409agdxZtMUhoX66c5nyN2Z1w4tN9d0
QhggG9RpAEWpk0GEix1eIY4IgIHj/6myEpK9sNec1xQOuMNDFZpYgVD6ieAPZXbKOrGZGuMWZeoI
eYqIBSDLrjC+sP2Md1roAz2oE2feGWH9GPG7vS+YtLb9rJU7Wumf2a/jgx9OVNJZa7ct5Sme+JEj
mVzY9+wWW/sqL6sz9NaGCbzIdtHY/iyNiYjHC8MQLUMVk3ZYdXemCCkQ1doXfCXrtOowHa2nKkOl
Fk7+1VJAsHateMtbf43asMqn+Klyg0NYEl+oqdpdE3FcobMHa22O91DOHlh09JuA6+gzQ5Y6SBtD
UmeMeBCKzVR2/GrsKthnRRA+5ll9C2X/ScmwvQoaM92O4wSsDmLFvZI1rQOKQRKds/TAP8Y7pyXk
QTOSOiACTE8yK24yWZxMQprdOs5QuPTUhzvJ0oC+Zy0O7kfrjHz6DHIaMEVs5dehZr3T9v0ZtfIe
uOo6SazXIJ0u0Ngmr+1GEyc9r+e6OWig+ukVfB2CoT6O0WZSU8SfqrngdP1K8kcstiy9MRTvMfyn
3sRtfdOib7Dd0IHXISdIDSFsycYb1YVQ9SlRuIAncGCOQwV0RQ6q0Z/97MVIsZ/Bm9PWo7X8f8eH
SoeqmZb6s8G2x3OmHtMT9pVmS1yeGgjqsnYVL0uMYh+mr0XkXN2vNHbPC94afzJlsdVVMvT0ebzG
/nir51C892ToEaXRf01onY+ulW/hljAaG5OtPJnV2j3gB3WlvLvd4jYJd7l01M+SfMuxrZOIdyka
1zXFgXEn/WY6xmbtfOAgAX+MSf+oCRctXtTdIY399DXmIk6xTNdEJ+K7OsU/VBZPdh08NTbNHHxU
m4Ms9OmdNxI4jGoorqEl+4Nt5+mPZPLtx9lkTk8p+PFIU8Iusgr3iCPI2gprQDMT+Mg6bR4hIJjZ
09xG45NTZt1dzEz8TFlJs616A/RuXdIv2YIS5sIc9hdzcNXZVWZ5SnpneBBdLi8sb7q7Vq/FO63s
3cYOipHRkrG7Qs4+1DgU7+e6CH9Lc4QN2mRT/askOcdNuee3PmNVOOPWGk4UabfHlLip8Iq+16+0
F+g3rAbVRfiGOGVJET5P/LHOrPPqEx8V+yTpIjqx4KX/sCQ65C0kih2tnenF5Qdch9AxH2LqRvL9
P71l/k8Yh29WwT8c89QokrIzpc1bwGGYY5H651M7SVq7kA34FycI0ktp1gXVrU3fXGiVytcdJcnr
Ugy40Q38H2IACj2QCt6oUQs2Zts9W32jbVM5VTwFccMJ24hirTAlAhnlsheaUfDe+h1Db1QE6mrl
enxs9exCvalJ/ao7X0uLLIvpO+l5ClL+UFX4rJi4V7Xpqj0NL9j7RENF6aSe6hqwYdcN+Kq6gKgt
wFr/qRwGQ9sx1eJebOyZUmlKeyt3ZQyhy97OLqcdnbJ+5wEz7AnyZUEYb3oS97QZEy3kqhhQBDaL
/JnaFue9MYK7Jl0wIYZz62yYyxGL40lay7VOgeSzgfzoqbWLsvykycDcTxmmyq6Tt3JsT+xkcSnb
kB8L1kA9Ow8tpalhJoe7wWKTrKRGihP4D7oad7VmNvujXxdkdXj8sS2qLbvmLT4wgoSojvBU0Nah
+AY/w14Nd3k/mFstYHMB8EJdiilmveCKlLE/iW/lbAWQX3ArdvNg79ia8FFieczdDhvSaSiVjdQd
Nyfu5C5TMH09Ie67U4Bz85IoV78BK9WvYQJQz3Mj+LP8rUewolZ0HvTWPQtCTvgehrD5ZdOHbK4A
qIW/6QzKvbH2x229PCnYI62jszw9xvIcdcsTlZJEugthb18SLR8fyiqq6AHJeT+HTX8pB16VuVU3
H9UEzJPoj9lsk+UJdpdnWV+ealoE8ieSXuMZIElwKHugGtVyDkTLiTDNg3UscXN7OEWWz0HlPGLD
S39Ey2kyL+cKUJXCM5ezRi2nDrHAcj0vJ1G0nEnQOvVD4ggWKoHFkTW2dfaKnb87xEnmHsp2INnY
dqHXt5bzEafGdCx9DBGsAe0rfnsORpd/+sgFxPoJkwooDHuBbY8p9so/rd131KV5IJfNTRRBuPOm
jjZfEsE1FSsNYigfD1fwYztuAgHaUHY8UF8NcnJdkfdcwNyyxj5qhll/yUmpIDhV0KRn2yUTargj
xlnB6jdeCt+C8pXRD06OoRKA1HEuk3bP3AuoGuhmQBFfEy0A69bpu42kjJg4bRW5dAchN+CYhfNE
byltI8EmmxXb01HRWujVppUt001c7JyqlfeSoPHZCUb1MGq22KaubDZ1bIpbM9d0Gslv5DauLvww
GkvUAfAnoQJ2nv4nxiu64iBw46gnLBJqm+4b5d3HM9XqNsfm25ymaBzzN/ObeyX877EWlTgBUzRu
SVvxe8mrB6RqhuA4HgBrTiXDYI4I4ejb2G6f2/5kzbgEAl9nreiWZzMKgVi3mu9xRwXyUEcLUAmY
tfCnxWcagB4oymElTUzvyCE/SvJq2ykefopcVh6bcM9xJ+Pq69VwKVqeUaupPyP7M600926CAct5
w46BaujhJAv2cuQJdjbUdEgmt3jBqGMIuYoFrB5mtuUFGUXR7KLsY2uN6ACFDwEnkncEnW9QZJYa
cUFohvc/npbyJ5kXbfkbsdleYO51OFx5nT/PC+NdmUN4aDrW0DQqzcc4Id87DkX7Ihwdlreopi+3
EHwG0UxK6TV1q8dgCiKGzf+Z85bE+PTfEe++5zXzv4TerX+nYfQnFfzv/9JfhjzbZpRzlVC8jnW5
/PffhjzbomDWlNRiL5w5B+njH0Oe84fj2GjjFoIzwoOBQv43GdyhzJbYHYOeFIKvaPwnQ577ZzQm
k6djgOEzgURKc5kq/wWmGuWqzPj20CjqcJ54L1XtU0dS4y3s2/5ejsNTp9XajdmtSaDfkGIiRBcg
l4ogWashTt+zpO4/ahZlBz9xuw3+XuXNWBpXwmy5cKYRh4ml41uhyGvVwPdlv5elv2PL+hy6xloP
s6ttqhhroFUA8uW+5T9htCyIoIjmVRZm9kEyO1lrxkT42U+S61SoW0Lz6DEV5EhGUrAvMrb0jR4D
SQ1Ct6OhuS0ei8J9GzWqk8SAqJgn1bixNG3Y6fhKVyM2U0T8kjNzqh71DNU/bLijSKQgXvvsfLqu
rUCymdqmCeJsEww0lzl1q/aRn1S7VneHV2MaudAYfvrl+mV+AncVfjpWRqRoatrPjmAd/YwG/nbf
t/qVaUlUph7LIVPNSM9aZfniB/Ly5Fmm6jZ65binQYzD5BlwwciOVe34Q4JnBnrHzZYILuuu9wLv
+Er3aQYl7CiAiJOgOoOjixVDSOK8UNHQHMMK55AnHUw+q9ktsM39z5Hwf3kk6MKyMLL8+9XP/0I4
+fcgTJ2W6e8v8NcdkP2HKVjb6nhRuOaoZdPz1x2Q+IMHkkQqKVzY4P9sknH/AFbG0aAMAtqmzZ7n
76eDRWpXd2jLkYaNp8X+j04HclT/ugJajidFXw9xXvL1dO/8CYUJy6CcoiWJUEekRfbd3CT3dkNb
61oCYccUOHZpzL43L7uVXdI1u4ocNJg1ThQDxrcZbyjoqQ+885V1JtlHFrUfI/6TPXH0DpnPBZHj
jIQUkc2DO+qU0ftVbeibetBlcCmUyhY4+lS+WyltIUsOCwGXhisMtUmQNagt/AQvDYGRrWgBDSDT
9Rt6NY2ab4Vw5EyMEuezyRpeA5GRrmmOc7hgUNf1QNYxjvYj1b6zZ4z6hA9tjPFzZnMvKbHMeyCU
Bm0KK7MsqdaZlCBLCrn0oaXa1F8lVY+XX3CkMUVoFbOSdDL9K4z0Yt6ApHfbtUkW4JaHvpkud/fg
rTJTo9s5jj/Rj6u11zJOfWwzWd55DhbVDnOx2X9g7BwPbESyBpeyFb2jRDYoRKaTeUOh6w/jYLEi
wzeN7EvcVOIXt7D65Cy2pOD4bC1jeuPUWxjxlM/RvYw9fI8U2kGNmevEoqwwJk5bNrDajUwM52Gc
taPMqAyrlvH8QtKgE49GXUjB2DZVwdZ0S+m+9pT1HaYqbMQmdXVQBXMe8PKYRqGRfEoh/UaHqmkU
W/nl95JsqllSIxSnDGJkVvFSrdqaHZBvleWb0chk00yQFSmWOIB6JUIKxGbDlzGPAH6hbCRONt0j
rdAikdlhL7CIk/BedEQ8VdgriFlAZzc73i9E0b7gsbGoTMDgcVr7h0LregqWfYPLsKC3umuA+0/+
fHFtm+yCxB89zSYvqQTXK+WdI4aKwCIwJt3OfuwpYB5KTRCP0XyXqY/mXTP2H0lsBhccPq9GKbEH
Wfmp5vPBPVL9Elm2APkOuO3znZbqZFIa1/DGPI42cm7zM83b+Z3Fx+aWyVLDdYn3NpYk69KqcnaZ
iarsFkvXbnUKISd7FgoyqFTnbAq9OTsmlvK8p30uDQebv6oZ/jLpSt05Zp69Rq3KL71MKMnojdgL
UNboZUA8VQyg98RXbCaDrrjZGCMudT4i3CSKfk3g4LxFQ66dQTo+Ji3VjhO9kgfqMWgwtO36riRx
sSJiCDRulGRbi/izELGk0k4kVKFQNGwHhr+1/NTECIw+Lrgdr3rf9SLRdme2LTMIqVCnr3tS3RO3
iGtfIlOO+gwVQgl6CeKwvffDtPHUPCEmqkiuVQYsShFBq2pMd/3N1AXVvLb2iDf7N2aPazIwpitf
4DZqKWrM48a+b1uessCBuxTyv6yqMcnfcCiWHEbyyez5/E8ZOlrm/0rZhLElcjF8zfpvYDR80osF
e2NzdQGhu6LvgZdrMn7ZeXvsqJb08IDxly/BghBtm7WVz3Z4TrsW+qWqAangqpUR9oWZzPYJgw3E
HjqVPUgsozfYpPPTSc1vtE6IbRz7M+UXZrWTMh7ODvATnYbZ4TFRxaPVMvWlKsMWp6f9luZ0PBDm
CIlGjvkDHQ7Nhnr1AJ9JNl/mllaVNaYbRWwbGEvSa323pqBRklclEQLopsKLo/vG9ALYrFgwBMPF
denTZNJNNi75m59tVX+VlZRrvXOqu9Hy5TZk+GTziZEFPTS7KtLbq6BtjDvQn8lnARh0qytUOKCz
KoelQjwx7aGj8ElYtkZU65KcqJzXwTUCaqn6IfrLHeRP4OZ/BjVballl/WPVZSNQ6PqCWddteBSs
ZBcB458snEXBaimmkPfgGA3IJqxlmbVuo2K6b5ADnpmVTM64IkrWg6wI9+V1nz/llTZtaqzxv7qg
cuPTVAyClECr5r1mWKxS6+Wvj81M8JoaSFuVXmj7gMrY52csZx0RHlTHsvZ+RGsnvEojDfIq7qXJ
1oGnrRLEUnUso9k5zzM6d+hgAjCrEtMGlZ+yZaRtm09NGot2G1qvSUNdWZ8niLi2DRRhpVd8dWyB
+EJdEnkHwvTTDiZXfpwDqAUpPcZErvpxr0ZihNSCsMAxOrq60yLgsffbF5dI1BrLVUx1sQvuAVNi
jXhNebDQVLy1R95brVOQhjJnNmoDi/c9LTcasZheDH26s4UB8mV0dIRHfVLZiQy4s2ETwvK867Xf
VCNMd4sH9pAGBWu6mhqWG0v3cjMWrbrPpkZeoRjQejkQyJC0xURRqbDlzGgFfSyKe6DYijWy5tyr
1lL4+UlF9dIBH0WVyRacYQM6ZsJ0q4ftVgbOY6io4mvUjzyejr3bfhSt2GFIIkvU6OaljD/7vr65
mnBOGOyFp7S5XmN/bW6hTlw5ZHmVct+AnqjjwSgGAA+kJqIPUamlQtxEi7L7u1bLb8bQRZcQeBlu
N2ld+yjc26ZP3CUxEk9vrfQF9lhBpJq8wmG2O1SmqWz6DYyIJSxe52/xhNFRN8rPkViwV7P3XKnZ
zfeCz+Z9ZVfiMQrUT7swx1sR8uTJoeuWOCN7Qs0J6eZ2ZuXTc9MJM2BBGLiwAyazfCMMSpOOk9iu
SVKrV5eS+z1JS5Y546s7jyx06ectPybDStjRYmN8VL5m5Hx/Nulpi2K7d8GQcnHKVlIDnjOCxXDF
krLv5CZQUvvsw6SJyFn3g0eDn6KVSocZF1JybmSx9Sil1v6UKZ0mieFmjwZEKmqSgmTeqRRvNFqT
OttjWNOx1bFzg+UJfYAc6U03W/OMj5kbQTXwnieytbZM9BfL0pyniowK3jtpfXCrhZFiB2Mg9gTY
0rtoqJZUF5tdgBKpltzo5x2woNIBygoF/UL3khS4ukfKZWg2HHZltSVLV64DTiyCiPUMMK3x4atn
bUCAlnfjMinN80YQIrkRCcpeebWYv6lu7vZcvWifnhg7PVmCkKXtDLfd6HT5vpzcmdPPoTh3M3Qi
R12Lk3MyJfLCkNrfgth137pGiqeIqXFb1X5wm7WEKw/J3/yRbyN5EvPMX7eKeDXNZqrfWc7QM6yZ
+DsVzTmnMEn7HARCRSrPL5qNURvvU5lDfLQFA58+JfF72kb22+QPX33ZaboHkLvf42TZGlArOLFU
DGsymcYftZwWjs3YLTbJnK6sRg9xCZWp+eaPNg3ahPCwhwSN4dBBZWMGYjcsf8wJyTdeStq71Ubx
LRK++1E21fgkcGyeYkvi5R5zSv+WW7jamxAnoAPqKe7MhZMM1Hy2fnaWCSxLY4TeyBGL1EZ1Scd7
tYiW3M/YTj8I1GuXgY2wXOV+TPrKyP3kqJlxdTbJDwNQNPpfelbTla63jfMKxr5uV7FraPKI9hUw
aRh68IYLDkAuSluUeaVW19aq5WXxvnRTParBSQ6D7+M2CarAc5rO1NaN6edAXFxuYquhd5s7Dr2m
W+tTP6brwq/oaVTjYPyggGVKwIkM4ecUEztcupr6M87DdlVRWVyv0sRu5qPDHVsXZRIc8d/QBwMi
xf6FH0qc/MhiQY5fLNnRvTK/tOBuy41oRbNXwag9gyQKr62VO5/FKNrHXjBCjctHkuEpGcHAuQEP
YYabn0e+4jPi1SQeTzNsmUMkhcv8M2Yg+do2oF7ZMc3giqF9fmr1SLuHNcBhb2OK4hSfU+2rxW2N
ZzYDuoaQqqvLzKadcSGV/RkYJSQ/EL2fuFPQ1/jIV7/JRVGDxIoCzlFUBW851lx3m4Q26hzzBibg
vl+HWZBWFP1F4BWryB6hz/YJttk4qV5wNBLTQRvINikY22LFS5TgVeKwBmo1oD5rOHftsalj9z52
fPfG7ye/DC065Yol7HtWESujJQrRipWoQTAuqoCywaatVpnTEplFIlUbEQzjoTbZ68iME2AdKyVi
L7aLxS0M3f3eNMvoviMTva9IHjmrwQzkvs7hVHqpndJKBZm6NbwwMu1indet+5KCUlnqEO1noYnp
kzlGFisIo6YJMXEClJf5UX2pJ/xNXtS643WqhzdD1x9JY1VPJFux+MLDKe67VNeLa5+M4Z7Mtfqw
Zs3mf5rS9hIFxnioFG6xcjSatw7D5dcY4DZdw5BwHgt9zBBK4+BlAsnMYru3yePXWdh7M1LEkU6Z
PNlyEdbOQYFfZNuVWn4IkZE8YKzhM94H425ia1fTy5rq8c6lzpRRu3aGC9S++t4GnEsbYjXfrCgb
V3DRG+C4vfNuC318rLlu4ZcaNf/AqGQFWzHK9IBqlNUQPaZsPXd8Oj3DmAr7vhKwsNc6iw9vdnoK
aqtBfuDWqg9dpRcXXSykV9eeFsg/Ki3zJNkwtm0E/FZupY1XraZCI0rV8NOWQfsrKAEirrrYyep1
1PXLjZVz4oNxllAEIzzkQGWhTuZsBNExBnjQQTy9BCwjBR4tDWawi0WYWXppvlkvPfY0kvJgT17Q
z3Kt2U51QJVoKTlLY0HadCy4mqUyD3aBNmCoFmZ1djRz3KWVhZEM1sZbWQDvus9AYvEZrpdzs4zo
kqdKlPOIPV2bXcuk5hbQMwlHu5GkCPcLu1h6qbkVEWSG8SSjEiq8nrpALKs2+DnXszw2DvljLM4j
Je1uFiTBGhp5fSTUSm2CHPxpuhvSXkPPBd0abpA5px8lzjxP7+Lseazc6rdKBuega27+qgBnv7g4
iKdVT+h7N+iaOBRsYnckIrGn5qEDGzPvvhIxENj0JYY5D90zHb0KhNcaynOzhU6g7XglVexRQVv2
OsNYZkAbn8DZUJsX2OqnaQcNBX9uqZ5m1EpymwyRAQBfG6rsdkpTCtcad37Exa9faHM119QAFLB8
G4A20RgXt8Zy/Z8FGOkVwdXqMdVhNhAHabptV7Qa82Iro9vMUmrbjGFK/ETrL2lijk9EWfIDoyNd
Vfyu9Xt4Rs7azUv/3KS6uut54J+mlqt/raXTPrBHHEbRmH8VyIf3yqgVbQozN+HYvBNRA+BI+O1b
0PbmMbPETCAZJGioZPe/qTuz5biRNEu/yrwA0gAH4ABu5iIiEBuDZHARRekGRqYk7PviDjz9fGBm
Vys11pldN20zZmVlKdMSZDDg/i/nfOc0xgkJ74NdHUROAoznPlGTdw/K0+0N6WbOBeVufSRiVH4x
+cm9EyEdb+mB2PiyjNtFi5VfmrFKr73HSBfL2ybpCfhF4cScoY9E/MN3kk+RBuTluE1Ywio5UNup
bU2fGc42WoKhGb7AtavIpuvVIUiCLkzQrO9A9lGeAnqBeQXNEnnVye3T3y1idddpRR4itMG4YbvU
A2I8iyRKjzIeipvIJ9EFylW6jS1dAI5W1e3ioGsBYkzsZVD0xzrH9ztkmbczBj/b8/307C0dGEjB
Acps8AeZ8b9s46x1xfDXLs7xYcbBMrUcy2IR8dcuzuD4Jai29k6COE3KzrVK8+06ZolcOWrr8hGa
t6QCWZtmtJt9PoMWV4QU6H/6QlYF3y9fiYf7EXyh5BF37V+XId0Ytbq0PH2a0aWjNxvek8BWy0Mz
OUF/7/uVJa+5mXt2WCylepzmmv4PqDP6oBkEFfLT6UVpJH+fJ4h58b7MAuZnNmrg9g1TrOfsnN5w
P7eDKK4BcfW3i7SLV7+Fw2J/DOSgn1rvXqVR5Qq6xs+MP4y9Hgb7SUzK+L1LIgrvkUheJIOjt0na
OH0dUtvZcMQ5t9ikGQr46Lv9LuaDQnjiQ1vLzN8xiQ2IhzDzGwep9s6ea5tCwo7vVd1BiWWt8eh5
5XxjaG3fjkXMdVi5xd7WxatAzPNAoMPZUxYpx+vQ0lvHl83HJHPSAyekYeQiCRm5olz+GHuiFmEE
6rnC/NF8DEYFXu9vWLD9K2j/7nGJkdJK22xR6+dU+ZtiLdj14I5iF8c+mJqx0PgUcD9ui4/q3vqo
9IOPql9/dADplM+/uxXrVrpU/z776BMwjRHsrrnRBswl4mB/tBNMk+Rbil8ZKzJiJiMSn2J3HiE9
dEjcyO4MIUi5CPWDmiyPtWcB0LuqnNZOplx7Grl2N/7a50SJHpLQX7ifs5odcwYnG6cgvZG/dklJ
Qtxm15TY7FsAMmTzoPTiNDHeydukydJrv5WtnVew9mBi7cZm+L9fEGXTojHLoV1rAtIvn6Tb519c
VGRvrreYsFrmwdaf2a/zJmHxd++Ghf7yoBzJLJxBevPaRY2svhkJAOAwccf4x4DNv73+tMy4/vFg
/jx2ER9D/788sJ7psZUQrmA/AYX0F0TsWMlsshOuk5Ra67YxdHypobrgksVMUcHOOrV+VyIOgDFA
yk1977MGv0AYghVvSKXPEs8907TFiHdMADBokSyvHul66mrnMCd97cqJxVWc2mzgVDshtWONF8/g
06Sn78siuleFAldeKmu6WCT7rQw0Hf1erUYfmTbyJJM2fxAg8hjpy+xMcthTYyf3wG2vZA1bF4xE
cMfxYALifeIZt+9MMIM0ZsFWGg5JKV5qYqtkXjdyZbe+PCZp606bQVKgcneYx6nxiqskQf5q1xZR
2bXjxs+Wh1cxRj0Wxnpkq49/AXEgbVt/x+HSXv2u1/ueSmZgedoYasO5GkCD1EV+xjwHkW20yIeg
AW+qb97YE0af+yOFpDtcRTD1L1gMsUvY2bR1kFHughY51cZC5/8lYavwRbszez+FEn0fDWRopCVk
dm5dx2NnkQ2IKOb4WOFZw0uEsYTvr5P6I0brGxlKAdfXaEYHOmGy8zTG2GyXiA6kkTdOJL6aXfQQ
gWR4Ly0nOqBqB+8eVcajZjLCpCD1MdsQsFJkKEMEjJM7RosLn0qKTmSM4OKCxPiKpa8J+eeGrWXg
9yHA3V9zzZv2k4nrdDuQbLyZ1MDMjE1OssemyZW2uNN+9trhyySs9NlIevHSZmUFYGQxAZtNLUeT
VtnDAths15WOfeNySm0dzxvCml1DqOIEVmViZZ8qs885RZMAQ4vPO3NOcaoXNDEyusz5Yh6kl5g8
10FmX5qyfgoC1YA0ZECxWhJn9Cu98yCNLr5Viy5KxjvQ/DAmVoN/rfKIwJFmXSJZH/ski2TjZYu/
mj0TNnH1gMIZj0fcrJuoqC/YSgUpkq9QVuLd+thaBeyvxMcmq7ddGzyj8l6Kj01XReSCC25c0X3i
dCGOmdOt+RIz3UuPgBGt+G5pGgv9CffYN2dUuqP7Fj6B2Ou2LasnBTy60/w/nYGNiUqN3akrFryj
yrVOrWgR4UwtgY0IthZGTUOQ5dkx8yXW2JkBhrvrUqu+sUebeqL9mOnqdbybu9Zr6zcAsYb4OQ/S
17RbHxCRsRnyUiIaluWkp8DbNxYoV77qfu+yJ73RCSuiHjjjscnn/u3vD6pfpA0Y+y0KCw4pBBQ2
YuF1t/nTdNhkMp8zEvVOQezexcF9m3eXZnr49xfh/z2Dw3Nd8r9fMRErj+J3AD5dylAANvKffIo1
XPEvvwg/ttMP4/dufvzej8XwH1jl9U/+d3/zT1jD8z8EPf5JgPjbJfenYQAu/V8yIPi7f+y3fes3
04GyAFNCSgjO7n/KX7zfXI+Ns/nretu2fnNYXGM6cPixBRCg/3O97f/Gb1DcIo6hYFyX4v/xPvx5
c/0dXpoS8a8FHxQwyGQWBgs8GH7gmOtH6KePSBLNTefimD7EABqYehdSLcjwatSnkee+kYYmHiwS
gTYtxB8A+KR2ELU1S4xODtldyvXUJYC+uc0nmAdRxqQxaT6NS7WrJnbKngcyP5FtcfIA574n6Thg
+6UY2WRDbKSAvaoVhOq7y8mYyX/a+tw6jxGyln01tMu9sDETFy3leMbYGk80CTKbTI4ap4M6cnF2
35EAcmZ6OUcQ7ndsFYHl35kDNtIYxPsaypjS8I7tvhRIXJyhTMMe5vJNxgRpGySAL1orMw4JE7hv
Gf0Pc492NvcWCeMHKEPmk7ek6X0O4uawGk52pa1zD7O/gvVopWJnBj2JQItXCajwcZ1uuC/egB3w
haqYuIrShwOxiSdgMEiHJ9oud/QfFJicnWwbhiO+07ybcM7unNy8AEuAqmveLjUJBrlTHImIv0wT
Hb47PyTkC8FkGlfk8C0lU7fTOM/2MMYOqGRZuvqZJk/NkMUKWSib28bXCtNaTgjh4Hrcc2iGwIex
0nqA83rDag+An186ADZdhkrsQ8Z9Us44wIagMycY9aLG32vMtzNYhq8BMzXmBn5zXXprrLcLC5xn
IFDtucvmHiKoYd5qQDQtA0ubtZs/5GgTAys/yVJ7x6lvvSOI3+nTZLuSZiZ2cybLywRUwbAu+MOM
Uy1a4/feHqLtmLvCxwEr+s1YKe+zKqS4AXkKgDFOEFFK3hFmAWX6LZWqC00+lccgqXEh1BDQDiZ0
gq+TK+S9V/sm7Egze++a+svgz96XIFg88EVV/ljiurn2sydfuFUKRhqJeUFq7V2yYoQ/ZYH9pGC5
RDUl3mTqat9hoj4GYFcP5DeLB48dNwNGfCzYDLFIEn7Vr9rL8Q6ubn5baKevGJQKjd24tC4zanvG
q1bmvQyeABzaB0gcCUyen5gu6lOpeusqrDVzI3ab6c2GinKOcvI/bLp93DvL8FWVkbpE2A6P7K3t
5970DRi6qlaIV7PuawEMu4PZsfTtdtKGi2PbzHH3Rqo0uh2Zsz0gvdxgk6pY6UXKb0DZ5RpBucHL
oFJR10nK8sUh/E5teoMfRZtrmJZ9LFiaVZNN6FhMnWb3+OK9DEifkZr+PccFOts8Feldht114zPe
v8ITGy4T+KqrtiZUwcJz5ycuVuvs5NjkWQpaEAq5QO/NYYZgJKxM7Keu7Qm/8Na8SsszbsjTQGeh
Vr4oL1pl92Kx8ZOvIW8EJYwhZvYqHAqr2FnsiI8euW7I09aIOH8Ni/M9LBGQu9A5NwMO2n6NlfOh
gHabYA2bE1kk9l49y4uFAO6GITuhdDbxdMDd4DeVRfnVxZOIgxC0iQ3t9FPDCIoJ+hpzZ3UlZcsa
fRepNtjmc9s9uVWDL2iNyEvXsDx8Vzxb8xqhF8WFemCppR9m11VrqBphew0Dxh1HKhvt4WisgXxe
PSWYaiLzGKxxfQPMpys4g/Kaup770tJBvJhrwJ+yV6/xomtxjNYAQG8exf3UC/fFAkTubi0kcjdU
vT1MAI9Y1DVIsK1s+wdVGpRuSzUvbk1crUEb+JKuIYQQFlnmMxVeQtua5T5b4wrFGlwICktt4bsA
XHO6DAEKpoInxyujfZL4AMLsNQKxziv7EpdgFOeSgET0P35o4dYlQCyzsK2PwWu1Riq2vRgf26CL
rvwyWpXo3mu6hjCWaxwjguf2Tsh+vMO/Vr3P3jDtHUuUX9k/B18DnzyRcY13FNqgRl8jH/NMDmE5
QfVAQeARgraGQ1oEjzhbt8gTyMaERzLDIDR2DZQkho9h5RoymZE2KTrtbyX5k03SccZzq5VR/bX5
yKhk0vIYt4yK1vhK2tv4uV0jLUFHqp3sbH0YOlXhsRtFa4VyXlY6KeKOhBEvTh442zLeDp3dXBrP
GLbLGqXZjeyoC7/jiTRRdrsZTcPKKXTs127uzu6YGrcWEOwy9uk60vhWs9Q5clSH1trZlBlZelgI
unDoLJCDGuVZiHML7gvhEnZxzhGqmht+JiUpcCgwiUolxicfsuKUjLA3GHvF5CSyOdkkXfeVzHhO
5rH20IIrQC3YKlz11PXLvBvhAYeiVe6+Ctju2Qale4jUOjhqOO9hiWUSMKYONip79BZ0EEU59lez
5z5jTpXDzGUB3PpzedYNbw9WE/e5RGjKJ7ZxbpOeffdcQw+y+mq+sZQ4DPayHOkxlkOlRPFq6ehb
zqVVlNFbor3+qMoi5F0xjpAwN4MTb6EfMp/Hx7zVjmE/gurB+pfV5pODcdDfdAZUmcRjbICz2KUv
cRMTFnalrT1EJaIXhWn80FEnz5aouxeeD/JN/QZAH5ISrpmx/lYOYCd90XjnQTTLWwcNAexgdY1y
iwVYMS9hPJXREz+AkvdU+CXjHMxjvmBx7/RtcmfF2B34g6BGe20dGnOprwzazUufpuWrmkwG5knc
mFvTmKZmj+u9Pwo5aJPDyQx+YE0HL28YoHTy3MFYYLPgS2NfpSFORukc6FMJfHfoQVlC044m2pmO
xDJAyTH6ShYHhuL1I/VFWt3ivTYS6LQFliOOgW1yMntr8XeibTN1H+DfPysQoQ/r4Pl7yYkzA8+W
pA5o0o57W6af7LLMwoxyd+vnloXhbcLcSAQBQWkMBY9lBNofQgczpDo1Q3vFFrZwE45mmQoYfKp5
7JW6X1UWFWJ/XrA/dbWudyMysI1vQvEbKC3Q/ebxtuuV/qZSrX+oRnzrmZF/ZVv1JpuJrCoXd/l9
YMQSReY4HBcvTbdVbauLZ68xR4053SyOIM4jmlmmr/EequB66s3RPtut/ywWhVNJsH2C/OHvYM/0
wO6ZsBZNH+/cwq32CSiSG/hc6h4Kn3GImEk/DXk5HOgUgcUKnD6SbNJvvt3ae57R+FABH+PHMJbP
xPjQXNp+fMXwrw/9Mg17I8O6hHNEPsXkq1wAzLBTzcSS7VxnINhATEF8Bkw27XtviE8dhtJ3K5t0
6CPgu5Zph0Ba1WRVc0Rt6j5z70aEPVujiFAutEySIkAy6Vb5oICTNNVuuMBSDF3kUJCtU+WFSWQm
+2zwopjqShknuMTOjQcyIbQ67RxLzYwoGoIk7BrTvR0NER1dQjgP+awstrdoyBsBOSBHG3FKi6i+
eqpgPTLKBa1pbBrpq5uSQNEqaMsmOp8dKHXYS8BQN763OC9cdPhwJTlwuyqVInRYT5/ZNPpHLxpw
VTEU+OFXuX8rQd5/mvKqPMihMkOYSuK45I57CtrZ2XtZZCIybFhc5VHAVTOTU0k1AJkVZfulN4cH
1+z31KlYU0GLhX7RfTaietcqJ7mbZuMLlrNkY5Mx8QkApmSATXJNWtO0oH2D9yxMfSbdARJmhJd3
ox3GbiMoza0cSxRxfDBQvJRDoR6JfJPPprOQCxYPEd+B9jbggaPz3zfyLBf/oU9bB/c/9WlkeS+Z
MhHiMLsoNobtYgdgnHAmxDPdCzerd1mljE9MfPUzLs3glbT25l4kS3wDfKj9AlmLXIeJAp/UGUE2
xTg3z9omqYshH0QLL0/ZugXGFfGmSHhoU/Az5K+W5jZw1sC7SKSvEAUNg6KmQtcihurQIONE7pij
AUiN32NZxzvbYOFMcFB/BAL2AkAC4PfQuOiPAwupwogryHKxb7XENeDg5KHNXffOIXl1X+CNdndl
6y+nLvG8r1Tq8cEVhJyx1X6rJ9iaw/jkUKFsZiCsBDGLeUfi9PwA4gqxQb5cmIh7VOB+AaPcQj5A
V5okcl8ggeHYjjv3mxhaQkohWAwaZzNFYTgZVv15EWUhdk3qs+bqEjldIuRdp6Sl2mWgI+QDWN/p
vmdQtG4jrAiPXy6+u6OZfiMCcto1juGFjOzEI9kHzMQNhndLxHw/rOdJ3uAqNY4uFMBdny1kuwgf
EzmBX6b+PvX6tU+WFjSSm+6driz2rm6L/RTTO8nmI890SW+Bm7KchKYxkBboLgt74KkPHWtJ7xdy
W1b/tDhH9K/XlBklK309pY886MFJB1qdRO1gGTSpsK107n80yUApWELvIJhbETU2Ui8gKYIe5G19
dooXsdbZKOEouYuP8pu0NOOGW5iiHJk2upyhFXuTXh5FqkoSwHBU8njyOJv8tb63Pip9EF/Iytb6
Xxn+cAnWniBfuwNCj9O7sZgEgYMxErg+QxLa1EGPeoAGo/voNSSVGYfR2oLYH93IuDYm5dqikLtM
t8KEVx9UB2iKrbQgY3EOkNuMrRECWGOw+NHy+B/tD7SnqjkOrafxvEnrrDuXhZDTZPzAcz64qEFR
DLuW99ZUptgEiA0R5EzD1YFjfZjxsywcYvRbJIo8NZ0jd4XRPBoiTVH58IbZRlM/Ihl3EItQKRsz
2NlNTSl89tjW3EwJTZrTRYNkrz8iqMS5wqaKn8M2iU2g/q3rbknmsK+Bz7iz5WcAP3FtGRHd6W3+
0UeCGssJCRyYFNBkImch0eqj85QfXWiwNqSNZeeHdm1SkYRX+9GS8aWlg23WVhZeBT/2tb3li1wb
XVrebm1+WStPV7k2xGAhvINrxP6Xymm/6D7L3+XaQI9rK72sTXW1ttf+R6fNPm0+Jmv7HayNOFFT
9OTF2p6Xa6M+rS07q03vMxFfVGwfHT1ex2hbrW0+Og7jlHFIA1Lkd2ELlDDs18lAvg4JmP17R3cd
HIhhDHZ/f6J+mMB/WuH8OfiiNsT9JTzP/UU5C30snh2wDAdQSE/Lq/3avhmv7aO66x9YTVf3RnH3
96/owI/9ebe6vqJlOnjdHKhxtun98oqKeUGJoCw6TNKP3okYxl9LBtl8B7hnEVsKw+amm1sydXGW
Je8WDOGwAQT+Y7FcDcZ+JhELKB2cDiSCgw4XYPtEhiMGMA+oJY3P0CHksyT7m+i1Ck3vNnc8QJRD
PndH3dbtBRRCfpbVok9czDxuTAc2+HofR734h4lqit65zPZM+tv9vGLN/NpdvpK4HZ16FRWnqXX9
w0Cu/acyVd1lHKr8Ae8uRLtiRDcwUd89JYFc3hyVZvmuUBo1kk67FwRH6+NYiuLzP7ypv9hzWJiv
BiD8RExRHVxF65v+073YB4FNr9cah3nwnXOVp6dBRD66ayMIxarIEAHkB7SXuM2sAHerm47uYRKe
9aXHE4zSsPbib/M0qjMSWPa/vtWvIMPglfqufrH95jKmxI+OJoITamCWdIi9WJwZTc6jmdkr+AKZ
nDkwO0CxQa7JTsaGd+79uCImZOarsgMxUSBHS/WGFJOAaTYtpE4v630EwJCrKfu4ppaPK8v5uL4A
8KF9X++0jzfsfwzq/P/gtN5bRcjibz2qh5rNyfePBcIaAPmvv/HHhN5zfhNg/9Y5eCB5PiQfoj8c
aJ6NmYy9CWJvxxQ2ROZ/GVTJecS7KgNCfvGd24g+/zWjtxy8q25AcqTNOC0gJfLfmtH/cmysXxj+
V/QJLuN7pvV//YQLT00oEZQKEdzUG/bdC3kQyPUsC6ImSSP6H2rNX5ZGzh+vxwu6Lgxsub4ZPz9R
RWz3OU4zBXgSfdHixD+mBY35rGAM/f3Di9/i//7eMK5zIgG7ZnRl8vb+/FqjdIVtIxgIBc44hiyu
2xC9mDAqEqK5zQl7uh0XOzsUVJu7uO2Cb7KomddWOqd5cXC5s9y1zpjdGgNZSI9VKA/i7rODzprN
MniQOylj6zyaon+fFafktrfAdKBlhL+/gchOva7s+ruxbi0JyLGeS6Qg0x6LamvdDE5nXtNC9DGg
jSUiqtFzvvPs1mHvKxbQfl8AstVG8j2WabTLKw+JUFQs16AViELQCcaHliCvLUO16SFDmXfTmgGO
gtYZ82rdwPKlQKaPPgPpXkD4I8si1gKMYIwncGbaanCUHBrsA4RWFJnBcjxQsA56pxM4dQl8+lFm
Rnf2ennyYj4P1jSK0PCqCyrN58pN82bHGRWdsU0sN6nApqJ1cdGJYDoRmaC80+bVKMn29U3xkDnI
rCoXnoYe2a8GDEjapmPQGxjdheksmTsjdrIITjDz9KBglCCZUaW5m4eWoaErz/1rGuBvKLWTw1tC
7SA9g5345N0NVCv7oqfcWZnEtqWHEGAH0BLYy3nMkomglF4YjzOQXKqwfiMtnRzYfzm7AlgF8zXg
yo3Ny6/uOdOKf2Apw1UwZvxHMqP0VfURyEmwnYp1B5AQ6iEdXlzI0txNvvmAYp1VQt3x6FTxG6FH
t2WFhVvI+B2cKF0GiGroPcYhVeZDneOdWN/R3E6CXeQkT4OFts3U4ps7Rhcr905tTepGwdDSbFij
pCpGT97bD1B89bYurW+ZLPc22h44esMBUtMPE1NCCKDr1eUXkLrv0Jj/YFd8QZZ/jpuVPj5F7WZK
2qcY+ZUBQRJC0k0S5UzGjEtSgExoMLugyvEFxjTkFPEF7xx5KpkT9fft4N6lRv1aTRnUZxtDh62K
GzPQ3+W4JgfqjtSbkh8eZTVKS0wVm2nA4kSqElJ2Hw50GuAMGR3/TswJPq9IvydR/1nTAIWuUD1v
BlhVGRnPwHcvMyCI7WIDmayNPtoKxMNzHlUbLeObOMrrg+zEa24GfAORj/uKlytUChULFBUylU0h
bY/FXY23tJ62pclLU8QbJxrtiaUL7HV+sNQXJI4ye8HJVxChGpU8qHkrUHkbPVDI3ntWJt9p5ZWX
qeLn4JjNexDXdfg/e2/+vOT+3/8/hSG46wXwN1bv6lvSvf2va/f27Xuf/HzJsujmb/65A3d+A92D
jxrDNpKEj3v0zxtW8jvMpfFy/yvu4E/OnxX8tvrEPe7lP93ffwIgLPGbXPkPAf+cXOu/f+d6/VV8
uRaNRCOQMQcvCkex/GUDLrHUTKhThj2pqnCnk9H3nxeP1TISs0DeO/h2+x0zAjp0U9d7xxyysBhi
9x8aEpqOVeb5c0vCl+HBroJ6gVTF9j++0p9qWdMlZNyYAxHWVt+/YBMYdxES4dMUl+J5zNPgojEs
LMAEWVBoaEzj0S9AR1isZRm91unesHjs6jxhY0XG3waR69zynKXMdjBoXtmxRadFEN47B8F4l2Rp
Ql4q0YWhg8XoAUE69Gjyndl0wLc1UGUOWx0XLPi6XO24wbEWc2psE3NUr5RMntjjXKvCDNT7DdFG
LumSYvXz8ueJuxu1deoiqd9qg+X4mDl3ZUpf6stshfz0g/2GvbG4ZWkBtHBoCwx82mxvNN7DVM76
nQkiYNAcufIa084y3mYXlqueKzknxihLci4Y0g7eB8/vT6yEuvvEGSgHakvsZMIuWwbOcI2lTaBS
JWbwGPa5qImuJPRrU44y/jQ7AfV4RoLQ1sks+WqRvLCtpSk+JSow8BTk9gnUUARf2xaXFkfynj9i
giskIq1WSXfsKaIuMeHuJ1QM1q6bi32FSnzXrnS5eTCYcqROHDaqbUJUCBjoRlZwSLkUQ7HBmdnz
yuHZbc1mF6S1vfPiNnkqKuW+kgsVhdDekDB1JnTZ3l741lqgT/PMvMNQt3GZZ8+InIzPSrXTPnO7
6LiKgbDxCrLnaiYa9tJN39oy80M4R9UDeU5gEiNpjLcQGzs40Lazs1Bz9FrdOgl+88q4wWtDprQm
3nEyvXvPXq9XM4+BFpss3cpKMELs3BB4VXDIbZYrfS/h3iVzcZSJsasiMiF7gCG97K/FmEpcFlxr
aPkqLPsdQq3JSXbN0LV3Day2V1hVw6HqB/QEcTxsAQMb7zDPmHtP1XxXQk4mCZDPU8rHag81F8OI
3Zfrf8lvcTcEB1AEMRO81eZnWNN8GzuKqyaprQdT29Z1LCd9bzZIjNtm0tBWiE0qg+o+LQheTcpx
OTTxMDwUhQuKe8XDO5iPse2zzC9tiTFVLuk1n9PqHi1PHNoCzw0hhZLxoGC/iAR51zEy2k5IXADU
Nw32GXzEYIjIQGX7GLI9w+CYxCF+4vIZJSLpw3MHSDPjXx+TVh4nHSxUZdo51e7gHyqQAuTczQF8
3pL04NIIgrDDG7PVmn1ZFxOI2A1wtnOyWfTBY4nL3ex3mGBsd/I4IiTPGmX8utklAa8q5/KYjYV9
njHyMmPR8j7tWZiBA4YG3N/pZiH5bqrdW7925kPGhHfnTNK6jf3kPuCQCelP7s2x3GK719vYrMab
ybLT39F/Jz9KlJ7bgNjvrRUsSAgtZd4vnt2+xpz6R5vkvHPHbuu2IivitFSTuzew1NwTSI8EdnTB
/1eO/SYaPz3LDLzMoMbxdzDe7SMns38qvLr7KlrKaIvJ/zaIZZlsm3Qcq3ULBJzNd9yt5sOPY8Ib
x/ngLkCod1iBcLL1TTvuoyRXezgEfnNXIVOCAdjF2e2oSBhL2BHus5i9fkJaLnk2UZxQH3bewFbM
tAsMupM9QOJUcjel0YvtGATZliwLtqjcawHecqXtM1kY3C+l5Y8PhqjZDpBH2730bbOQCBLFZKZ2
5Rn+LRHqdjLvOdPmQw8s7azmMvnSWIilEFeTyIW/idKIwXy+X1D/w1C1Am2D4Mvds+cQwRDaTfB9
ziV4AgzoLT7MoTr7Re++OmnAImyljFLW2cTE+Z48VI6nF6aZQfMjrfO5CaMFyqfX+5RSZCq+gj4a
j42s76vE+Nxq1R8rwwTBYEl341dpiU9nTWpEh4NcdTEX50vh5QQIMsCoXx0MG6cgAwiOIMY7RSr1
16E6NiwRqQJeUQRiYWij4mol6PoPCFccfWJpNgUIS8EWfJcUueOjlZXOU4zBSO+HxmjesLvotygS
1UtdJMYtlLkq2UQ1FzSLKl6tDBb1qYHSSaJNGzkv8TS9QrQzbsii0NENWW3dViJkk1sXJsYW946y
t3L9/MdNZz9SJpY++xKIozqd5Q9rFu4jV2Hvn5SXFdnD0Pf1afCs9GnsWkoCAuHlzrZa4d5NZdD+
QIvKZD9JPfm5arX9+6z8+TQ0jXuYU6b9hEn734OSQSCxmyb4WN9yL1Hm6GRjgJd6gp0ubyu9crZz
eCOT1TobbBGtfESo1X4pHdk+OpzWT3PZtgjfjGkfI75x902eAKsNHF/fAqKzjwRWxiSuUbsoIsmZ
oDI57oFdM063Ii87T/mjEUxI3VgqbxySulHNsXDfZoBLzM910KVfMMuOwEHw6kNaATtih2k9ul8l
Wvzqnki+jBlWWq1hI4VvhoVldIAXkXQ9QI9j/GAZ8UOiXPVadI31CeSn/YQrvTwH4C33wmYXFBVG
/KnCrIMJq89BiE/8E9RaCro7NIJdoVN1aGsx3Fie42+p0owHdxb1wWqh/FZqqb97qRZ7fzIMPERx
NH3qMInSzmRsZxh05vpuzksa2mUBWr5ZkglbfVzW+ogxYdypOD4RhEEn4xlqB588+RyLsr/FaAfE
IsEnT8KMvQUQIrbEmBK4k7VbI9D+KSn1cj8OhUT9HhBLaJulQS3mH7SGW7oq9su+3+ZRPWi4iRWx
CvQ3ozh6vV7Uua+z5Ew5Q1MkrCx5pmyQz04/JuwfGu73Q0AE1DVvIZOrWfJRgPzTbzP2++RItHs3
m9NDN64orNKtdgxkvBsV97gG6zkud1Xf9a9NJBckl+58QjU17KO8i7mObPhBLcJ9KFkFS+slvp+w
duwHh8+oQ4rtRRrYodOYfjt1No3zHYStxrIvzfEtcrFm2PlZeK/dpGwy0qdo3DiEJ7xTXxIOYpES
tav0PH02krm90pESyJqTtrHDme/f1QaX5WE2R5nt0JgffIO4yzgPikNG23dkgiUPrpn6O6uSsGPx
QidbhBmMZscScEJkWvO116aoz3W94DlBdnJN3MToNpNdZDdpHuTP00jqLshH8wDVpQDs6mZXxqdw
GrOmnr9PbPK8LXHa2Wd/CKJdBe4h3QWQUextxiCRztiy6zKsSx9TtkbJk0Ubl+RsEBEuFlO/xy0H
cEz12wheEYQJ5ZwWcNZ72XbMVbzRvMsQmAnq2/xFk2UgzlM8GQTmMlk6BoCHC/TiWXXx2fI1G2tx
j3zLpH/jizxONvamsY/tq6PWIMCun80nTpvE5YM7joQqaQZJHatknOnTOY+DC8RsxlF5EVL0NIc4
quKLchkNiLEw3hbF6oSFwmCcIT28sfZB5Q3zFd/GIorvY+XBveFU5PYHC0Pj79A9jLgMdjmo0luy
UqjejMl8acw0APQQtTc1ORE3QWAMe2TN497RqDkyXUc/3EIW8F5t7x5KkKCA9lAb1MqzOEUb48WQ
C2cIgcLY0gJ2aIec7InQK9z2EZApUwI9CPuOlA+YOJAa3lzATw8zp/iB1FqTmTiWwJJU8u1Y9N9x
yJZbGZvtznOthpszjig6F4vRkLqDL3oqUmXf2PyEAOrkXjhJs/7UoE8MJRfN/2HvTJodZ87s/Fcc
XjcUmBLDojckOJOXvPOwQVTdqsKQmIdEAr/eDyW5u6UO29HeOcKSVpLqqypeAvnmec95DiaONt+U
Weyzpy3SN2vsHlDkhi3Fx/2uqG2k+p7LzbkTiTx5sqOjymOHsa+5Y0RhArnLdPHbuloUa7eoTkVd
vHp2iUwYXAdFkltaqVyD1jG3MCSmA8EPTibKSGv/r8rVsFzBGZXfau7Ga830tWJnnJzTRaZ7L0im
o2/9lFCCgPa4W0QVqkP0vHcMN+UutUzRnM7l1uJASlYqmZHnsiTZe9k4s3eHzZweSJkcUxyLdG6e
5JJ5Fywl1qkKIJ2g901yvTSCclJLGYyM5a9gojh81avppeFh2sLEqdcUxZKgpRAjoolGPiYzE23c
Je6JZLn76OLKOCqTJAa6Vxih4mW7mKf9NM7sM1dO3VmMoBX2XpI5a3/mq0ERLPwA8kZx4Xk72WXH
QA47kxJQvNA701d8p+f1hJgdMXVkR0i+lLvYuT51FDRFlNOAFFlqOmTuVtltTjMNheii69YAFl1y
xnrvZnT3IfccQAwHazaSIFI8jG3xUvL+U4ofddzUxhrRyNjUfcrGGsLNhykadwcAw3rvKH6kqDwp
jo1egD8b8MwKQ7gbMYWKXvDc/gooTXz3/KV5YgLOaUrK1Jus4vrgkDV/QmAFvbi0knelwOLtVl16
7oY8xSjaLneiKWBVy+IKbcHGwiZe/6IBh2SdO5x1m5/6MsYrYsY/Tc3Z5xCmMSSL38zAWEgFEYRH
kmwT3l6DLlfWdGN4mbwpfA7Q/KMqaSmmoT4OMHXlbHrHCiLhN2cMaRap9zryzHiVssaIfLN8wjok
mROq7oflVW6Ek4w4EFf8Q+/Yew296WgCOdtUxPcehnDoj34on0SdwuGo6Gp2u4fafqfO4DKSzl6c
YGsP3qdMp2s1mdZepvo5oAAbn/nTXHZ7DHH3YwlHYIx7cc1o+N4l4UdJ0QGp1h8dwsa66GQbYeBL
n3I9lvtw8HixT051duVk8z3u6kMY4CYRaXlMtLucvA6Kri+Cgi6ZYOfOsr6XERaEnqrsMA1FsnPU
+Gw6FUGmGVeKDc0gWpTRSr4ctXeAJ+ztl7SU346d12c5+vmyzqaKevORdyT2v31a54C2hsLcJSFm
1lr68UlDntoYYYLD2uKmv6ra3D/DK4hXgfajhZg4mSFZ7DL/YI3pySpxJzllu2msTLw2jT+cTdd3
XrPcbXjnQs5FPWU3vqPTuQRaEc/BHXY3iu3SZ82bMYVFFDhcURaPLSk1mc0prU313Ph0wwpzdUeG
rQPlbVI7Pw5l+7uigupSytkgVxCY1YYX/NFsgqjtrHKLxNQc7iWT65akQmTLbr5Qd68iEicmDg3+
Pkk9ymFNytb9wPzWHlQeEEsdsZGwE6DXDbxmn5BRU62Gec7ukrQTRU9W/eFg8X+iRrPnhqPD+bE0
hQ8U1PCgIojA3k1ZRTfmZPLRYyla+wp5eTKMBFJXJ84l2IzIazxcenMcQAutL0lmkgCwfrsOfQf9
4h/D8FmbMspS5zZnxYFl688pGX/PKOLOymxqBnG71eRYvaTd99A/txybxnoShY5y28BwY5TTwyjx
rqx8I4NtGO8llBZWCtHkqmgyAwmModwHAbCLhBoHTtvfCM8PRiXCHbT1PaidE26bZcWsBWpffZJA
S7q1hvtyAF9YUdttzqjj6ecI1oQNsvHmZJD02cUNPwzhNMBoZnCrjC0+F4gD/kC8EGlqPOvQudRO
GzW5Ntd+3Xjn1r7XXQr7gxc49eBmK94cMB4REdY5CmbrDaRyGOU41NYL1mhm6HXXyPVcD79HEx6r
4mhehSC/76nojhyj90digPbS7FCyh0in8qWFb7GiomGdgYVftRzgGJzBJZfODkz2h9EE4LFnQ26y
iTa8VeEWwzOX7B4fAPT/GKN1aA0UTBSMetTE3SgPegV6TSJdOyqy6DE42haKEUtUiBN9ttUtZkw3
swukPMt90Nrr6SrFDi+7PI4EpfV2b248qkzB3FmKKMDZCM1TM+GlSevqGarDalTVMQ77cJ9hA/eW
UHdRP+ICGWurfEnaWn+E1XAk5CBXBRcOKJF6T8wIQ3ZDLfym0HN9yAZQCob0sKBZqb2XvaVu7aKS
rwTzLslIB6xu/4JfdD3dKHkcrfaXj871MmVc/yxGX/pAkmFTaXUmUsOF2vOwy2nq9Fy7yLmbjNek
RG4Zx7p5c6x82ct8HpNVBmlvYzUsTatBdVHbzM3Z9lHMuDbEW+Uv3vOSThmLNMjv9eJqtEzbaw9E
aceoM3QWVaE+G+RTcDDlmh+UmewaSNwb3/Yxl7WAn16V0O4D3zP8q/N59mJwe7G7UH1ronodltwO
Nvza/qPvXeNgc1Pc1A7QbH5P/7tZ4n6vwukZtvozbL5059PLuevCRr4ZIFWiVnS3EYPqKs9MQgEw
cCIjNsZNwjnPnKxoW01hwdhF8+SZFJstzAkz6X7YaEZbHZaGFR+Mqk9RQ5eZeYsfPBrnLoVpyyjB
CoVEXEgoi8g3TMuTdoKznzRU2aMLNX4kcv5/cG/A61R4qXgofvlIXVRdzvaN7LV+zPuktdhooYeH
pj+hpGJxt+3kXS5Cnvugro6Upupm09MQla2MuKfTPZ51vptkKr+6fBp2g3TEtmbSZKCSY1TSWhFl
i8l2EbqZbfBemAuLQg0fxLzy5lMF6+8NDM+CAY6rB6lNy3oJCYDPuMulZCdal/lZ94xklI5ZezVZ
5knTKcC3syqpb9Gz5z9gJchOcdK3e34JhT12Npy5y9tvWViIgzV47R9KxxkdY7c/Tx0XpspwzEe7
EsnV8Gpn16b40doeNOva8rDVJ9nIyasaan5MQtUdwx/JNgy5OSrFOeyE/TyW0AsoirNfePFX15FO
5Z1KWsCpZte25DtKp91qs7Qpnm8bAn5p23D0EdOd3VYhs7UjSlg92+mPwON9scrA9rzaVnAZQ0FI
gRK1Ww5ngTSC+zvGrvHTdKw6jezAiX/FRVa+MIZ85iHeedzxj/bYv9ihVJG6C17UOuwpnQRrwex8
0trk6yoQvgKvUnuq26sfjcj8fdC4+RrAnLlRNaTsBHkwAsay3MxR6TV7BKoeZ+xOW/IgA4+Wi0AH
BWBV1v6WLF3zEEiagAl9+LshHV7VnJZ8+N17ZrUtTZFltZO28GBJJtnTbPTtl5vcc1Vm7MNVEiPN
QaMLX78RXGyS+CVNw/BAQxXjzsiWOxhPOstzXng6B5rv/8kY/+EqURknkaB4E2isDWoMwherIOSy
7heqGMfBqsD5x7fRX24wDMLHFCrR2lJFs60H+xtWDV9G2A0XXTIbd/kdlpPPxg/lJckmrgnDDFaw
95pU0b4duOtZFQxhIWBVVkRFTuLYtvaculyN7WPG1PQKIUg82BZfv8o3kuOoA4yphD6hFBSPQ+YZ
K81iakvQ/GwxqFMLqHbOgiq5UfbSH2RfGTioqczm5/GSgkOKKlmyXulkvkoNT0Uj4FXIR/zlC6oL
LOdqkOo/W/RVr4JY5EdaMbkUSxmiDHkSd6B+siCErXDg+yt/mqyjHYfPswaAm1aUEfEQrUikbDvl
hxs9FC91kT/MNE+uU69xoZjnGSQ5CfdlLcbF3HsArLbA01km1Uij7mYIFe/kyZf1Kawp4EIF6DBp
zhO1n3gi4R/Qg/k6h4b3qxY+qmWd0khqddAHQ9EfAAEABQqaOuVKLZttw2vxgtkrvnXLshznwQsu
5JwKzAn5q0i8R6/PaXt2wx9ebp0KYoMkknxgQrCeutl5DJmLTmSt1rRTRFnZvVFe8iEUmKSmbzBe
12Qn5GPcqzTC2Bs+dwLYqg1b+Mkx6+5EI98QqcRL34Sde3vZTYw0uq+joQsimCJ+1KaNuyHFYuzK
IVwl46Nm13RJpjQ/5jxrP0oqyqmb8hvG7qFDexkFT0BSibM12uzFSKsCFGmGY6LcINJWd7A83qcr
aAvZLphZCdLhClIBkALHCSQKGj9wEiE5An5w2jLkxxiU9ptJPdh9AGrEISCk9NNCa+D5IVF65h9K
p0cwvw4BElVh2Nua99slnLHtrA1Ci9+LZDDjPJwes2lRB4IBEtoP/Q73hAH2g7gE38JX+U1TDbnW
aOxpROFsf+W9QKN5MrrFl6dD9Z36A/c6RINQsRSS4H5P/d0Xg3rrjm9i6LOrMnAsYCnnh8COaUof
4oUqm9VCQwtYFpjPL4Xl9QfoHdQDUG6hPifTF69jauGDLQAzXKpEwO0g60kQidVbcU1EYACfL3QI
qTspyQ76QUZzN06z7HUspu7AOooxjnxttuVG7e5p7MigvtUNxg7fLtU6lJP6oHL6Oy2p2xrm4Ztr
+R3jldV5ZLb2d8HAx8JtQbCC24IkQkl0cFI2DlP2f/w7Gpuqv8xenTJSmuKjyiXPEv+z2V8Mx+t/
QrGkdx5MdL1tRiV+wTSpt4tyvUMQJ8RXCqTVsSOrIxQ74c6bhm0DpOxx9O45NsJwfFFan5/emHrO
3jDijv0TLP88YO2D0kXpXe8QlkvESJpb22vfukMgdPfkaZc1ZBFb1Tp3sZ/ncV5caPLUzyhr6bYF
/b8sKrzzgNtyWBGAhcU60+SagE7QaeRbsfhZ1+2gNjAk22NvFOWrPYRWZKPK7n0AvddiMmS/viP3
WEXTZum0eK2Ua61NJyGl1+lsy0Zx1058gZMl+EFlZrIN2ji/8cVvN1DUxkNt1/bVVOmPsL/7wTNm
2tU4qU+3GehecpN2I93lNqaqiOymDFejuYxgnm1Io0O5RO380WSR7M125dj1AxtBEOFja70mDZSJ
WXa7MAuWt0qlZqSTuttgDZ8iTcneKi66owMHfq39pdtzC0y3vWPETyPJJh4q70vHQzpv8ooMrxmq
jrZBxC+NBPZEKEYWq7wSLjYd3IJpmsePUzVl20Eb+jMerN/FguggQX9cKzCRb1XG2VFLXN5+GGaP
4xQ6OyW8O9ojbKmlZoviLWu6JcJThizJrUPm+Us6msOTb7Pw2dhlBgyvhHhygpLMSJAErhUlDmey
wMdKpam+F3Ra+0yMaufSyT1SAs9WLTvMbs3q1FH+5n5S+1w8Nn5IzrHBELBqrNZ80yMdFRpyOWoK
oE0Ws1aUUya8AZnyws2MKQWj3i6gAuYCEV1ty7nIsCLZX+zf4hODSH4mI0V0suVCM2eldxINr1qV
58VmZvcHlTUV776xbMrEnLbgCeZ9Twn3XjZNd2oWK9viLTSf0slWO5YMyJxDM1Grx9RC0Lia4udU
ae8BuZK/CqjMld9W7onVtHXjU6Vl1XPn5kIoXKzZrlXE8BffxkbRBMsZN7b/Z54r4AtsX7gDsnXT
x6kLqcdzF749aKkvyeKOV2dsbkayRBVq3qUFO3VwC58ibdMTNTjEBDGuNYmGgHBU4zZvgIqTtP7T
TvcyssljpeLXzvirwDqwHUiN7R26yQD09I29sxgUTq6p90U5Dz8kuXlrEypjor9QVNkbP98vUkT5
TiMicHSxV18lZBPYk8SAtvsP083TXepmdIlPViq6lYtMh7jD/s6MXJeCMHjNo7eZJMBu+NKKditN
WJfAyecwOzNVyJyPTevnqyHlYtCRAfEr0f+1SZ7Dhp058387p9nT0AZgAcu8p6wp4Q091OaNXcM2
m/j+lmJ+tQohfy1Gmb30Yef/YgMXnsVoHbMxd0jZdSSZVgFE8Yp3oQVlVGOZI9o6X2ur7VaiqoBG
5PT2mtJpvqYwv5c8xErapPw9pGBmhm80UG4edutcE9uE82eC8+MHV15Z/OtDnVYhXnHtmiey0Dza
+cCCiSQ+FBODmnvdfcGxo1vdq5V5Qn3mtKG8JP+OESu5JriTt3MmK9/j2aFpph7bd4Shzyxdfk46
LDjGve7VsdPikLUC9zjHafZhcf98H2aTtc5omvN+6pjTuWv03KYA8ErYNAogcKbu/fXVI6lcqDxV
4F2HsvQ3NgH3/VJJkB0ofQP0i6R2t1Uz4cmYVnk8cRMdjPVcOOu/XnAkssSWprFHNl7WqstqCxUj
6fU+MCAj030V7IxW2481IKkzjATnOPA+esLkYawXlP6IoV3fCurMCXcMyQe0a+e1lYPE64BrhW2P
iZnDcNWuB2FDyFF21kOOBZG0UVcGLLyGfj11MqozgZnITzgJsmpGaFcZTAmaHyIc//bZHIt7pYKN
yadaPLuJQCDmkdd61Sbw+z+5lQ3RAPOWOo4cO0MnCb7bjvXio+2vM9MKdx5v0w373fJsFPZNqGrZ
9jRJr2xodg8zrT/c97X+qYhaUs4TTMGjy/Ib+6ygoxoCVPnEkjZ8tg1X31hgez/B2lUnY/bYq1Wm
OuadT9sXRYUjGac0ILnMlnF2ho8eHVqSFu+Wi5Np4nFj1u04SvG7ZDNALLt8woInz5qZa5/DYInc
KXgjIZYSMmuze4ZP568tfp3bRGefXpmjm7/pdmFHYAQL5qZMNWti7hey5RU5vJisWzn7B0pnd6TC
0qMoM+TIOAiOIGUfmliW0egQ1qzquTqgZUBizZqSJ0JPR6vBOLPkHfpmR4hkHQez+RFXHa4Px3He
Dc95Crr4NdTNdEvB+EYkPuHfdoRtCaClUanzx5Q9YYYbau8GPs9PGM6nOW9QXgtdPchadeuqkweH
cfax8jN0Ay5R1NyXM3kXTF6Xxg/rPbrfd9A3L645n5KEhVFgiGMFT75emUEy7vNYmx8E/YFq4ive
CdctX62R+ONqYCd9qPLqaIHBPqEJ4AlxBSQHy24JSPFBBT1NIlyTSUN3LKop9SaoyisdX3brTcUW
xnK+t8HnHad6xLZjwnGfYDsCORlnm77UhL1sCin6kde0AkDmkurn5Ki37CTN02ir301nofX0idiT
2ETaK1hFPvDeEmv8X/MRP4HLdjrRL2pINIyReNqHY7A8YbEsNksWI0mFVvXUMlw8TcNsE4Qrm8+5
UHm6ggOgTro0qbCEkfPH0078pnrYtOnCpRRFOm4lT/7SXlkvhe9VVsxEImtUg7Q2cLfbciMIfx3y
SdSHMvUxbWde9uBUPUL5gj15HU7OcEMbSL+LiX3yKmsqyCUIkdgdLO80e737YclJ8z5belRDLU7j
MocdBci6wLeVsU8QbvjdxqF7ZFBJvhEJmSHyuxTltPljxiW85CIwimMwfNyloHczxpVFZ4g5fJK4
tN9QN7JP/GnLFW2DZHQYG5ulC/PfqeFaT7P22BzEdfES53G6YS3A9b6CtuuEjf98j2IQjW0FCU0v
faJFc0nWjTsWxyHN5Z/achTdG51iMTPHV8CzQuCdKKi6H3J3Y9BydaQq2YFvwVnD5bkyb0T/p09k
Fu/CyqrY3BE7kq+821/ZGLjP5cgFnKyffJa18TPvu2DrdZyfYxEf04QG8xQI6jVptfVDEEbdcHPG
gVHVg8mZmGEKbzoanKG5HnpJgybyjHpaFtbFK3sau6io/Ga7dAgZTR5OoEZs6w+9zvEJh04DZtEY
AaTP8ZjePIaDLcu4+FjWPIdTBz0D4/4MudhHLWAbZT9NdR8/wXivNwlGgBf6P585XZl5BHdpjl+o
0qXvs0tL5amX8Cs90ir7eWhYPBkFGT+Kwjq45qN8D/NmRow24vRDuT6aW1jcyyFb9O0FXw2vqMyQ
W5+EDSl9EmUVpZOEDtne9UPp0Aoi2OPl9C6w3ZmfUcOGvRAQm6flrr035tj/wVwzrwMaWp+X1loO
aqaFkZ8bGQA7C4+NnDw0DTYxPKrw4VxwjUAjsLSzVyUshi3v3svNBrvUDyobHsvFGnDGEQ4ZQ7q1
cZMxcyYZZaqsbp57pRtuzL3Ym25rc6sKrAnIPrv3PyRVBSfFUr3KlM/Ac3uHUjivPkCjix86KlGv
uPflMbX48ycLRsGV9N2Aj9z6zQvHuKh47oeNVxgBvS1FwTvoX/CK5XluF/M2VZMgoxvUv0V7h03S
1PtZDDPBhgzL8Ct5GUL8uK9uCsj8lwypJhUOSxd0WsywsAEK3kh59X8BhYP1xn/+Gff2/6wR3gP1
+b9zwp9+g/X6h5iZ9bdf8veQGS2IvFXJi5lBEJDk+veQ2T0u5pDw8Sxxz5iBdPufVfc43X0zIEPG
MgK3HuVo/xYyC/6CaM8AElqk00Ifttx/xQVve/8cxeJm5wlLmFDaMZ873j+lU0ntGBBGaBJyYr5r
mH3oJcLICLoVV/65ynm7x+ZonzxnqfdAXIZDTZoUf2QZNmSSjeHdnVwK3KsgzT+8ppvE2jSr+sAl
32NDRY+Vv2oZ83jBw6o1U3Szg8Kkl2HCaOtvEAojygyAb8Ja3tjRGw/5fJvwZLBLWlKSMwNLomrF
xpR28xziYQSaKflVNRSkRYEKPIclag6yaijYuK9mBszqhAbgQ9XM4UtWVqrPYjHj09K33XgMUtN7
b5fJfo99O6Cay5iu9TLA7lFLb2AsM5Mj9lPmtEymwGSCYgw5suTy0FcTdziQ/phnlFu56silIjU3
Uxd3xtGbU/vZZDkktqicWYEKsCA94J8O89VEkw+EV5bnMWAaqk03Il3ozMW0yWalb4G6Xj1V+v3Z
9lxGXDt2WU81AKlhHecWxPoRdoi5zvKy4WanCeqPBmVIZjZ3Z5qTTbEn+eRQm+UIgTsBIet5Am7g
oKHYGWilQRf0RGUDng4M7iD7vKmR39IAQ36YrbHArtZLfgM2M8GHmfX5VVL9tecn476YQa72cxzP
DzHc35tNMJEOijDv9Kbv8d/YDvyR1UK1Y7wDRyePTafNZO2qTr+ZjfQfZWt636bGgr4ZvVGwFxk1
H01AHV0JRAgPySh6PAdjNr4HDAJqOxVuD2vGLM3xjjKFOl6O1bOL14ImjABszaoZLGM6UKiB8IRf
S+Nm4Xdgo28qYEWj4zxhLq0pnGizx77Ej7FSVu59W2bKIdMi1fgIIfb0ANYpPYWJU0QJmfnfbpVy
IY0XgacO4KvmI4iX8OAqI8fbj/8pjsDZsLeGiP3V+qNDJNgzualQ5lnqtVe6jbudTBv318wSI17N
I8JbhHQGLWJUo//ZVknarXCk9ccemLKM3Ia49aoNGmBQZtONf2Cxa6jxi6hi7iIIkeuSU0uxbbp7
msnZ5FusD/Ej/vZkZVPWMVH7wl9sNUFJt1ZzNeN0T+yhO9M/Jn/dcwjmIShpTKliwXDgFXmN0wMo
CitxnujyGfUniHp/DFDzWSVgqb9HDfO3hrtM4UNdrMZu8pmBPTwKpk0j+ehT8ctEnu9NnHRvlT2Z
O7cCiwQvfTknYV+c5lTZWy6DcbvO5IQWPbO6xUDKrfGtm/BbKZgylgDNug6docmPLvrP873RfCjo
xsM6yEx6KBmh2B7l4kJBF1eYgeFq4jdwUpcljZE1P/HHLWdbWQoMW8P35Ij/WM5vwgUvvm7nWZnJ
ymH+k1s1mvfeqg5KMQsiGGA/YzyRT9MIlFoWJDUiMxna9DDNRbVcM8qraTbnkRm3oWg8M5ooiGZk
DMPBCQ5euIwLUsQ4LxfDMPI3tFqfRZczIHuO2p1prRGpPfpg9mZe82TWUg7yRPr1Fnmz/VHr5lSh
L24yfA/srdsVUWRn3YjRXftC8Ldd/Ysg92eOzYjgWOrm1ttq2LFhltv/n3L7a+r7/wR8Za4nxg1U
53+ddLtkuDx/lP8Qcfu3X/a3Mz50/sLxbWP8EuFfj/G/ZdxC+y82R4jDCwq0IIIQEe6/Z9xsl1/h
BSb/QoKHifIfSK/WX0LCaYJiVHgDrv9fO+D/E7Kci2xghgTlGT045v85XKZ5hiosWrDBFIKkkFWz
m0Rb7rrcenC6PjxksQKQbNGEgt3Gjr34kgjOjf/wkf0dQPvfqrG81Vk19P/63wkW/GPILbj/OWyb
BYnv4+lh0vjHyLcTJkZt1bHag0Au9pjstxB9tsQpvPGcpicqL1vvFpf32BQPznxfm2H6vuRA51dt
57yMrf/Q47cCBM7V06xOTq6bdRYMAvpCEE2ef2osbFcTVFFXDI/zOO+o9GgpbObJNcfXqc/Ps2Dh
GRNcK/ublvo6yfhoO9QPkXmKe9qwSpbteUM4TsiXMXM6vHbJD5cdYmQivkcEOSDlARTCtMxvFHED
n1241LgtmhfeMVs8XridnRtOPud+zU9XfLA9gbYPaCkSA9bCjjWB+q09Yqu4HUWarGf7Uhs1PmPU
wuDdkAuFWvlzez8gEr23Hf8I5QdkIS4Lv33WWnwGQ+FjuZUPoeuiJyWKIIxbB3tHZO9hXT50wXL0
tPhdp9k+ML+M3nyFEkeJoX/hkvlE+/LOHuoNNTfRZNstYBH+GB59nfPIvDUXP+HF/spa505ZczCG
Se+PTcTn0AubMh48byCw6bplRwHWaboYwdgTYIMyNFnQcGfvmQnt0JlPjA9rTkcvWtzpudXJDVAK
RVEYKV5IuqywIW0yegu96djmzitgQd6Bhrvy+ue20n8Ugp/uzc+ld+lxg0yeTs1Hwj5jFtkJEVZs
S42MFBNV8MNXvl64nbYQsUlV4CSlVAFziqkeEiP+iBswJWhRnU8aWfvjK17wyLJ+1WX50MOMQ5ak
Rw1ITo2Hf2UNwtl0KPU43KNQD5SFAFxxh2Vl6uLD56tJUu6VTkQTlmP1q6bwbIWvIALOVt7NhZsy
H77N+0gZm7GE4HKk7WpDj9laqPQdHNyLW777Xbdcc9zA72oBSSfdx1grxab1XhTkJcw2thf5SqKH
hyiX1X5I5Yc3xr8Z2i7zcm3Ea+8iqlutAUGgwSpyz1Qb03JokvzdtappP6o6QgC6LbF/VhrfhEdB
i3Cu7vzYBc3Fx5LdQzZckf2qzxR97MfRSphV0hu8VJCL+bCHdEFh4qBFRGG63AfpTSXWuWJR14WH
vmK7Iqia43Vwy9DZqQPV781CHEl6P+Ml2+R3SqY0rO4CB4ypJ+HmkHnOhj0/Mkn2k+68bStvdLyu
p8Z6xCcZWQjQhblAOi33ir0bWNZptSzeu8H6Gjlhx1fDj8zULg9OPZJ5spgRY+U91Gj9qe3TdLC8
ZsoWUcu0lQH+WEuSeyCK1vMMVb7UV9/udzZ0pWoJ/JOqJjB66ben3JsFyJrHyb6GJF1XLX2OWZgc
tAy/KFE/QJD5VUsgFe3yOJuYnly7LreyAOZ5n0koG823tc8Qypr76Q49Xy+xeU1gSnAJuXWs0piV
+OSZXhPcLgx8lzKrAIrGDhJNB+x0vmu0nrgR6HyE+8Btpmpe6JXeKYqU15lIMXP3zc9aUKc+e28l
BjiP/yKC1ApjATbcrGsUzO6V5eE1robPcS4bylFHgnN+8LZM8zNWiyTS4UX7w6nGXa/K7oUCpevi
tJ9DIb7sgb0upRXmPH6iJr7L2S8x1/H3wCMyG/WmU/Ra+pn9NLvGUxjw8ZRWi6peHVlUZwAGCWq1
LPdYFHf53g+mA9bLvW07u6Vr/jiy3BGi/BEkcC8osKNaK7UvLS2juG2xIFlt8JsI9RvCNV2V0t20
E15MRDo02aLflHdkQW9V+2AJf9ijrVdtz84lHMxd4aXm2s6NV5uKF02b24Yn7GHA/N2Gd5is325c
LhFrs+x/5NLnwShRe4bpU4V3HG3wYkzB3Un1sNisWntsDru+kxe7Tg5L4v5uE6BJZpcAG87688LH
asTxhSKALa3SGc3ALPvnrszXbC+CNVI39Zc63jg0z/DoHQYKdzcs8m9dg9wOZQF0Rm5cXFNUmPyz
XxTwQossnkxmXz7m5BHEyK71+T50AZ+k3HSej+vKOeAbPE49VdHd0UuHtcRgsK+JDlIhQVwCZ6p8
jclfZEO3oy8IZ02Ft4SXkFnH2yGNd03nRU39lfbVA5aNd9VZB12E0VC4p6kf9hMsUnamkRUq7vgB
ft4MdLLMB7Sp5zaeonZw93P20NbDOxHG1TQV+Ln7dVBYH7D7r1wO93Jhe+WHu2yIZST6eL8Y6RJp
1b14MWz9O7E9dcGGeN17EHZAN6nTmkirhvZ+KkY8Q2dNWVlJ2nJlVN2jsTiXWfPmajSuv5xH3hD+
Tej0d4PUzwK59s1rqv+UankwBezinE2j6fwB23yHwuXRWLDjhDmhpuwPJtFfaeJeHW94cLxun+H7
BCOzMUfkN9GFH6DUMYn/GRDXWDveFlbSvegeRKt5COsPHpG3diaTWXypQH7mqvpKjHvoKT+P5nj1
c491juD1EqcXwUtrsdRj19d0COGpCLFINeW1FeVXmRhFNBvuz9BvH4C37Gs9X6gVKYHNEFgKsW85
bLqs8Qec04+UWpWCml5p5d9LV/0snflEQDKgir3S+LAFF0gvbS49UbKyQEvNg9WESFse78BIkhgu
r+VxidKhXLsQN4f/Qd157FaOdFv6XXoeF/QMDnpyvJE78tKEkFIpejJog+TT34/ZjXursv7OHz1p
oGtQqAIkHRtm773Wt8Zir+3rOZVHgLu3RpD8HOSwhWOfEArH+Vl1e28k1Zj5WZwZ11WEejyHkhs5
2aUpPapd7x5/NQy7YZUU3Vt8XeawA59S+C92LXaqTQmmbQ+mbuHVDMmzn/iYIWZrS3291umdz7i6
9/f5qA+kUH45ZKTECamTNW9gY105hUXqyIjLlETBiGISsSxCdu+ZIepnUPfhtmOAs6J2f3ZrQXZ2
1s14gUmFozl3oRZfiKs0b2A1cbGpyKWrBnutQeZkwFtIPaxWpePeqdh7i9LphxX2L+0AM3eCr+c7
zXOTLZbu9Dn1my3E7rWHAiAauczMDGAsJMMoq0O5tt3ivlYlY692P5lY4/HdWNE1rdlgrWk7EXW1
isOK+ch3Doq2Ty5dHZx0EdyFXXKbtieRTJTj/nq8H2dU3u0u9srbOqwgT1jNSE5kzPmRbIXR38PA
Bq1f9SsmF3PwFPnWS6SN+6Q32A/kPokes2QBxhCCnjjAAuSOXsLVaBSXwbwrbL5ALRzv5F3QKBhr
M2O+TKM6/dS6OyCDv0oUYnKGt6BFIfHq2vsOyueYtTlV0UkDLUybCrQzhQQxs4hXE5NGfi4fPY18
xuk+EuQfhhH0G/jlDNq5P/TCf8k67KJT/VzP0XauxZFOIk5P+lhsWQ5X0jH0TnXhPaDuHtxtVE3k
nmH1p8NA4lzAZl08RYYv1rBtklMA7KVHKsLVsoWvGJKGoKRX/BBuHEComKsjkafYwY0m6F4ZR1XP
dTejUkZ9Ah2om77LjqiaIDUks097+Bp0BQIjC7AUuim1w+yFcIZ60NnSHZGZuMYPr8zji7TRjhh1
5CLlQ8hwgG+dPVdgTDHGFsH9PJA2N4kufi+4DR/yRGHKTYVrbjsVVac0kGgnYgMiAABoFmye4HQi
jchvHOMnDyl/wF2fP0lYNA4IGbp9aKTmQwVnfGcy4b4Fb9mcjDItzobwmwfqPe7HXMzG1QC++FIX
mf0ImGxkQFhztqSxPhpmq87V4BBZKkg7xCfAGTeLcYMZSh6jWsAKLIY8IPBI1ddlleInThqSRslR
PYpAtddW6YenvOnbU9D7Ay4QJnfPYxPwvhMrdN05+P9ga1xXciG1wiNIHyrZ+c9GYxCRVoG+TMkV
2kUeRlRnnKu30aaZlNpl/UShw/qRbVR8SjI9XpEJuBqxWZzeOkPnPrpBGt8HqNYvrQ7Ujakb935w
QHo3VRCfJ+d5oFOGGQcZ1dyN92FlOk/CAf29KpPJemPyq3djjQLLIabogoC0v9HJDN6KA/M9XkTF
RdXLM/iU8RNIfXmHMo/xpdm1t/AM02ORTIQ6uEEPKylhfLqkY5jTkpHJvX7l2Yqu7jATIRta5rpy
0mIfQPLeF0uBTZg5RPY4Cq0VHSXcWWTgvdjkKa5xDxfvEFCsGzX2NunBvnkWeJfZU0qQZHlyV43v
IwJR6Czueujy6dayJk5SVUzDQ8s3czKTTTsV+6oyQRnU8w9CPEna0m3vblQ4PIbCe5I0rrw6e/OY
kztucYxRWTkzEzCnSw4I7c41zl1croCdfOi+jMY3Djgulwh2QjtftcAVRDt5DdD0y8s5zKz0A5Ev
zFrUGVG2Y6i9xXWlORiYkTNJRAt9IyPH2Jdh8zJa1aNVOkdyIW5yp9/AqV0TsMIz7vdDdmMZzbNp
YotSon2dZ2jkU5Rwoyy8x8EZnkJh3qrFaUDE1CqJM3hk4hjJ6VaiMjsq7PIbV1h4wsoBCcFs3eKn
QtHjIFFPyy2KNVLMdLsj1npHlDd6GMvZDaiCy1bA+N22/Qup6eiG2nMQo2UP5C7Ky2/Ekk9/bnbY
C/DoL0QfCUsP0CcQG7rtDrLpYBm6/IXoQzAiNybX0wcvf6HMT87z2I+3o1YgVMiMPRkeSQdjFc0X
9icakInnPpopTfcmRFCwatEev8psKD79X0slW1bNtKwfd1lJ8bKmsmV1ERtXn81fK25Ze0ytswd8
dTRQKpZmv6xRuazWaVm3+bKCw1+LeYzs9tTnmThFIWt9WlY9zVVFUVdF26KY6+sCE85e9xotShiF
8pjSU92UJtENlu1aO7XsLeayy8zLfhOF7DwGgRykRGj7EQYw+5LZcj+P4rh7MNKqfTCqtjgTltSc
1Nx0t9FMNRYsO50Vuux5y+7nLfugu+yIIqrMn7heokMzdQmGHGZJqo63pBiymfbLvipw5m2LX5tt
nwf6MGUyfi8V9wxlTMG9k2bBNrat7JnIPgoGrdm+caV653rS8cUJKvNHGIhxW5DfYauUQ/7XIYBV
wtzr5WRolzMiXE6Lajk3wM5N38ZyljTLqUI/p3o2l5NG/Dp0+DSrIwLtYFsvZ5JcTqd2OadCP8e4
y8imWs6weDnNTI61JEzQL8i5nb9oEp4lgzoGE0j0n3VTGK9QoDq1wgpnvUyuT1Or6K3pTQdjxKqx
GQGoiAZUxneTmQoK5rngAseA21rZqGb8Ni9v4jhOUHhZ8Y0a+ObZeb1TFG0HT8QB3KPGDz+cwu2r
A5zfmeIGgsOuZVAFE7379Yg2IuC1X8jW55yGLsiXqYzjdYs2464qU+9D1pZ1LlI2ib1HCFENvM/h
plB0osSF5znZp22oC6ouDPnKsNx6F4c29xKqBXBIAqXNUHhyBZqerhqIAZyH9X1MtXnQwnlrSlo5
vTFQSczcK7GZP5PngfdxGreBCB/TtH7MO/wcQqfNhnDfglj1sttKCvafFDEvQoKzt3sgOq1ynoaE
q+cgLMw3JCOzw5IITL53fi+1J64kWqstB32LVSpLHn3Ariuva9NT7HmPiZk+SrRVZ/jlGQ4Krtl9
YZwi28QmNsQjYX3jwKWnA4gw2N57AtbyIM0EgSeep7yeY27FWb+1zOkKSYqx0gU/rvlirFN/eHV7
szqVrkH4FQrpdYaWfF9PSCaYaRS4Ix0UEFW/hh6BjAhX1I5mKm0Vg8F0b1y4F1pMZkbEDKZ+UtX4
XCH+etBCUY6BRN87fT9ItPFZdRX7Kt7kWVTtuwkojMbKtLdTT+3g9GPUcIZ2N1istUrS1wSfQQUW
TYhBx/Zdl4PPqDBLXpO5fHfNnBuEqxqU8LLbF4Hd7MMZMZvTIB5DQzKuG7NFXKW8DqHJTDQUIpR1
l7pkAeO45WqhDMr5O0K3MDDY3JimmJI/lmH1XIVgjoOJqjVc6oE2GB75PfcY2VhWkFTbzlOLTehc
dW54tFQAJItj97oK/S9TtcVjZqHplSMbiijKL6qY79T2HmNCvtajmfgrS0TOjVowWZXHe5cH8Vcb
cKfI05ajvW6LDbcCYDhT8jlN1qvO3wwX8wfCL6+zUIeU/t1sVtDUsvLba+f7CeUYV2HARKhdclJh
pQ/MDcrFTdtYw8ZO2RzJocrXQyk5rCqneRiIh3tCldNSvZo/xgo1qVunT36THwh8DbbClprKGAU0
HNP4KvLtM9M2rLI26wugIzQAUsg2NKRvhtDFodz7VX1IuqE6xpaIDxH66NdULkVmZE875ox4QMfW
RzmTdsP8Dja/2NiBE699eBJrEjytW79L1QfQL/sYCc84x2hgj3mHYims/O5uaMPyDtz0+Bmy/5wR
x/mHcblRDcvdql5uWfZy32KMxs1ruYNZovOPhLoLOJrL7Ywd13mSy5WtWS5vPe/4r4P3/xnk+P9X
jcrCNbZsENn/5ynWnp5a89H9dYr1X7/1v4UqjKR8j4/cc+1fwyr+3v+aY3nyP8yA3cewTOsXDhmN
yH/PsXzTcskqZNDlojvll9CFdPH//B+W8R8AHG0Jn9siSRfi+v+NUGWRofyVkQiRGAM7uhfjl/DF
/+1GFVjJALFx9LedC9mDfvA0vcSWN/4bWPsSp/H3h5HeQob3At+zeF2/PUzrGXiPIpzKnF3D+2AI
uUPeFqFo7zI6AIUa9n/5FP7FYMxcUMe/P6LnoutiFEgmtvwt4CMoqNR7+E+MBxYylCrIkVr3AiHu
CqxwuSm8InmQAAwOXQixXRuBWNX81ns52ebeqIP01HqxfTLrwdpac5+esFPp6yKa5ytzzNT1v3m+
Cxbz9+fLR+64hIUb/j9o9qkvSIUZSx+gbVV8adwsa+Jz+HcWMKdIIaWsdOSzPyWyoqtpzF94DfXz
FGE05q7hfEd9nz2V1YjRjMvs95+fnvXP7wkaK2xNQLZsRrKS7+Nfb95+AFAxDQhV61EmM9o1McMT
ygMZo9XUjunIjKQ0VXXOO5swSWFEB3I+xi3PWR4A8fkvFpyl22mMz6apjkYsLiOixwJq2hJB6dVD
9sZ4U+7x6TZ3IGWqzz4ys30x1er+z6/lH8EBRiBhlLKEGPsjfV4g5H99LTKZNXmWtrtVfR4zu2zk
Wo+jRfteyRirCEK/xSPubkXV6q/S03hF86JksFZC1WFzDsSlH8fuzXMGW6ygk1wVmXBfRzPbta17
7TfEWKKoHtY+sC48DP1w7KqY5I0ofVPuQosK3dfA7eybTvTrsqQSA3R2oEYrjlmTezdmUdZXkPFm
/BWxpgFEvADBcAXqkpSh+LYHg49bnFYjp338Jb2G3Dqzt9XZ9er5usOAHKF0tYwzV178WoAcgm5T
zWP6+uf38h/Ecd5LRKMubV7TNm2Pofrf3kuQGm3mtpO7NUO7uK2MrKRO1MYCa9r7tvktUj3e9lMC
uK6AEV4c+ibX37jUm09H1R0sOk3ctIXE86irPAeMg79mVZZUWFz/1R1Saaz10MTGc0TB/hX02nzo
VYj5NB/FK+Ec0ZUirJMIOIUKc4qM8Upmfbrres/4N18cdtZ/rFFW5nIkgNx1WQq/vVhpKFyzLAIa
acw/C2uJacaJADmwau7wIAS72jQtiC35fGlqGZ0RmqMJcyShkObsyCe3daefjY6MH3/+HP7F/ioB
o1Ll8Y8BePfvzyyPJrpOLghULS13TX3xHQ/T0ekwRfvj8G+I9v/ibYCeb1kB9ZME9btkK/2lCq84
HzBwdO52mlr/1aimalnF6e2fX9K/2BD/9ii/rdJcponX2lAeMjtJflLkVlcAHgUdpK6cdn9+rL/3
FfzlnUNJyhnNiYquxPrt7eMrmSpFZMy2dG3rbIti/poxtVw5jW3cW2PLtksACPhQuhPlXUBLZvPn
J/Av3lI0qYSZSPZ/hLG/v6VCE1ceuy4kZH94NjUEwzHEEPPnR7GWP/PXQ8ZF+UJt5kq2cMuA0/z3
T85iy5WYghFqo1ZQJE7iqQBPmgyXEe1xkNyOJcbOUX8tnLw+zsUtTgZIY3MF39HW0ybogQh2sVNh
y1Z6Txe1W7njfWupmqxONJsK2j7OmPioAJ0tLoC5QZ1f/0yjZP3nF/P798Ol9UryCyclqGtEQL8J
X2ZnJsXUa/xtzbFDd5nYR0CR0Wb2uBj/+aH+8bYFhrccfIB7AVujRvr72xbPoYVaj3aen3vRKZwy
ccB/P5yjpsx3dhv2B97q4N88KFfB31c1IG/2G65L7Ky+iy7574+rYaBahanD7ZDrR0zW1daOUMkH
4ahfbUy9HiqY9l5EybGJ9BsSjHTn68n6SCOmPJ0Rn7n7LBAHn5aqd9cqZQD7ses9Hak9eFk8QWHy
FlrtWwVMNAH4v5IS7gZMLWtV50g7ma4dybsjU8pvjbsAbeu6LvIVAfNM9YSbg7c2yHZusA9Dug2R
2zfGlbJEvvMJ1lgFoUWQqSoufR0HzKEhFbCeJkBGbPrHzJEPUVD1t7P34aj5qzTm9racC3dTum70
2laivxU1+bUErhLGN6fmijCzYtW0PgkWeAexJ9Z5+jYtBtaRVJl4HYzt8GXlQbN3Ygd5cNHZztuY
WJKGWPGo1HDXyH3P64SRTJcqcZlChWBhEhEV72gDsYwziGx2bp0hcE4C0Nagq4iobYobp06zO3P0
ADhaad0xZgYPYza99bO1idjD9dfuEhOHFCWgBqtrDuEWUB+CmZBT6h3Sg94mJG2U8KfWitRCFy/Q
pqttOIJlj8F+PdfxdG4QYF7CeKjXfjJtR7ioAehNLJDz3srtQ+g99kQ7TghZcSMF35O2rzLdP9ZD
/zPldvmcWFW2Aw9SbAM5vBQxZu5ibHdt38HKtWrzuU5T+zJkjSsR/1QFfytfsoTmYBXY9QUU7PMY
9fJ6wDNx6BSyzrj/1RWh7l+bohtum3Ee9+acu3fdIIuvsuVj6xtp0NiIo28JnmsfLUAcA+kt43Zp
vqJAyF90Yu/LtKs6bOKjvKuqQl1Elvd4kSODzjw2sAmn3TA95dHcXexw6iEQpsG6Fs30KOJQ7UHR
ZTdC1dFhHhtxn3HRuiGCdUFQWKRw14XPI3sK4ABsHWxRBsoAaX6IEOhChcnwxmowisd8enB9i+4S
9/knY4zpM11eoTZcsW/C4c6InP1cPRpw55DjT8wNp2vadO0+NVJ9rGDC/whDM36saLKiS+0TLuDS
3Mia6BTByGnTdXW3mYMZts8YuRe/BoKQ1dW8MdTEZGNqiGU02nEnBmc6FarB5+rKn2Dt3kqDXAeE
GBUT6MZKxhe/9auDE9GgmqYAa4mNU7gn3+5IYArkySZ6aVT7ogKNSIjZekMOltk9RzLzDpB1maDY
U7WFpmrB8NPtVVMQCdgEjXdI8VntGiGjrWvzpIjMKZ+dphTXCc9qo5D4Qcos79lhx0Nd1BqUju1t
+alob/nkZbfDT9uNIDkiHmjTAAxmadjjMmThB0QUP8DgltthHARARkmcdauQZlRCPtj99NkyWr/P
G+3duqRUkkJRzhsQBsMxL9y7WRn2pY8LPhOrBwQRt7o/OWarWVRdvIsDzSwzwDlrVerKT4eYHA2k
Ir/Ajm44x0+dHS9BI2jTDKaLW7eq2zUu+nTnOu3EAVGDYDDj9KPty/5qiFx9QxoNJsKp0tedK2h8
qoaYd8LmXSd5qyEZM29L8RkIxjOd0WyyAYj6SFjQzZLQzIxytH7YGo2TRoS0wXRsbBBA1HeWKBg0
hZR23s4unGc7rF32wChttmRlbUw/uxUdM+gonM5oSeHCtccZBn2YZSWvWGUX2xhxI02J9QXcKr9X
Q8pNX2pal2lr+fgmZ9C99K1uGwwOG0Q/8wGC8oPJxMAtHSbqfQjfwO+JI1f9Nmisz3Koz7HpApjN
PsvEIf0WBeteK8/aN8J4qIi4aeNxuC7dIbzSfUX32TVU+9rNYNRUrcvwPaI8GxjAF/5uSqeO6npu
ECx20LULezu2WXTTz/gMOotJXaxt0tj8iixagU+EYX1Q4rtqS2dHnMBCPA1PXDvIWcBVcq5sMdzR
gWMUbpTlVVxV6uR6bXXvePUlzmBDVUQ0fCROU33MjZGhRfWTZ4zXgGlGJ7lKwsZ+5VkTKUR+Anjy
JN8DH573safATpgiPdUSJ6XvcXI21lSzLhR0DfDnIBJSysGcvilu7eKoUH2y9bukeTZoNXKt+l1X
s3mnSXNpzO8spo+w8tA2PDIkQs5ixgoTRz7de1Emz6rJp7M/kxNuOPYEV6MLX8o5mJDzQPMKrNy8
HyNoUfi4OQtjWv1O0yXveBbmtSLqeDfU0n9VkWEckzhg3G1HHLfxdGd4WbwZMzu6o7PTkWHbV1e4
+d1zN7Rwse3eJZh2MB4tI04uQGLsI8m/Eh1iROBtkCKjKCT/Rff3Bj7Alypq2BMuwaSLn+HAV3QL
KfpTFm68K3Puiyu/WXaXALYz0lLFvX/2venYOvbWRvih+lt4vNuC4dqtzhNgMWqU3dpUHjkXvfSv
7dqr7jvEAl9uUhevkBoYkArneQodd1NBCeFmABXJ1UMTrMi3T/eGg5pUOF5BPEXtsYc5MFZ9seTR
woT1RVM/CHcgl2Gc82DY+WTLHmsbZ6YxQVHLTSDRs1PwxQ+7RqjNSK7zES7FfCyl8YKmwr/DxIz1
ZxTiUgagUuak/vJaGA1G1mAVsPOmfCib/kbgpPBb57uUzSnK5ujOzQIPTwFz0gUAdISzYTxGfuLC
hpwYtfvOdRvBeYzCNRe1cNeEhYbOZE7xdhBmcKuhw992XRs9UWKSy1jmxAYGTunFK78dmhvHDsJn
v/HN+6LojGur0+oEw2K8Hsex/WrdxMCQX8fxoy55MsJw3J/2aAQ/JNTcU5YwgrZifs8Mpdg0kJtM
HMPK2MGJsiHdjPb0YQWtf1UM7YRjwq7ILQ/88l6VPoz5Oh1+EjGIQSslfPMcgbHdt0BA1Apyu/kk
Qu4kZIQEJN27yySd9g8pWh7pHY5WcGBkX4ePjjJ7Pvw84Bqpi2g/ISfGiMX4VS3uoHmVtFb+jNBy
fG38OSfqgYypBuo/oUbbFNwNppQqDW6gyg07KwMxblMMYakOhfsWoZze+gpHpmchcgpcgWsk07Ai
NNqfa6JHkJynTI+xNM+pvR2UqMHIkbtyO2Y0KIE6tYpReNxep0N6X3jzp+OnL33h9FBdJuuEnCNC
rDu/9jMq5XYu6jXBtM2hx6S3hSJUrrBsATGzfH/BJ8310iIC4F14MCgZVFxZdmMyi+vjHTEfWH8Z
7qFtKcLxOMR6B2VpkxZ5sON0TaC1FLCA2qlMzzAK1XM5zuc+/Jodn8mZ9Ugv/8PENENq77ubta94
dR1C7EVxqQeEn62BBtwxCv8qRzDXbfIKjVuFPqWBhsJEuzBUs/EZQB+KXPQmrShiiFPplhD4mu5B
tFmGJFjaqPqV1d9kJUBBBuSu+zFquMdrnkJ/V4dudMmD8SEcC/tQOWX5NhJaUK0ajTmZ1pL+OaRh
9zAXfr1HIyu2pVI+kQdTJFcux95X38uB5is4i8jxwlVY2mrPSpb1umuqi4xSfRgIH3vDgQ33wuzl
ltTjkkiM4GSXmbp4GQ2XJWkSwA9WxaPvlhotTMKhI+Vg14DXAcF51UzNin9wWoGFT775HZiVTTGD
XpygqK25xsQODKRWnDIGqlvu/+2tnwdJvHVotW4bKyDvyonRoiYe3BwINv4erH/HlutUNjBgS6B3
COSDGBeOpE/T8CmepwpvsA9zxE6qfSOtgMUNUIKUOUTM4XwhaHnNqLH86mg67ka7Mz5Yw9Z2sjUU
VVwOd7DC++3oB0SnjLChjnYpxbUR2yGZbCMy2Tyuw9uGywfGxgxfo5lX+z6UoM4QKp2LSD7lg3Gy
irb6nPsoAQ9N3A2uuuphduFc9aqbLgnpLBR1gXcJAstAqZMH931mWdeWD9+YPxn9WLZCtJNV/NDr
Arwyl1zz3KQueRypCJA9d92jDy0eYGiX/GBjyW/iQY9P2piSdJNg5NiZMBTf9VTCZy3j7BBjQrzK
O2Z15hzVFzyLQOhTZaOi77sbOB4MQwWAyUT14a2yIFionN6L9mRyLriwvRRBYiM47RfYfTQrta0H
R2xlgXWQodiAMrePgY21EThph84gDrLiVAVDS5hGpduL0cY+7ZS5mQ5wWMhTyjvvpzZrbBlzWiYX
8NPqUst0IgtDaMs6uj71cZxTTYKBoymL6gkGRZ3K8gCTPH1p26J5q3HKmlvbYHCwqurZQDAe6fSp
N5GOW/Bl0UIDoV/5RUFhIyF6EXI0xDfM/cqt6ZKVNITNsBK2qSgD4+aOYzLdNTbJ8qySOsIsL6dn
YZblE4Z9lMK5RG8PX5TisOxuMn+8QODy+fIPGTkjvASBVIiYd/7XQT5KUGOzxSRPJE4A6ktTW0n3
XsToT1GNcwsJrcxZ16CYn8zOpGFK4jRS1Cipf+QqRCcwD9atiXad8p4LD2h4MXy4cZi+lS6a4W1o
ut2wrkoCae8Jmuz2eW1z2RXz1EO6dxClNtEERwWxB8r7UVBUgcXlUJ/2o4/CL7OFYT8XYdh+D1YK
JMOic1ieLJJ8AVv0+IjOTIc9i7Bv0582OdgNveEmLcQtEuSO8Sg6JrxGrvuK4aA4qFna9/lsw7UV
SQ1ODpilRG9Izgar3VWScXGhb7taY0Ks57kfMe4mQbwrylFBqhm43PoE22+JhZqsK9p7obH2gKZs
YfShd3Y12sqxdqvrzA5a7A8uEdHCwORZL1BnIcfvWQW4bam99WkWVfHpmmrYtSrniJw4YdHG6MG+
KvxifkHC1X7H9IGu0YWIL156/daHuiUaJgQQyFHINsBn44Cg7gnOvHFlNN20lSfVSvYzIebuYFzR
DYvYz4ci14giQHOha1W3yRAYNxXz9HdKS8pFX9fyMyXgmu46G/dLjZd+EWJo9IOxrNZai5KcHe2p
t3YJj8+JRn5lpMS6GvKEQi+pHkpCFa/CBeq/A8H7mVs0oHQbo3lzGJ7Qz9ynw3zKMg25BssH95lZ
RPfJ5OeP6LK6nW2o6Kxiad4SaSlofDR9A953KNvdVM7dcSpqC81a0nRbqLnNC4qJ4ZByfD1HMEEJ
Ppexl/JKzPbUzGn2UXFd2iIh6g4s1ehcy968QxEtsDxDhSEX04Kqu+7GDgTdOE4hrCY/5pQch/k6
NU0KA6rhT+Qy+J/COTpbw/izNYefTSueDEqAhQ5jHu2FGyEr29khuRJrIrr750ZF0UkGKrhKnSj5
OfhFhDO7SqYbOlucDAUXa7Ddlt/j0TBpg6LWWM+jEj/bQIektPj2d2u5uv2xPATwR+B/wf0YOzEO
GmswyIscEkr7xdpIOJiNSkSZKKsdtIeragopwedn0P3oa7JZfyYCgCOmtrG7HUOfuI7Ove7Yg0nr
IVY16caWjk5m9+cBlMmx0Q6+8np6M/grYLbg828oTLK9100Av9giRnLW5nfZ04eL9kHhvPmN1LdG
7duvLS/9JDmGcR6U3ZEZV7Wlu2SjWc2wDZGwCs5qcm8E1CIUHCme/DwDnW7O13FZ1OfAa9D+drX6
mvKRdlvRi32oqHXFSKqmXWvSy8ks9deoQVkHwnSPLVda5JkcVsAHRo7kjsh20i9nsSeYi7SDxqsI
KugthXNRlDvIaP6x8q0ICkccmQ9KNt4PWhmLJz+VkMFFCsHZbO+LsInvzCVqIxCQr3yvt6/DsEc9
w/dw8hBkY82oJmxHfQepy3IYupIev+rjANFvgIrT9p/j2fNORICrdSZnk9ZsMW5czt4T8WP2tRyw
M0quK6+D6aXnwi2KNZcDtbXGAWL4UBPPGQT6etQywwBmiGmL5ZppXUl9dfEnqmJn0MMZQ13yI2pm
DmDS/BDEM0bLkqh8KjwslFHUz/dg4P1n5vUVJVESFuHK6eHzyMio1jmsVPhVZSefpUhyerC59dBN
ZUA9i9uLEkgdzbltoa/act3oJl23dTaUa+gLHYFIY5HsCSVo9xzTqKoS39Agw1ygoEHsLML/aXhn
GwUa4BEHE+yCSnO1x5jWHZlCSwiCba2KXZv4/T1EXeMAqDvEJUt7BAwGYekAhlwtLkk+pVheqvAk
4VLu44rEC/SE3tXolPVBZ2YJQXJON+7QUgO1S3RQmKq7ZKzuWrhATyYemrKx3pPK+wjywF25lTei
rfKGeuvFM6KzsvHWGC+vMfi5hyiKjXtVufYaWIs8FZPOr5M2eyxj5H0AyuPv2rTMB/TjDvmQVXhM
uIJsRT08EBOSsUl7+l4X2jj0IPFuRk5SrLvlto3S/j4Uc/TgzUWxbztyYa2CLjMNXftal06/x8zX
7foW7CvDkDfI8sbZiHKxH8PiOOSNv+8dvkZp3H13VCtfEzheoMPjup9Ad4wuKcYDk68MPNiRNB+g
jU2Z7f0YQ0Ee+iT9ke2BD8Ce48eu73cz81i7LvmMmXVtjan94eDlP0da27ey7xogS8TVqJVgJy3p
P+3JLu6JajBEDf8B0rnlYqZZ+ABdpoZ148J9TyckbjgWAWVsjTo/S0BHsxLbIC3B+Yj+rQjcL+BL
0b4X5FROJTo/cLTepTeaddV6Vxb2RYExZFV1hKI0dYwonLSBhsBfiJKXSrjGZ6wIa/FnymFLo3QL
4CWdaYA9ZYFDW8Hw1wwe1laCBjkaenW0mwRQY+pQS4z5l020yDqzm/d5jq5Mk6pihQoanhw8K9BL
SlocB4LUL8i47uwmRx94EbDyoC5QL2NhWIRp/tkleXndzBTIHiCGVWUTyCnNIqVJSTnhEh/3XiLO
PqN1dDZ25VG09+MuYs/FyxxB4c4TWKpAoh+8OiphvMcWXAotLG/nTDg/cwSCeA6dCiCcSDLQhIXp
vjUD0V8fcBfImZCN8qh7A/MRG3tCrTXQbcsmSIOsW7Wmlt7OkojQHQMKWhlNMl1C4YQPcOyBq/RB
Fex9aR2h3xAOUlun2rUSBpiD1tMBWn7yEfohp6Kf8pVqErNKH0Uyp4wcEdUHHxHQM3dluhi7QA6L
8Owl1CfrCO6/fguCNLsEke/aR8bZKO+mnvkIA1qQoO4CO8zGEY8LuWGT16EUjzgPPYMRAvtp4NUr
UmzuUz1kD33nsNuyb8A4Tmd6mmBjAax4iee/qTLv/5O9M9uNHMuy7K/0BzQDlzMJNPLB5kFmkkyS
yaQXQi7JOY+X0+XX12KkZ3ZkNLKQCVQ9FNBAIBABuQY30ch79tl77Q9VGvYXbGeQfZbfgTPxOTdL
5rqlUY7ZZpqobPdqpbe7xOZxnwl+1QyDPdNiQCnPo6c1N4TiZg3lkBjx2LoH1yFAlmjuwrLmdPuU
nWk5Gpl/63szAfiVVx+UvUFdc4Z7m+d7WFJRqYUgwlvtydIHBSMsLMJHmwPJiSsuesNGWTMR12QF
QkEJh/7V2GMHR92odllPxMoOKIzNE39Lz907tVYXux5vMHgI3/PG5R1PPJQcLN/Lo7ST8huotiZg
EqfhQs9jxMbQNmaTjd5deHYXPCFTVLIkq3KioTPhtdUsaCXZ1OffU0+9UmORb+PYsy+KiMp0F1ob
9lMQJfhYAoBlcnjyy6J9CTvA+2NsIlJTKXVOMDCIDGc1UNy1Prr6ipIhRApZBsGNeQE0Ma406qPg
9u370mzx4iaStLKjxuPUSuJgvZ0mHHypn3Prlodu3oXc8igkQy9QSejvlNA7aGWMedx/8vIsssJ+
qgcfZMGAfhoLjeWInbzJUNO3queOi7Y6nuLSblZUH0435TK1Efeiz9q1HS6We6fJb8Ogm4+guoNw
I1tTvVO9le46Tscni0acm6rJCrLOtDla02ZApkH54jSCG6JD1eVlwA+mJdtchsG9iTT0yWzKFDIl
wTnuwwKhgtePV1KLXH0d4M99YYQjMNLMQVBjOeS6OFq+xr5A9ulL3ta7pquox8yHayvzmlcwfGGB
vK10z91l7JLW3dTIpVAKsqRNiwuNOdq9GbJS5L4Sv7SlC8nQq5hMei406oZF87MAzgDNFXBrrLau
0ayKISvXTkoK1ULIX06kDI6QXqm0oUNE4rQhb21U4QacIybWEjeMs7Ls+IfRGXaFqbEadjnz500U
PtqqY9V7SiLqL7DgAh+UwQUyxA1ND5j4+6fM1kl113qb7qB3MjVAxLujxxlGNF0kOE4R68iUWTNM
d3BpXC8cagzr9Ny6tIzKvooPbE5YOdAltyPrBFS/ER1gFiBx02Ua42KH8WyQKyPyjJ2XiizDbwHx
0YA0dUu4K35OekMuCnPNk0MkB514rGAjTxa3MFz8D23K2qyHwbfmvqEds9ioGJnq0tpjFLYKIghD
SljJFYdeBWHLCq2y2KZFI/i6KSt5s7fCsFZDy0u+1IzumkoKJjxv8gAp4KkdPD3hWEcRjAvqGCCQ
vbUlJ6gFQ6lxYoIrF1HDVrFf1fX0WFRfMom17zIdtWXjdtpdOp94AUfFICiq8mzC0IdRlSUPCQn8
HW8l82HGTl4tgvZrz9dsCFxTwbxntwv4yAZBTBqqrSThvgU38g6fk8WxrOfsHNTDkTvuCOSVTqmO
u/TWMYFQUiU7b8bqQH/NkBuIS7jdqkr9aFXEJinTyY9PVBDZn9DQSKGi6s1krmQ0Vx0IcZgQWkI7
LfxsNCQTLoDeLSqwZLeGGNWTzvX5GFU6l1IIw2GwpvJiY9ValOyhljx5JEix1kag6q29qAV1w3OC
a+Wldv4Ug13adtJpX+uAex0ebRb6Q4GzbUHcjb9xroEAx5ZPmq0K3ZbEeRl9Wvho3+zei++VIesV
60QyoRgVqWgx7SUxD+qqREhFaZqVSzqm5ySvxyMnLHt+O0NZex/aoL2Byf8m3GyeQM48cEGh1qMm
ke5tk4dI0/OOGuFmnhysCFChP7G63lZMvd225OYZkUCX/Y7Luub4aCKZDrkXgc+Nwxe3FlLND6Je
rEA+qjk36LpYBib/ruh1sIFu3nwa8H9NNPfANdv7WsvVHtoxKIVUg8faDgn2mQim/GOIWPTE1RW/
gpbRbxDXM4K6MlyTlw83QRmQRyvKbAkri/kyUD1r50wXN1yX7QshLoQpL4fDm0wEE6PGICjgOeG3
H04eoTaRrn1nUk8gN6u7gjqVDU+LbO24jTwUI3CxxSR6g/WL/vuU3C1HolJHjZ6qlRFm2cFWIS1A
c8vZ/Awxl1PmqY20SIojtFBKDMDuIw1D52qC3T0UDEk7qRET6Rw32tLsEW/01llnxth9Ea409vFg
BPrCNQYnW0Z6fEdlwPjAFZlxpLaat9Lpk0/Tz9DSo3B6cl2jHxaKeafChk+aJ9NWqMYL/I38O0Ul
eVZh4MO/cgv6P0Tfyid9zOXZSsvaPguvoPhc6dDWbG3oSOz58Y4UChv0KRUPygR5xgyR63S2RNma
pAUeFQIQTMCJ+wzW1ziTm+IgoruINpkx8H7mrVeFkiWmN2UvUZNjIaFelS1oedJK7cUttG8Ta+dz
Xmn1BbxGsNHKMZ5PtXO5Wxxfhdb097Qduc+0jPUXTcEYSZLHAal1Y1hJd0vpMyVMaY7koqJ2nWBE
OZolDcGdG3Q3bis3J83Mk9Lm88GQp2cztYxjkUkQDkBrH8I2TpeB3adffR/ITT0YYtkQl2FUEdwd
MFjBHwjicFlXBq0e2D/sfebKettDvXnLw5pymZYWzE/6EziPyUpoi4xz8jGJ7XBVWA66rFXkK0nX
3zKkl4LI2myNKMj99mZY7fOKDiyOhdvGdLtDBTSWyhFdv9l+RhmIx0+V08aQ64+IrfGRMmVzg2ab
8FXdcVNWIt2HVA4/VG4NrwKOI51ehXfsdCSNpPg5oNc4I8+MLOjGLcdoUl/KtOiwTuBXBDIpACGh
Gjte+OZF0RcupW8CwB7Vtu4mDvQNzULxspZOsq3q8ptCaJJxDjTSuMkWMxKZKIy1ivL+LmzCu8Et
ryP4eW+c3NVIFxf5QyXYG0dr3rJLUp60W7v6PuurJyX1HY6hpUvxwU4lNHLaQ4wDga1QuxhGFlke
7AXKPeEfG9puon8hM61dl6g7q0b9VrrDRogvuZMQqDdWG+JHrqaYYbLrkne3Ug0F4GFy8tw4fTLY
fz3bBRNjOcVI4Xmpb//3VNLS1rC6p2S+DT+o6bVOjMBiM3lhSld8/Cuq+V+dGNl+l+eP/Fv+GWo6
f5/Pkh+cwtpW/uX3D4ff5eqj/fiH/wHwzk7nsftu1OVbwsH4y//hM3/9yX/1g//r+19EmsFHsXAZ
/vMwyDL6KL7i8KOJ/pgHYdL89Zm/AiEOfFJhYPKcmdZ42nG2/jUQ4jq/ubpnCOF4Jo+fP4BLTfGb
C+nU98m9cv73LAykv/IgfAg3u46n3fR83RH6vwUu/X9zE5gGMFUSQhCOsCzjT55DqkfcXOSJInjY
1C85/Tm32qXV04O8ASPSb8a3VhM/qKdsvr3GZOXT8dRzqOPr1pYcyrXbU7zh2pp/o5agPPQ5rfC6
F2dfdhZ2r7+/vP/Vl9kphmsty5/tn6+zP15mf/mfdDGa9hxo+edX4u6jUR/Fxz9chn/9nF/XoPub
7btCuK6tc7r//Xr6dQ0SV3JMRwh8rphd4b7+PZTElcYR13GIDJGewPKPD/ZvoST3NyJOXJ/oY8Rt
+Mjf3om/sjq8if/6zvz1/3+E2vF8/ZNPmXM8mR3f5rsIz8dx/4/G11Q3IiNNqQNKes27xyM70LGI
6ryhOT25hTyQoRFU2b5gGZQu/Bq/KvV9BFDx5e+a3vD3CQ6uJx9Q3NztmvhXwATmzRgK9zxNwnqJ
7UCeeAKa7CDM5EcZa+YZM924B8hJM3COLxdKKj7XeeqxvtJxootR1mwuaQ43ntFOMLrEpCBJolbG
qfGc7BlHz8CMIAywcqb+IGszXXWKmsY2ItcRVh59lFWQXHPPZp+hecFVVFFySojVx6oVaN8cYZHM
/XXcY2ZOklZw4sNoa6ce9LfE1Pdl5gVLO7Rrhlb25DTgmMU2lvhIrTHNyMKCmTO9kSN2y6IF9lp7
7tj7rABsr7wI6xm7NXFnWVZ1YnunHcYMbpxNG9nZYkza9MgtT30rWoLZ4bROXKeg59mS+zCT+pqz
QH/JiqjdY/FECsmwUaWdfQ6IdJydeuy39dj5bzoKBC28HLFAqQBxN+r0PsvMZmenqJptU6lF1rXT
B2sGhOk4oZotKztGv/l8MbnZOmha+wDCw3gJ0upnUbQVjuCWeq/lmKew39sxvLZ9ONxUFMhnPwDd
RraCB57lTRXYnJr0zFLh0Yj3jujw7sWsKGd50gInlcP/Jxzuju+JqgfKogMrfig8rG4xq+Wjr0Xj
uqmINwC5YKhelaScVworF5KdZmreUqMor6R2a6KQvO/ynzoIpV0wx04XoqQXFShRcYfXT1sHo10/
scHMVlaNuwox/CeFicXjFLWE7EfHPKX0xaxyrWhfx8QJ19Lzu1eXMPu1FFq4krV2MZykOib9YPzE
ImIvcujw4yLpajryEuLaj4aRfEWR927bbnCqmolAHQW7R5zC9qob6DhctDAodRYwZpcid6B99kQ1
LlGJYTWepDpQYOHeY4Hb4q19GSk+Zrp1w/6ur43io4GovFOsNndh7NHLrKoUnSBbG+EYQMeSrGnM
yXQeB98r74cWpJhynPFQh5H9FpmN463TqdduGKTia1hl6b5Ih+EdJ4L4GAKqLKMIR0wpPe84mLVc
xT7LXsd+jEe9vpj9mC/9Lus/ErOur/ZIyWJTduYboXvQYV1vKg54AVvHEpn+ZIEwiwgp1NU5lLbv
LCzTIn8TcbymV6W6t8dYPsReVb0GLGDpAchFtyN3xJQrmEc3SZCRYgFtDfXY0i/4bPSQSENu3sNl
GHftGCEVRkDOaGsy9OFKfNA94DNU6NWAA1HhSem3iXEf0yB2qooOSk3UNgfZu9iwaEnBTOhUlXNK
2bb364CW1e8gbfRvz1F0zzp2fWKeoJYV/8WkL22Daqae7tCaEmjZIKo6YniJm6iotzpbwmxZ2B20
NV8RPMjpGuegayb2EaRbHa26ordn0ky3LjNOeV1Qcx8kbCwAmliF5y2LBK2oNV2O/5OreefW01nk
YQYz31zLACEXjI6iYNbGQ0NRGKjHFRkERvMmdihHbqDq39HnRoGxFYX5Enmvexy1vvhiz+CMLPRC
491CC7UXRSWjtxGjkYVVOsWv5TLo42DPcHC9se5qh0WEH+hFB2OASVofbjWU5+IQ+6PJmp0qB6LO
0Ny2be6Z0A38WPsRllh/sTtX7q3Dueit/cxDvqywrZulmm/aQ6C4MVJmFy81KhE3ndGrbsvRaxSL
wvC1NycaM1AyJQ1eC6XLcTw588FnF6McsW5jE3IeAAVGa3J+BBoJVNAqI2cgwlYVtJMuBsMun9CG
GCIHFE782UEjf4hmYhHcobZFVHvZRvtURUI7us2Ub7q8ajkZAUQjkFfn6glqI1F5y0i7t5hiUizw
MSrIAjiIRUmsRAFOO81hIS/tObKf6fCATBPjopHhNFdJ5uyhvjCXSgptfjaaU7yyUZHMoFJlcDXt
geaDsc4uceoGr7SQyVPmWz9xRDXYkPyLNY6CJRWlQXAostLZdCL3D53dje8KGz8qZNc771YnsPKG
ear2wpl5ZTEpmG2o9+4lYNXnPYRpwG5fWeAKgdk1w8ZP8PWuGxd7SJr5LdxR+uyHZcbN94VF1Xik
Oj68CivGgNABJF9VuiAlNzjN8M2ykNJjfxhbbBjkiSLijyct7UFltFjA4VTnnb3XtIz3fcMb4VaB
LnimNTI9DrlL3CTXYT0sSyJKajsFQb8NyGS8dLKLTmlug+FMNZEAjnQKaiLdnp/Zzbz84Fi4LkBh
MAEvJBiPA2HE+tVzgJ3vYwqlWLu4FOssmfThfTWCKti04BenmRnrfE1IfkC7D7OvWuvJUcNbm86F
1vOOaUkDvjL1dUfuofqH0Fv1CrnR22eFpVhWuFPCvRckx3LgS7OzKsfuzefzH2VvomriuERRt23t
rWbVTKO9J17ygo5tnRaibRAX/jWcRgwMlZ89WuYY0ss90k0VtWZ+MjOyaosy4JXlptve02mMGA4H
qr32vaVIKcRm+a6lZbUHmmDRVmlW5pMd4/2kAjrVfmDNhTvpoUHjtsW4beHY8Tgq+F2bfcTs66qt
1veYjpJWEZBN4rKptwmSwq3Nm+6pLETx7UZIUa/kmNAsGzW4l8RMonCOKvFK9snUseAv0wc/0tFc
WzpngKhgyj8GLbxkL0mix6GN2GBJbwjo441XVHNlP/hdwZadRq+6DrLlKdCzcLIgI13SJpqXpSaF
CouwnoWblIDmo+amgGGMWhPXKsEcsZwA+dz17PPZDqKOkliOG7+jOdlo1DrtnLBdBZHd4oNI+e4D
dFP84GkE9XYm6OVsJ0nyZryq2P2qaydH57EdYh8rTczvPYEh9kAP0HSaRsEdVXiWvHQ6Fc+DhzaF
4CyMjdPoVNIO8AkxeSvnDsuhWS8tnnBcGbaCcZ50+kYv9Q6vRJ8Cfp1Ey4lWh/Ek0Snv6cBAOAu9
wviYdEQJDS8PfV2OFGenGXlF/Cyt74QYeYUqq4p3OnaPjzTOzE+GVn6skEK2q495g9c3UlRBWm74
CaCSKkwKGq70VZfbaIL4LrXWOKeTmZwyZRP1Iv41bekHtHc8aRF0c0cHLJknQrlY+aV/F+C7P45W
i8Q7GTAwVjGgmHfcIYQzskKaP7PKz78Dmn0O4C/CH2z0FPsuiVxqjOY58kyxV2yL1OL/D43/ioJB
dlH8p/LFQ1ckHz/+ODP++pS/6xZzRBaZHcI6uMd5Mvw1M5ooGsAquCwwfTliLnb5BbIwjd9sFoPu
nGydMRZ/GBn932zkBcEn2u6cWjb+nZkR5eRPMyOahcMu1PB5sPGP9ae8cBiyoY4Lo9hC5ZG7Rk+7
jyLGdR5Smv1gknFjS0Jhe6ZZ5ZGy7wgBroB4OHrJkR4UThbEZq9eoewvvxHAXQkcbFxdUBhB7/tR
S4tozbqJOjbbDg4wVLlTj9OH01kPZRKvTChSC2fMjzya2CORml+4JVFBeifPppLNjIi8YsT7CiyK
6Xo7P6SyoiocquhEKDIdN3jXXZDlXow52dVfMjvWPAoaouxgTlZxQn6c7gv42584U/Aoeo7zg1hQ
tOP7DfeVrzRkYo3mpcqxwqshQJfj3aQil6IMEl9B+o71ijKOie+KDx1HBDeB6qsXZr+3aN17tXI5
7LViRjo4OnusIn+siJx+EOttD4mu8v3QeGT5Nc/DsMFxHGTyjLfnDNU9RNk47rR0ZgeFQ3dRuQSb
6BQGlD/OxC+KTU7YjONTjE/lLCNroLqqL7da7j4YVtG/MFCG33UWN7fYGaxHCOCAeJAGOLFDbx8b
DFQkDeIn4MIYGwwFQLSvH2AO6k9mWtt7yMrdsc2DmPu5V1wHSukItAoTNA/WVy6NZUO5yQfLiRh8
lwf5uo513V+Ug9s/kRTNz7hbvgMMX9RlpXTRdk59c2IVMO+p6pNO8Z8knbxp5fojfJRql0b2oeto
cIsrXX/EgS/WMXS6h8Qd/JvljNWdjs3jaOaNiSVqyr6sdKYfg6BCOqce9awKUzsTyvLkgriL/VnZ
Xb1FI8ixv0WkGqJmOOTCCjiGYoVyOTzR/u3pe73QjFOt3O+gOerGzUz4zoJaoyep5eUhs6VcTUEB
rM1Iumo9hQo0Qo5dkGO8nrMFcEro9tEktz6m3ReD0ud7zibNMrTK+pVSA3XOFFSxUOA0VUZNxyUV
iEsmBRaBVE43PFsM/5RThsbKs6yIeYIemwcOHA2a85OzK9NE57br2qj9jdPW4xJW4rhvCaqfYQm8
0EpXr/zUJgcau/R+qcZ99tl+beh9yz6cCA+SI2MzXtqORmCAnp910jCw1VjdNhPlgMtRdTielKhX
TleKNa2uHU4fBVsPYxoz3cy/TUS+z5lsi7HZ5li9Fy7iwCnwAliHibe0W2fhqrHaToB2MV7TBR9Q
V4a7ZIA8Ykdqq1sZ5iJ79Jj1RfpYjU68Aa/I0p8J0NJTtg1648Ajjgvge8J7S2NyQQDIi54av3q4
OEX1RoTpB0mdtT3JO5j9n2CNHajxqbertMaavU8BN5/5K+aNB0dXHygnmi6DtC5QzrAzZ+QQazwD
BKUpRzKHtFgEMamUMc6/TLs8N/E0snEgrKJ3jnYpnap7jTDjLQTFSlugquLeLZOWzGmhH0UStoeS
NqM1CDz3u/XSYOOU6BBNhw0EgB7+htj1n4AH8KqOFoRL5Y/s7wn+lHY5bbiOZy+Uovk7marxNaTM
cs/yFgBripnQEG55GF0tXroc2Lc9Tot9WtrYU3Qpnb3E5rNFrZkegJTbm9AlexLM3dEqUHNynN82
peHR0p4Kf6Fr8/Tg19laC0DLVKqztkZns5hDvfxRJXoExD0t1V3bCB2KQTseBI69V1Vo07InxHjX
+kN/EPVYHIpsgEFDCOLHYBftcYjYfGGGFoRba5b5cTRDmAHzIjAZg/mC89mFqKayap0WY0eKzIq8
M6YUz6Pl3DM3ZIdwzQZO+AVZ6IV8Ur2uVLzVqLVZ8ELsMqt0Vzww7FtfQIqRw1nF/M2DZBn1ccGR
V6HLTMwWtybMKUkGdbEkRtluyjLxVkGT4WFKDBsPXxMx3Pkd7/9W2ShIeryl91U8SGSyVHSsikN/
qRVBjzDv3nUJDEUiVOgWpnVMJtbxFomVYurHo13y7KaM12qfIs2JV3k3fKUUou6Gco6sBz1u3fgx
MQlJ0Xs4shhiHR1L5MEWAvvWZMm8RQcZn2wO38sxMOt1l089+2Ri1L37AuuuxYHBF1jqaaVuFRMu
p+8g53zYO0D2oe0FS4GkKfGzblsAjqyYA/UeY9u8CCfrj3x1evd6xLTwrQVhCM/3GRbR2cjDNVrT
wI4+zNeS7cPCzvB5R6NEkmKaO4wA7fcgwutlwN/81Yaa9ybNZFjFtZfueUrgcgyqJwyXTO9Aru2l
3vcMx3lUVDc2eFjJEWHu3VwB99Xc9jv3LW3BlTs/BhXF6mleQHB0fLQe6V+kE4MiGLs18uINZeEc
gBCm7HSC2xOeyiYyeMzSkxvgsyKHQcO8WAUJN1XKpA40FIGWNeWdOSqQOAbTfMTZ3JpprgSOG4yL
C1KmpO60NCeihU2+mXMczDl3hoWGzJ/61qXy7Y1T4FJZZNJonsxwqO8q79sdzeFn7KrgTOEuxCgQ
dke7beamgyFunRU1dO3HxGPom0ECI8Aosgc9jZBNFaBDHm8Y+p/zwmufU2R+DXkpzfE4Eet8pO+p
XanKbk64snAuMd8RljKUuHLrIfRMfGQr60KijKhhK4xCX03EV5AhcRcrPXKeNGra9rmnppw6M4WZ
2IzkM149HtK1d+9pNl6s3NOuuDCJwJYcUUJRfWfVOD5XuZstNUlJMqAEnt6mmfuPnsUSFvNPWVBN
ht3tzPy2cTrCEqidN71tXpBd5IIcmflIPqfcFD7kGB57/qkIchieSmTuLbGxgpccK0I7/Uwia2uW
8AVkfGwBGqNpdjiSrQKuCCU2Oe+sMl+HPTcMmazLxCb3JOpdaXcPShOXVESfPNCuQ9OT1rQQxAf7
THSg3oS6hasvqbh21aTz3OUURl+qXTjuKsGJcaqkNa+pczylyqrPAenbzA7CiGHelbPtuqMPHeKE
W9WDvtBkUq0S2HLP3H69OzVJmuLaXrNwk/sFshCnTis6izKNCRdKbRX3g7mrJ3oyOMWppzLJptlo
bj/oEDXsPPminYPnzWh1x45f9LLOuhNF5AjVEdqWnEuhbWlgca1Mn9Zcap7hQY070tpiWTbaR6Kc
aqfqLLtDO+cRPZtU6U2BvCoB3pdTZN/JIdAfOH7XB8/tjV1VDuGhDvDIayOWaAhi1z7g/mfAEzWx
u2qQTtvWu8BRqu79AKAmQc8PL6P91/YpChp4+iwIFe3paVHY19tb7TQfdV9SqWIgOhEuIeCQJlgb
dO3VjnPvVuSDto4xtb4UFlgahygav44YAigv3feoBfmaEyVytlLhEqle2As/xxED+JlqpbomGto7
O3NoHV7UPLwLQq16cD0eUmHJ9qUtutcqaus7O/bwrMSljoBak0tpnFqbk7B4l4dUkv6sG64djPiR
yoPlEJIgcUjXLSdgnNuq74KXQkX1owgNghQEAC9mU5lnJ8ZEwRlsuJRGVrw2IS5Ck+ZbQCy2uoAa
EJR1t9lXmevutoaP8tOvqmALHdnCKcsJunIT6w6VBy7FDHX9iI04usO1i6lMHzzjWBLme6LjOZsd
9HV8lSLjkZFV+PK6gBxfJsQ2NHNxJprF+7oPyatEUu4DyAAY+IrwvbAmfRHAAVwN2pB/WXXnnzWv
sq9K17UFJmBMm2Yn33xZh5e0TrKnchiNw0BBEY88HQ4R+BpnWTEJrHnH4B2U88O1iB5lYtG7a0cc
2KS8dtS27DQ5DmfXxAPnDHVxtmQrj7mw3TWy3/dQDMjuE35zQuyKoxvlzJt0crw3fWxMXOO5eRkm
R64RRupjKBOH86dDuWBr2++MrPV6ykP/u2oDY+UzAO6xipT3ThjH516n/cm2qHxoSSkcSvaiPDUs
fzMWtadjT38gtkwpScjJ3It9/RATasEt5Cdng/qYnIod7Iu2XPRumx+8KUWlqVhZtq5u3tmUsP/k
L1qvA8zdxxTtrFmA4gmI1aif0C0+W5TYhUdjypI1Fav1ZiTl7etoXz1WqBzB7wiH5dyT761r3T8Z
FBmuEO37JaS2+DWeCxeHKXsrcRhSkZK4p4p0f25PyaYQuVqWhhyO85CPFld81wN4QS8n/9L6itVc
5K8qVSfXCBqquXBHBNWI99wq6xGqnXnN0HWNfmdxBFvWhlG8kOQi/FuK/hqS4FtotXhKMGdtcEAh
5231tE4PQd4/JgOtTOHAzUVxJBdio4W6Os+E280MEpybBu8TS/7g8mQDNoLe6Eo8b7Zq5Kpua5eZ
27G2zaTDZEhFUS1tkws1w1PUNolzD+nvbYrEOeT+uWaFC6Cj9uJNWWvaHBM31sx5wc4jnb1Krbh5
7CuCdSKiqbmXPhkQO6EU3gZbrPf0PNcgFO47OsrolnFrVjFAFVwTkgGn0fAQj50+sODg1h6liWGQ
sw5ksJh849UwODzRY2MBLqIRsszCZVmBMubgu4vKu9TzyMeE/XCXcyskcaKN/ZOkrvsNJBNvHjPS
g88mIGYHa8clu0Xcl3yT6JPHvNG1y2jZeZvvG6qxgSZHouWYafdnKD/FOWkT/Z0nYHOutIwxl852
1kAp3etTjCgI28e/kXMProbeUQ/UM7cs2lgxn5KVxKXYgO92cr/dulXoXJqCohlk924PNcW+mKNl
bbveaD4dzJPsraMufitLv/0coZ5jFqt4M/bcPHlp/GNQ6+W+5Yek8QE6YQ8UdBmXEmHTaKwbs/Rw
7bs4fyK2aZF5NVAg9aKcFqjQ9ya/00cjN/hhJq+9hsbwXWWJsWYSmiHgvX6vdP6rGwN/aZlmj25g
1xAICiD4PG31dW7N/KQgyhdApO+0hOxdmlnI0RwsFr5e42rL5mpZg6Ulx/SEty3Suvvkwhtc+7lB
EoqarpPAEW80k7cUoc0dqw/jHfix9OA3JgmCtnwenfSDTfJpUrGGIS/+SlMr2bt1c8r7xsT/PbLF
N8dXyfDj8R6Glgha3lfvZV1ohzghDvbfonv+T7LBiN9rJsG1/XMnzHNDgrz5RyfM3z/tr8ImfZKQ
ebEaCm+2Vv3ua/mrsOnrv9HtiKLoeHwcbxai4v8l9Nq247BJ5lPwXhl86G9mGOM3HziixWNinvyF
8P4dZdNyZsvVH6h9HsAKx+IpYjnop4i488f/wFsk6gnnwtK7HRVCeEpp2SGw7u1yEsCQEcYbPp6Q
vX+EsVCmbL3K9ns0jNfE824cm8UlqL16bdfDV8vJepGyQYOV43QrTeOhPLZ18ZRWQh7dPiTT7rH2
nXpyB1OdPDrcm2gyxLdI1wOo87BCJ0spsSWHhdPevpWUB3DkVpeSypW8YphQRbrKQlsuAatYiynV
OFmaZ4gqWHRKrX6PSuYf8Nqs1JUiuGvPqIMy7N9j6iu1qbxrshmx0bLNAy4SPrB69jnQ2dpa1Aol
wUwKBh2w3S38tUOlVc5dVBClWVQuaYKFyNQ18OmeitOPgXxDKlrCBD1LrJOGo3VNN0lA7hvBKyJb
x5htdRfW51sQP9Zd5ejj3kjpmZ0CVaJ8+RrFs3rMZOt2aqRf0da7nzqHGqlCZ603pvuIu0os/Spa
R7VMt0oShyrogj+5ScloPsrgh0nF2c4ho3qI4CTCZakNoEe+u2f7Xx1EFjo/Wke9N6MfcZ6D6F4N
PU3V0EyWFbiMHx282VPg9GLvDxW4JkziK+hr1mlKmw73Tvmd6O2wxUft3jeCNOYQmuygE0Ckuig9
nLyutcYIBZ3Kr5tDzdB58WhH4HAIfYkFMdieLr2xOb8RO4mWA0Z9VAdyn1hSsaDC169KK1oRiSN9
DPQ9ZgG+c0v/3Z+5/E7PH5+oVYk2A4bodQ/Av3Qh+fOnsh0UEjbhBMIpDHzGyp8cvLkBgGLp+Fmy
MV9xe6cRok7DUzJ3BrDp86hxIOc8pb65HlgZLdvKenHBqaxdvO8nrPevXK/+9zh3EggOsjTLlRzn
WxoL+kpS1xI8R1QZOOWYE2uQ12RuOehF728pVgSsqVlvGSb3XdJKUAW0I6RzT4KTmHKTd2V7FSF+
XtvxLr3yn/GUPyDVcs3yfl/2EcAs2VP7tPB74W/B8sxlqqZRIzNOrbUv/oO9M2m2E9my9F9Jqzlh
jgMODHJy+u72naQJdtXROH0Pvz4/IvJlSDdUV5VlVpOynDyzJz09DhyO+/a91/pWEC/dSOzBt0sX
GOaDYWwigt1vfMA32wJaBDk4ZknjratvwrbpTwEd0UOoafqmkH3q2G/2xKZfdSIJME+lVKsOQUL3
VMDeXpac0gyneTbDZnzI/IwIKdQgB9hbOeWoQkaRyL2O++w5JYd5zVfVbwdnojtLcsq48jsj+Eg3
HQGKltUlBkV0mqdhUY/0iF+x/dVy0wX1t6Ks8w0GOCx5+BeuVWaPdyE+QFoGtt6OQ2et20adgItb
N6LGae8FDhu0P8R3g8lGOpVedyOSOVsyYClaJwgNLUY5hXL64ImkRVA9m3eBbscNievhipSCYtcK
AglFgzuxVxx9dTt4/VqVRPHJyMlTWmWwVzhoK2pyo3uZGl894TF0D5U3BS+pcOnXCxfOWy+SfWzj
gkvcajpXrhM/+XFJzlpRKWsVObOEGmEa1xzv5n3mp8kLw4oXgYdnV6hpFTZhfiib8bZse/mtx4p/
Hw94Mo24oeNi9cpdIX6ZybwHtOCTHEl6CSgcq8luXMwioMLJqOHwSjxQUEK7clO9A4MCeyotr43a
OwdGJpmzrNqQrFAffMAaN0mx9ozqPPaB5JcbW8kmGzX5Hn3knu00S26HOSgvAcHZNxE0d3wz3aVT
cb/P7LZ6yUUHmJKR93VbTcRiTTXp6LFJkkuDuZ4pe/LUMwvepcM03wfRfDc6iPWlR5ummIb4WCbd
HfsQSWJFUO0c4YSfmVXMBzM1HsOxEriL83FV4Ay7KTRQErxRTL1yr9vkMr5gONP3FTOEOwdI4iqL
ic+tTRJZHLwaVDlesKHtgZ3WcHyMI47RbVoDR1iA6m4val1fRgPeqJFVLj7bVDDitliFY+ebaXKm
8BXBJvjmqXLVF3CeRNMnJBsSrUrqLC2Jre4h7XCynLecnlleAry5RY7C0sYi8+dnwOVobcN4wG/U
Uoh7Pb/m1JFqG5JDf4XYVCZr2Ts2YgGaaZ+NsMPym3CKfJSl953Kf5l5sPqaJN5E5ha+9U2PIHs1
9jBNNgkjpXs5RN2OURB0OyO552y0RMEq0t7RbjMOISPZn6NnIN57bCe4edgTcKYZ/kc8YPOu8suv
xcgLBY//sa+0u07Gadjkqbie4VdAc5zW7HbJE/5ySfyY4TPT4pv29BTsrD4krjBj6Wn9/CtJrZ/J
rfjUuxLXvTFbNOiJIkbBWZCdDurpNAbhbRxRi3oCP1JoyTv6HtZ6CnpvTTtNbryuQawx56AqEtc6
YG2sH0MLRcTchEtfpc0O1li8CoNVSNGnDGTAHML5POWETdrOVxJBHVSHJrZOy/n6/6SQ/f9O9W3B
3H6v1GVS8Vr/OL7/6x/8VeR63h+WsBxihqSgx/OD4tuzKH/5Y6VQMlrLlP7vIheZOFMbdOAmwm/U
AD+M7+0/+BfKIy9OONDfhf/fKXIpmH8ucm0KZfR7pkkAAlBn4XCnPxa5Va/SJveBBZWBaT8moT0j
noZqN7q0P/tkJOisyj5GOhtXo/S8jzGIJRriTE0RAnaVvc99U11Fha1fODrFkB9ndWX6pO0dx7kF
P0ybHFNsXCv1IudhRsGXp+oSoEZJqImr/KhZtfchXZEX31LF9xm95EvEcICfgCXbG+Ua463w8Of5
jSDZpYKzi45LnkYE5/dMeaqz3eTFCTUh1YQPKyXsJyzeJo2SF/ZAaZ9L6p9zkvoMvmLPzgmWDGZx
1LFtMJvjQmvHZkKIK6pXa3SNwdMIfXOfOYZzVn7Rf6riElVeYnjs7JU7xc/BiBgMndDg7zqooufE
KmgHWMTXwUdJZ/nVDwPKXxUxGq6bMWRjVJpyKantVULL+ILTw7XXdQGuDzN55nNtq74zykL7BGMB
FvBjO9n1mZtfgdjUNGY0Zt8VC2XWUb1MVMNpbNwHVhqMqzQOhteSUAfyf6EFEihsTNV1NGpnWlXC
y0jAdVFQrMOo13dMmqejGmigdxPK3VWOyGpFare1QwdRXCxI+cfENLEUZzYBThki/gMDwJpoS+t7
1KbYjFXkJAYMRbs+JAYw8FVBvLS3HlvBtxt1PlmMM2vipyZK9HGyydZAZl/uGtd0H5xCuDscs/XX
qU3hSSRQvCFXJNaXUsM5MNtenYwyCc9O1AA79yb5xBSgvgJklDjsrgJ1iFOKxNgyIaQlzdk+hMOS
KGQBoZoOqR79mxoGx7ZiwQ3XTmFnJ8wA7sXOk+HktK24g0/lnq3EGLam6pxPyPDxB+ZO+2ALOyK/
FSvXXQzKGMG6dITk9DH610L50U2pYHuuXO21V4Do6BpWrjzS5qY4hLPSHdkIZbbKBx4pLBydHWju
JHdx2LFpar8fL0CnHjIxB598QCInQ9sL8ocwTteY0gP6N8ljKkz/uu54UDisc9pAZQ8Ha5033iKo
8xOD0rBo3Jl29rCAEZvZOjbg2IC+g9LcxlNf3xsFG5s3JUBKY2MD4v5TWWbBJlBFRtOuN54rG2kz
4XgnMXbIbbqgoKNn37SwcUY8Sjv6TYS91/ZLwLiGpDZSCAu3VqvZjS5YR4avaVZ9MY26us5U/VAR
hO3HDaZoS29TJIqrsuT4MCOQga22cR064SaMqRXdgF0Rqy67CZyMtx7Dy6h2g5Q631QZ+baxPeJG
KJp5P6JnI1I16VA9M2CEe8j0284ia0NIZnbx0EOh9Pf6pxyO55UhIpLVTWi2qQ2J5a5VQYBQiOMv
bTZhMLkKjdH71NHcy1et1xo9r2sYfdE5a+KG1YTIFLJdWp++8BhFzF15ONAGU0ayuTfwIflHjoBK
ErZMP6wBb/nAgI9Tm+fqr9hBul1HAPaO6bLDa9FC6s4YRIneZqQfVuhHwG6u+4FWfhYuSdCguoMn
l0e7YBWYGJaO3nkEiQE5jgaJbDENqy3c7g7Ub0K0CPzCB490z08oximlZVz350xKyIVuoG8D6QU7
Ugnj73AgIHgBDSJqfm7FtBsmPW5jyxjGFXJAfvBW333EhS8OlVYMY/tZx4cpgPzbFZpORNa4GGsI
DlpZGn+uX4X1B1sycwzqqYZ5RjxuVhbtNkU/9CBSs/5gcIw9uVk1VQS3u+6+6QAU8fyb2yQRXQ9R
x+4+h4jCt6jIDnPonE2tURAInX6oZdicIa0eOloWD13Z62PCAfZ+IsnuRjVivpHMY/denlu3FR0I
SEdZ3wPjbeN4I5lCPJEvsXDfBlDbzLIqOM6lcS2aXJRni7fpZgAIfGG+mPTIupkK2MSfBb7ffiT5
Rz9XcVdc8Zj1XaZn+1NLq5L+fS1GiPtpH9yEtCsuZHog0ZXhjLu+azkde62/bhxPXkW4o+bNQArC
FlrKOZ1mex3BA6lWRj+fEYJ5ixKUr24edLpL52x+CNBb1pgdQv3iobXfTiU0sSyyLTK4EfGjzJ7L
NXbY5CsitO5o9t0yMTec+IFuKW/Zcm0X58Vtm8dyt+jDDxKa4RdzQD2jgpClz8vktLbylNZDao4c
P20rNy6Y2Bf0Q5gyk2a7L+tqZyam2k2zHu6RXi+mFWIq957H8N6fp3CPAKNcx0GQvhh5Nz+1ticv
MzpFvTJd+DalHVTE6EQYpEJhfW0moTfCHDQ6Hpjs27lISvKre9zjNqUHp4mqJgq99JIriVLeWzWs
rU6UvVpNHvMa6+Q6sevwxiobuFwA1ZhzZYOvPw2sp8kaQoZlbKcQRbELXb49DlU8PxboEuVqLLLu
JJpaPS84racxAQiDR2Tex0HDSTFMrRuOi+E3t2vDHdTfltMsWtfV1ODJWtmDT9cCPMpzUrvDo8tS
8xqMbsyiK/vEBf0icnuFk6R8clH/f0utVKP3YPTIMDtBxtSaHyPmDepQJ5V1A3NtISUyl0K6soUr
nZzm0uk/+EH4GcjggZ+WB0PPT4Dv9TOAqfCQV+aDmPmep6QYTlMVXKOur1YwIhPwvgMA5aSc5IOu
+ZEcsGI455G4yoc+1wEj6U7uk9xvj16UUHQ4s24Q6mTXxUTWqTnJ+ihLw9kD1JyIl6hJd0/jJCXs
QQ53HMIa6j3B1kpvZQd+fngiVybl1FxzLCYf9TZ17fFJl7OxURrSl06JSy+b1AYO4RiPHhFmo00n
qhbSuxtow10Ts0O9h8PsxSRt8NjX9D3rHjZHXid6zyA234aUW4fRzf0PygL0H5iq+NqTrrobmnlA
l63U9FCjV8OMjRu9lM3BJqsAYks37XQfVZ980g/Oo1mo77iAzHUZOLBMoVJlBtt9LiuTAxFOfvIm
8M+ux76xaI30RnxOM9o+VJJ6/B4EYrjMWGjizZgZ6npSNQvJMBafGRTI7WA03jkMjHYPeiy+VRN1
lAndYOe25E3NiUuriLxVjOqgccyA/lTVjF9hG2N3KqtrfI/twRQMcSfTWKI0Y3xgk9KXqs2Zg3TD
haIz3iR+bt+kPSnAQcmyjgHNBg6n98KNL1Mbffbt6WsJwdoNQ7pkBaIgfsGxe1+UZQlOrRRgjysD
KFZPx0eCz33MoH4grJjGPF6LoaOd6PjVfHZVO+ysqTXuPTFZ4uMAwtM9QSQY966C+bejNW5/p8gq
oKaBxnpmk6oYYmOXcjG0VCegzNR+taf9r33nmSZjYXajBjHDg586Lr69br4SjQHcJHHuKSYnksKT
CJFtoy8N7TWquS6BoIoVkGlnaDKaG2rHesRUEx6ypm0oKRHrDG1ytpxSXbMitLTPw+yiQtnX9C6t
+EPJv7jIDCnMmjpzvq5bb2EEiMr9SNolxoda1hd+r05H7dVOO47q/Z02CFImkEV5V7ZhYvksVT7L
LYYzwYFbmzUKoTx9mJFYMvUeyvAjPJ7sYjWLc9LMMEhZ5A1stK4wMlCsZhIBmCputWyZQTVZE9Cc
BC4wr3VFItg2nAXiDR2U0Qsp6QB9y7IlClTY5BO7lBh21xwLnWbXPaPZdAOu6ErS2wLLDLKeAsyK
aUIAB/lKPJn5GaaDd6V87X7sIrM7kqhkdCul0AivszDSEa4v0AvwiJiybPJuzDdGUZoMsufBe0QV
g32cRs+0HclmQ9pReDu7cva+9mmF0G7U8Bzoak0J8jBWrVe0DBDZCIDYRJ4d7VOvzJA9AgmU4a2s
HFB9fXgI8gI+axI0a50ZR1FGB9uJr2fa60wVy2yTInl8EEMNmFrU8T5AOLbRIrAwI+m9sRwxXDc7
8CDm9YA+qKA25JOclJN/F5BmNzGte6kW05im4OaIrHF8+OiiiujFr1FrDlH42AKCBh8YPhmUHSuO
g8OuTtobTucAmwc8aRJeTSaMgwWZc8dh5DPRZhftJJB4HCaxWNpWrgg/tYU8h4KjmdPQhUVEqzbz
gDBCF3huXb1IBQfcO44KZhpnOCctVLdrbSPrjmGqrum+wnVN612Wyo1Ix9esh5PTRYd28QQCgb2Z
O1ffDnDHoSOK+Yrfnr0vMRlt2HrM1TBMNekivrROSd6E90HpadCANDBD4mW2FR3GBUCl6hV6YmuH
tkpTlEIq2Y+4UO4m4FjA61I9WZBvOm9xVrX1RU1dAhEj5fl6deruYSK5q9my+4NtuMFzZ8ruA3QO
nHBRlHJgSVoVn0ealuVmln1/l4oki7YqLP1nRNDja2uFwblR84DXFvINBY3zIRzKLty2NBeTtTlz
wDkJy4zvEfiM2VZZ1nxA6Tau2DjES5g36UMrwnIgDx2dw54QmuaE472lBvUQ+Aq3L19su32wsPTt
Res9tq12ziwwJPPGpXcY0+p1LmNrVSny3ltcSL7T+NvSFP03OXXI/6qAoPaws7wDZywcgpEo048T
9gkUpqgnoCQF/Sd+WTToSQGCEJdF+GdGtR8ntmon5ggnIz88JbNkTubRJVh5kYkxnACbs4lmA6FH
yJQcyRpCDjDm+xhPfL7N3MZ98ihcAMuoDKFEkFj6+D/dt/8T+4yFU+XdSfNDrHWc/dR/++uf/FcD
zpfwE2xHCYeBsksv7a8pM605JtJKCowyQOD483/NmAmIlfyBb3m26TgcI/6eMbt/CBdaO0luNoYc
mxDLN4SF94gL5s/ABfp6NsgHRy4UEY7NtvNmxBzgkM85uciD3YMFmOtBr8MivgIXXp7ccXBXUQX8
0qYXsmVbGp/iQYen3ESoXTHO25h+Q40syZdPYJJuAuTl93nWjceCsOyrzB2j1Q+NzV8gIhYzz98j
8X9+3qWb+MNI3CFrsY3BrR/8OCWh3l5IYdAcVioPkCiCNsV8IK78TAT79y9svUkP/eel8Tr9eGns
NVmJHG86xCF8xHlsk2s2ZG83V2NBgoVB9ohPMFpn1nSFAKmOfc3KQ7Tsxnf9cJ2goD1MMyTHAokc
LSsmHm4d3XB+4Edf8vSUNd6kVhBeBW03rWMXriU8enFo5njJ/9nWafykE+GgbKqMsgYQ7PUfdGxM
82aqhorIzAzBDFP+hx5J0kU3xATpdIy3aSmzU+aL4sqhdr+q83n4GHUDUk4afpfYTIEgM3/e1SVz
1fzL1EcCk2q4N9qlzeZHeEEGUzzZQzEe3T4f9hxAPJziYbxL3O5LUvsNO3bBeo4BUuwjCMy7uchd
UAWgMOvIAY8lkyf2r5tuGu4qGB3HZtgMqfGBzql/btOEHlniv9C9MvaOX57ricpoipS8wAglYo1+
BUA4a0NLqV450KWsoWS677mvbYYYrEffv0Jnd0IUaNCknG5GksV2nMXabbfs+kZktaeyH8cdPgS5
CdL4GpCatRtrcajD4jG1x1MwT9hf6nLTI9YlyQpgZHVSJNzRxhHVLtH2uCnDBSvB9oTTkeQhOUBr
RCSlceKLYsuN4c6kV3t06F98GgBGsX8x2SZ1qp1wIjAj7Xyihem6Qs49B5PPediTWGCi8XHsjZ44
xrHlNGAvJWK3C+2hxGdjPJr5SIhcHfr4yvhOSEeKbnwIfFs6mekFkfCW9qQJSEIFRy9nb2vjKDja
dumtPVlE2wqDCPFFWM39jjTxfrTmR9S3J8bvJJn0PfPt7DhbtbVJozjdxi1v80iOxG4ojWLVeT7K
a91N5wGQ8lKMkTfRZ2So5I+tbunjSY53CMr8yHsURCM0qsNwSyL9xmEmxPbbH5QFCVZXwGVzV1KG
SY/KqSs3g0/Ueu87B4dvc5XZwV45z3neYNyyOKLDLkFgm3bJBsK7tw5SQq/yCnWx6yX7CkmsSXLa
mfh5fmrDOIDkGmgHl617nopSP8BOMTYTLaFxsB8WS8pGe6AZIWCKFWGx18obJRNodKtIQ1p44GLc
TIbcG0O9dyQSQVuF953EDIS3AFeQPlaZdx97iK6raXxsR1iUZbxu2+i6x3CMHpxmjNsThfU8p9WN
W5n0hkV3H0Wl9yTpdO9M16ck7XDici5UYX1Va3Lvs/yxMeqtHAmSjbIvwsy3BCchqHHNHjkl+EHc
O9fMKSIC+ECdJNVdjGTSqM0b8GWnBDYkJqjKIIJ2mtxdGIAIpFdYNJ9NaTo891w8UFrtkCLIe6MR
gATjgeKWiulLD9RjJeBlExgwWv5rlMb8d26L+UkDMht0wLQeus5aBTARdxgmYK2RoLceKys/1GWc
I53BgF92pDXWmXbuPIaCq7TXwPdF1R3IQo5OFusiCkss7JAW1qx+w3nidPhY+x6LRYvtwgoNsWfE
io8mdfFAwewRF8gYyF+qrr6vgqy7RX5QHuJCMiwmHPKQJkWEwRJ9dZvW4qKITCmn6VRLcrccpR/B
0rcnDQOFV9B+7qaZKOaSFMoUiuGqlnkDpaasryWBAlASMSa0dsqQo6YFkOh55pjexMdw0VsmRk3B
iAp46wpMAH7ROB8y5HpuQMLYQqLOZi855IOX0BRU86Ee3Bk0XPGd6c6BXmG7d5CSrQ3UuYfGjz9a
lKBbG9yjS+t2bZJytBuRNcMwjNBtGIkJNQ/ANoLg+9/sY8s87c0OSsIU+75jSktgz/15G/MKKHs0
LxBuM91BdGFLYxmgVysvdXEv1S6egcrUD+1ctgeNpOmahgUEFGImGFYFgP2HFrJAU2CTTOo7PaAM
xrTIyheSXnJNqgYJN6ags0Dj7RAHbX6QqGW2NfaLDV3RU81IiByH8DsWCGNltA3HyDq743MY2xC4
wPv3SxH17u0uBdAPBUNip6RXaMc8IJ4J7pt6ZNiNtnWD32Rev38pxqX/vJQriHngP5AGLn//w6XM
AR9Bq0fzEHfu99YlMnBy7E+WN+Sb2ik/vH8x62dx4J/lCMnsf1+NEvXHqxmQ/3vGhPLgxP3t3DnW
i5XRrk2G8KsZI/GtlG5vifKNTl4r50NrAHiVugQkDd/gyk+6Q8I3uWl4NWn1jTuaF+0Ji5S1Dscu
w7PPV6idgWScNnE2ciryW5FEOThEJjfpSMyAxMoAgsS4jMtGXS1bts3e/f59/ur78xzpmMhg0RS5
i/v7x4dq2JFpaEiKhV/cEXWlDhnxLB0s2t9cyPzZR/7XA/3xSm9KYQRJeSRkaB36sINtEPjQpZp+
hWacPqxWn5VckkYc2wSDTKVQukOxef9el6/szU+Tit9Ujssgm6/2zShcZ4MSBvvIQVUOXj4S1taZ
JTWlmzJu495gotJVtH7fv+qvbvyny76pqWVbsLgV2IQMm7mBVztfXW2yM9fAZ+JaGKd8Gq8DLLC3
6VLluEOrf3Pjv/wIfMm+8qCSeZgTf/6WU0GecYk8jk4JHPaGLTF2mito+4z0COYkfVDd4AGl3rTU
J1b9avf+M/jFT9f/8fpvVokFkVOYeUjwbdp9spp4vG7zwDplFU3wyQgv719tOSm8/Z4R5zl8xyYD
XOfN3UbMRGvaYOIALjm5MLAYVgwv2+37V/nFL4fn+fdV3txTgyqEaPiC7LgWlfnADSKGJy0T+9Nv
vr5fXWm5FTrsDqfVfyx8pd/lSJnEYQ6giYDMfkmVf+R3+5s7+uVr8uOF3qx5nD+6Nkhrm18nPuZ4
gGsDunNPzwk60dRZDzqkiQRJh/K4WgplWSKofP+x/uLIbAtUM/xEhYSYab5ZJ4JoJAMqDqwDUWDl
Ycby91hK2yQzZLQOpTU+FaVPTGSPwTnuJ8q3MIIBW6WCcDDj1YDViqx2CZSlusjPOsxeVG0hoI6X
8Y8qfnNgtv75stkCoqIPNWX5xM6b18Awe02ARc1HC7szlItiZUYi3hdzCkzCmK9GX43bsiPbhPTX
VTiAyeMQauzikUBYZxFf9hlbBwMUkImAZBPcbVnJmaaBfLviEPG9LIfwSMQQJRz2Y9PtISSiP1/1
E30vUp7abTkX1FZlACE+/SZjYa6mocrWQvX2pWmav0qc/4GDPk7lt3//X69fszjfxKj94i/tT10n
nAz8NP/3loiXb037b6tvefia/uLf/acnQvwhlA2eFkToohajv/SvbpXzhwedE8eYby49sR9gL9L9
g1rSFX/yY6XrLi/hvzwRJrQX1gbWOhdWDBC5/06/6ud1GkkFrzGCNN+iZeW6qNB+3idQEYVV6ilv
j6RL7ypE76s+xNXuxJie23w6/vB4bv9akn8EkprL1vf3Sv3n9WyYpLbr8kRolr2pPhKJ4d2niMau
1oT7UOrkG9Cj6q43mXKDfRg2GQNMaGb8r3BOTD3CUCAf3fNcB8wIemk9abLU+t8suH+uMW8/l/Ro
2NG7k+BS31QKy7nETqbM2w8y/dSS8LKh+vRW7uwcsMCefH+m5QJ7k2NeOm6iCbVQJ07vP5yfF5a/
no1lIhMUWGQs+Va4p71KBWPSefsyHjE164YwJzMuHt+/yi++cWDEHnulRZvM8pe//6H+c3nISTQn
Hu5segR6QErtxocBhM2qGmgivX+1X9wT9kDuxnZhCfEi/Xw1ZnemGBPP36MfVLvRW05+XSl/c5Wf
98s/nxy8XHDLoNd4h+Wbt0rCUK4GJ3D3iA+4DT0R0pN2930Wf3n/dn7x8CD5YmDyuR8OJG8u5Bgz
T3R5fYNY4Oowku/MCCu87Pkt/Jjr/4uLMVOha21T1Ig3Fxs7G4lWYwMBs3DGpJ5pc2iUtMZm2P5w
Tg/vX27xWb39bYKmg4ptsyKwTr35rmLTs+faDbE8GzZhQX3hQ2cPxH0KcuBYZJHelHmldlE7yANS
kMWwnwWfkVnktBbG6j7RXr0nVqbfWJTaJi2PikBZy0vZ9eb5tpVlVgLPzf3q2JEbikUn85hklnPU
gw+qhnXZzuamcxZdmUjUXZ1l9d379/ir3zlbt6IHjKvsn+/jgMIGE0fs7sM8ksfEMbzj1Dti7fbO
kzHlu5IJKA7N8LtrwfWEKCkfh9D2fvOof/W++qzctm+6aH7fErbID7VzJ0j9fZp29pG09escNSIm
o0j95izyzyv51FZwnz3LoyHy9juNyqgZ/MT39i5zzvXYeXjoiwwhJ9m5v3m0eBj+8QLBZGYAwxQF
799ff//D0lJlpmXA9nP3tt9LnARGjH5GjrdSqPFeGbwIsmofQ80oEdUVTd7WE5BG4PvQpynG4YAB
BEq/6/ogojtHPXSQP1+dvvIOg0ralJDDbnqgN25f2rYvzoz0431e4/1flSbcg13q+QSIdyYRHZnb
HYU/wQfCaLRDnDntibCuNnVNQqHl1AzIqw6x28oJCyfYDy25HiHpylddlDg3uWMyjGyiBldDP0pM
FKSlBGh8Xxk6Zke794etSImEhh4C36Sv8KBVrfuBlDv7ZpDc+NzYzdoIBPIdv1Z4tWRwZWIY9zVy
s5TcxoWmwsksM+krjl35aDOR/CC7vHxFNIBDMKpyRAkoh9Z5MRDckvfTgt1ID7FokwdDlNWNJzJm
w6NbAvutR5DFI/DfDyW+lysSa4LnyJ9j8rIq74samrFYEU3xURvJS55KfI4aTSkRphiBcdpeu1m0
qUR8sGwjO+S9CTalxgpxb5oe9BsrQuGElKG5mXvCu8KWMPmmqjWig7Zcez0u3yCtyHJakkZOfREz
6GeVmi4+1OclDadb4mBkAJitQ7pB2O3Qf6Nk4pkMVn6JwMeAY+nM66pFnLZyLEY4ZA41cLTy/hnD
WMLc3ykbhWZR+M+UbRORI0iknrwUrmjXCUKBKtiKtXLsS9WrbFtUImAqEHplsK5mtv4V/nlAFwlQ
oW6j0fEdZEhkU+7xfcum5/H16BheA7KgNiHfLYtQb6ICLB0QzLjFzkwR7Y9WVIEf81CB3PRhBdeC
/GCu4/3JdmXxGJeYtQlhLc0HH56m06bPjBTyVS9E8qVyEu7BDRzeeL9PGhSAFEKozgYCpyhxThmA
u9S03e9zaE0kV3cxwBTRYu2EuVvSqEmYGlykzpDvqFYVG6Z2eHhUSDQcpOG9nClwVqwH2WcF4Nbn
6BYgsrDr6lj7GEGtkLTjPhDjlSJhFo2AHQKsLoy5XgudZRsvD651N4acpAvMo2Nu8nmjobZglHkc
BdeZVFgADHLuLnKodx3c1xNBvPU5bPPswcoHdBTxtBtLN3qUAhlezPhm1/DZDiCIidGqWv/gOUDF
KlyFm1CNvB/prPmoUdqpnYuO6Bk/EHruqfoGB7zaxh2CkzqqEIkFvjIpUK3qaJh1vVJGItda9kwP
zNnBuclQdkNDh6dPTMeV15HTGY1TdIxyZMOJjSCSXkT2CvMBaWJuDgfPqoOvJLE5Aba+YbjrE1Fu
Ur7iB2KFMDYSHb0dmN/tjZFdmFK0/oJiv72TfjMdsM5le8je3hYZkbnzkDMyu0Um2FMgjrNpn2EN
JISSd8Oq7jDx9uUpBGlybgqvaulwk/reNCFTmCR4CqfePle1Gd6Q9i7Pdd36r7GnLAg3DtrcMLQI
mwxqfEl5HRykcArmX22MLhGemUNc5CnW0AZVSXGMwCk6h2X/wfOArniF0Gt2PSYAXdeh9ZjzqzZ1
aNGX9jDj7lrSc6ANkONqpGCUu4RZVUbhbTnzdWOBbkYzOT/Iym2uSrTFn8eYFVeg0VmzzccMqvR4
2/TFcEykEXwoQ/ANnZ79J1XZ83asJ2NDLO18BSD1AxZctS+aJZIyR2sUqtsgze4FArdjFmXqyDwC
QLNO4D71/T4lBnNXWGr4xkwds7Yu0e7wWzPMD6NfgSpPyR4IIjyTGAzW4yAmYM2TSVo6yPKV8qJ0
h1BGb5y0GHYFvdRVY2JBTkxolnNd9/dBU+bxrrZd0uFaImKT3Pg+Kiwcg+s8UiTN+w5sDH5rfsrK
FHuTXuOSm2xe2XkL1bG+4KKGxM3cdz2zgoMiyl/NosAUzZ1beCziMCxIMkay22C/ieLZ3sJGQ0Ld
DdZ1NXTBfS6g5bhBSP6PZ1/ZBTkHPr30FdRu5JNDV30KSB1Yu5NZrNU030Jh8HbJQArhSo2D+pC7
kPYRTU07t4LaRdpCiB3Zzo2BsmrKyyfqMvj2ZJUdUmUF+5owdrQ9Nal8GfN9szL8h4j7/VjDeWOk
NKbErqcKFQ3LeZWMy1gRDJtbFYHYQgnRPYZgngjO5tm9TdFXp+xWc/3SR3XzWRqSLmvl+nV3DJNp
9IBrkSLQNvP3ScY5eEGFYcjtXjPS4o78382o98dmh1AYSwHCxg3I7XvW/o1g8YFKI6r9jKdkLS1f
f0SZUJ1kiBPA7BgnAdCrNrD/IwiIsFygWPMzHupzPQfjDaTH557eyAYq0JOVDnB/2eRvlYFerpmD
BAs2MAwGX2rgzdVNup5du3qQSjy4MbiSoqTf5bezOLQN8CMC7uj8VR2eEIKQWOU7APLK4aUA8C/3
cIsUol1adHixBep/mSL3zORtt/BPchHlcGLsZlthnQ+MKTnnNavF+B/sncly5EiapF9lZO4owWLY
DnNxh6+kkx7cGRcIGQxiBwxm2J9+PkRPi1Rl9XTK3CevmZEMugO26K/6qQ6bbzYkcMT1WB6R/Ibn
xGJauc0md/ytSkBGWEjJl+aKvOyyhHRQlS7sLSMg/Vs2sEQz/d0QGzhPUKEe6QLBdmDOV9IEYEUW
l5rG0Jn6jWUZwwvDsuQbO7HapXw392R9zZPvtlRoUV74sNArs9dV/KWYD96Bx0z2ZRbWZy/IsboW
eV8cp8GcVnoU8AQaO5E+zR8t9aUMU1N7D+kO3F3sCgRD6j3P1ImCB5xsc285JEgmO1/2VHUVN7iL
w3Llj2fjdiKavO3duPllT3Z5s3bydfu64xMJvbw8xITRTiJtgEem3g0OvbdZTc1laqY7QOv6y61k
f9tKR0YJOJstd8M7fNx6F8ZaY0P33ENltsOpcudD0RgvdTxDnO8XmezaOq7PDVi9XSqnJEp6r3pm
YtjdhcwhDqSzpuNEYXc9V+pZUL2+qalUjChxVF9tPS7s3BwKSG00RP/7ZIxwK9Pi0XgJYAeqTS0q
B7baBDOAdx/4gWOW+C/dfrhOqXqVM162xuhvU9oJmJ6PuyZl3V5oCd6VPSXizUTOYMDvPoQdBX7A
7fQi/Yu94M9Za3t/cLCnhzPJ1zhwLGm9dgLYl1P9Qos7kCa/3g2F+av2smM/Yq0v+1ltqDm2j07j
J7vAGtiFYc0cu8xdDiXY+T70SSq5PsUTM+5vKY3gHDYT41fMq0eHJO1kkDXCXAvHlx6RNpEHjvIF
Pdkhrow0jw+MNDGS8PM3qnJ/da0bv/kVNCMJ+9ccZ8p2c+Zmsn2eO5JBepjPndG/BLk9XFNMJ3y0
7yGBBU6bxq8ga15sp7hAHn5MBnYo+szuy8n/nRS/FWF2uFxkdM0M06jXk1Nu5Vm6/m3mWhfDXgCR
+b2+LZVxq3iCSDiFxSEeneBXM5FqT+xqyy4FWEEOB8drq9fF+TIJB+0Du7W21phX25LZ/KZ3aS8O
Kp099U1GAErXkPCCFw9uk9e2H4WMf06Ne5ta5buw3e4G6pzCoakgQFXpc0o4hlTUE0PsdyzsJ8k0
HLJIfed4BX93Gzu7J4dx1w/wOKgXgeVrYMwQxBCxidkUz47tniK/h5y36oQV/BPZgajfHBlB624M
28K4NIBWzNP46Fn2cF+HiXs/S1//BtYRIpq5JzoFqjMBA28/xPAnqzH+LBzm1B7X/aeuFWtLSWzy
yhqu9ytdACpUWmzhTbp7FZrlmdoVE1Q9U2mOUl67Ew4p+LQkrq6JLESBFVIHW9cXew2g6XrirCIh
Bq08Neb7XBH0iO+iBztSJvzCuZ0TPASDtiFYCyCl4fvm3kqvpOE/Mkm9F85Iv4etfg7Vstcd5/za
4/RZFTaIuZg1XyYc6J3wIV2cCyyLV9rYyazFAt8Q33tiYDbK/VKd0nShEUfUz2YniMYNRKwmuv1y
urQii0nDJms+fUO8eoDnt4Qj1HaWmi9NFS/SdvrrXMJ+mBBDmTq7JQaExDoKABk7GUOYkK3OP7Kh
x0ZNvyVLSpOffazRmNJbg+jbyNnWVz9rqx8O4Gj4Tc18BOo+3LsWTmTCGc1uwYfz7c+pc581FHwo
zyn3s2k2eyPEtDQX5qXmzrLPuf+cqZzjcOQ19Jmoq+q4YLgyaN/SNQhSp0QukVge2z5p9rFst+6Q
3AUcD+91a/S7ibWDNFPsXRos9hz6J+7NmUXWb7HNmiaSqdibHpfjoFavTpEvO7IO5t5mVkmof00n
jd70ZBs1V5dacpZUo7lPGr/5NfFLnX3lYzyf+Ept6PoAJoz+wH5r0rOL7y3BaM/c71jPS77DRWNf
TOiGu0T3+aXArvmiCX28BJP7O54sO4J0NhxSulZey6GkVJ0I3qOUg/ocebavADi9y5w5eK8cxzgw
NcEyXU2E9spQ37m9rnYCGSfy09TfmC0GL2hvLb+jtvDzAnHcGn1CAMW0Mh5Djca3LR0N769PZX/S
8BKgIGAwBiGwSVC8fsGNrAEdWjN1pRyFOq7IhzAHgDBhnAPwavbMlms3ymvPO0vVze/AzCIuTHRy
8vruTY3BP4ZJuoPvP+LmSaZrZrrULYgCQ6iPFbDW3o8UIWo7VHzjmDrCI6lgahTRUuiBGOlLpS/h
IialTrlZ7mo6PfYhLzp3qUrd4BkYdnmG+wV/WXUJMcRxjC2h/xa0aA1LnJ7kQvFuP9negXJW94af
Q3VyVoAAdG0oscUYnOMA25imSThyMk7zXMAeR207P4s6t7be1AHodcY3q4BM6C/lpZ1SKCHZ8sV1
XD2EYwuoJFFGT7VTD5axIMpIk8ezbbuv/Fh9rhXjSwjvO51yHNbUdWwxbrvP9qQzsN2tSu9s00Ab
qpV2iKeaaEGVQU1XlZFyDuB2100j9xTj0k3NpU+89omCt+E38nXI2abjouk2Qd3TTw0XqSP84NEP
BYb6WRqQKlSYyo+8SJ0HGsFMUg+ts6OjgWiqt2SK2Ef42ZZV+IAet07YHJpzhSQCEC/5tqPLB4Gp
9zGA1uq2bkjCeeFUnIYJQpNsY5AURlMdDFo0t1IH9YaQf3ae03nhYqYa4mZWM27zevkJjto8JqDE
39IGL2uZ5wqFw/v08Z1wOAhnQGsW9VWVI1fjagMkaM5uvYGbFviA/MTj9yMUHgg4VSftcUqc9BbE
Tk4yr8lu8PhnJUFRFNWbcupLerx6Z/gx56b4gupBvs9YoFoNo+8EW8db/DdckPTXitGf3J3q0+y7
4SHziXfOubxNk25+Wiqad6niNVS8g6HXiUhQvvo2em6/M+aRm97SLU+4PIg/DCW74wwvhKnJY+71
rJmhKn5VdCbt88Ba4WxTgh8WohHIfpdSMqa13XAXVJY6E0rDyFuwd/CulsulVlVIbxoGlo3wF91v
0roFZuWXzQs/SD2DZ2zeIOo791ZDMq7uKJ6qpX/rEn3Z0x9HyCQPuvpdNtI5d25l0zng0zEFnD0+
ErIYngmELI9FPLRPWeEIMHShiVEMo6hZU640Gzkquy5lebRkOFGX42d91C4xgc6OqqgtHUfsvwZF
chVAQkqpE39lovpNS/4wXSufuz7et36Clj634GeKgs1g4/c9lSpeq8u9EY/ygyQFXk++k+LJZ/25
66uAks7aNSoCtzEdDHzUwS37d1rsCS08xK5m9Soe4ElUh3BIJwLxiBcS7P9ldPurSCw3QskBUhkP
xLsH2PirMxqiAPzxmIWXOcLecEdFhogGA1hlkcxyue09sQ0NQ0cGmAG5GcK2uLhJThNRq1/8Fowe
DEYMrJr22Q/Mp/YxHGjTUwqfxRh2cOGXrn/gShnz/lf5oYKOvYPMx9+qS9/Gmd3PphBpZ1gFiell
/KKMG8rTRGCyWUa8hOmxBRJ8QKnFEBTE5lWvfkI4c9gqe4BZZeYL8NO0vs5p0Z6dgFgKoNgdbttz
LExcqDwtmL5RhXeoOv3F17n9OTVYC6Iqr2ApOGujCmDJgeizKbsb4av+4NOw2bB4mcGXl0O26mdb
viJ/yB9E9buHhGjwGxabnIC75l6MdLe3BuXfc5Ybt16bBPQpNk1kgjfq0kQdw8Wa7l0I7TSBh2X8
iQbLCR+9XN7Uf7LmgjUPwKwmKLPv8QMWAHhbQjsFkMfuG0enNdFDQFIlwoDL2LFya3petCPDZ/bS
3t3QL42a5c6gZLlwxGo5QRSVDYduk5FqANgC4kZFwLzInwtviHcW6d1bnYBdIk3DxCXOjJ+zlCsX
HJ4N3mdW/lE/uPBtD5W0zHtkEZ//tQ6RLzSKnuuvqf7wT8K/nVq7vJcFy3RKVR+Tnmlbg7hypRju
YWQQfstBVzv5WroWb3H4f/eLeq67KXzGdE1UErIB6S7SQ1XkWwuuz+kVSnS6EV1h7wG7R4YuqDGW
2GLpIMvOSYMmxECH8sTMeNGjkUVhhnaJ7A7tMoVRCTE7IvmzIta5dbWJmx8DM+QyOwhayXSqnBMn
WNgKGWiGZW927Io4Llf+gkvCDZJ8QJxP6BGXdWCkPUZV0zTuIPzPzd40KnQcFI300fEdlzayvjnZ
udfs8ITLR6htFWCBzoP0JwkOlrR1cBzdLL3dXbVTC5DkvuM9kZNqj6pIuEQqbitN5MRCnQ3Hhi06
w7DcF0SmNmTz1cYcfe+N32vZd/R/rIMKt3lxlqFz1htLeY3NpEG4WVrna7ZbDr2GNOCJhbWFETho
5TPoQRbLYlgl5MKJnW/hrY1NYxAYB/KpJdsbesmrOxX+Wzen/i0TqeZSYhF4YPDpnzzbcZ4BVyUy
8lwjzTlVi1FvulKH75hQGg4yNHaeTHY4HHXCxOKyeIh2vVvxbuVDU7eRYQnrt6iF89zzCr/EZi6/
C78GmdyF0L1qyukYMbS5uWxa6kWp+3LNUzzNE/58ovFZBbMbH6yh2Xca7+dMndK9K/Pys8QQi2Ka
JPf91Ii33nAGbsd9Un3kbgjIECzpALGD5jR6NLgwUXapBsCCjfsYNpSdbptKWB9aJvCVVDfQIhKk
3pUsI2pE0OrkaiwCbTelBiaNsxdTh913U9vNC0Ok+BV0efNOdeW4MzSffM7HWZw8TpLHuc6WV2iH
6RudfbyadIB37zZlch+owOJnqUm4DnLBQuBAaRN6hW84gw9vXVjgF4VgS2mIkNOm8W0vAXRUdJtt
jTOWfpiA1pKZoukXg5LRkzOZ80WNY/ieW3axNX3dbMw5yM4eMrPHHKOTpH9V/AFYo+cFaMr2PYDc
f144a3OoXkraNzgAbgiq6nSfDO4Tm1f9e6j75urVOLMZNkAldl0CFxzzyAIWxs8MuQezEzYKtBuT
HkNrJQ8kpPzxcRDAZ9lvd04jqyvjMrB0U4Le5WYlh5LaruTjrEca1Yu5hL0/u4iQwgYGZndjeRLj
HJwmepHPmWjkV84hjaYMq6PCK7f8ctnQ5lM+6RDaRtQVVXNhwQiIUWV8c2CZVXPgmjzZ28FuuUU3
FZDhXZ2VBedsz7d/WbkafyBYj1fTjNtHd/Cb327blxdK1Yrz0sfedyjcgJyQlLeJ8KlGsa3B+Xb7
jgJzu1jR4EPTv9dYT95ypbSPpctXXhRkbU9F6igElRu14x15VMMoZUD6pN2WmkFgAVSDiVibD1gU
xUsCbOmrTtSLFaKK1poTyTDLJSfhmVAB5Lhtgfd4nD8qHab+VqGd9pyncLH5SO/LUXfIem446Gq/
VvuhZcmBA4bhycU852krKuzFlsm8YYqzu3nqXDgwTF1ZI5I62Du0hN+kOftXRKKq249Ly6NTgf2n
5pDyxYOtCwbRMjDMy9CKibFV3dt3Zu8j2AGRn7eu5ycfvZIxjjyl3wTlPOD1/DY9DZVqHlK+KOLI
gRbPEMfJKJuEzL84GgnK8rJq/pUn9Yi4UoJQP0ofRMGWiTF9NDzNuaZikD0T9jMNcFs/rL2ffRN6
6UZy5Ce574zPXrfubKE3HpLFQLU3aiskgj1/KlWA9Pf5UDZcrXlPOCPxGzBMsOCgNy1bLjr2xBzH
fwfoVH6pZIyRLDtACd6MVcSybt0OCZO9QCjv4AgPUqePgm1vMlcx8HD4F09WNwz9RpKTq3cycSom
HZTFdTuRZkhn2sp/xVqUJ19krr0tk860It80Ie6UcftLzT71hxN+983A6Ga+KQqjJNLfeW9Ly9SB
IQaXt0rFVXFUZeF85WVn3sxK1Fxwl9k6zENVH5wCqFWZE4X3cKMyzAvqE4AGBmU+w7SrFyJnMoPs
2U10rH8tuQQtLm1DveZ+WkXjwGmiSeW3MwCQdsGtn3PcVjARHYMaYcFtDRK4usxzb0TMarnjz8We
eC/RAqZ9B+42eA+5NcvvNhigMMB8zK5p4AI9aLKDnbTJU1rRIbu1tTEd88pKhz1z+3Rfa/EBBGl+
MLxc/DLIvWwIG9GNZDVf2O3zZ8dPgdgsYxMi/or2LWQ3vwVgYt2VGDwfEsP+OyPGv1tegAHjgmLj
XpvOxGqf+CfHQlqYvpRpG6x3eoan3JivvofXtewkzSTMZs37wTLyZxNCTf43RlLxX9klsKAwBYXj
j/HmL/4eonkeVPspOMwECO5DT6rjoDRTBEoOyePBH4u5kzEYN/Pha4Sewsyhr/YQdaxNzzdbSO1u
g6BC7JRmti1rBkz15Dn7kWM882bbutbJ6CDLVJ7vIKC6xGg80ZxHsfKHdHan7YFRhYs26ODUKrf9
WCysK5yA2etLA2G7sA+wM41NhjsoIi6fbXrVC04o7tMEP3bjjrN1bTPvV143Ymv4Q3ekRQKTF2nF
ZsNlDKvUFDh/89HZ/24jDEM0W7DjAKYYBv/FxFbxKPHxCU7reCi5N5hXARmo2fYUJdUWliXYnMfZ
CZm7WzMxu0zDGQnLHaeA1WMwkljMktDfQgojg9BX3i4HOnQyG4JhNNneTGbPfbeE3QY9lBhSDkTy
b+wy/4UzJwQRGAK7tfAzBKtz7p8evYy9RA6hCg+mkiA9SI4t5XZlVd0sRvdgTYMXDWzOhGt0eqbW
tf/NxKs/KTgixxHBzbXqgleM0FlQ49v47/92/27bCzFnEq2mujLEmfqXzzdBw/MsGPWHgkLwFRSX
hLdmXKu/+TF/sX6vxj3+ETgeeQVY2q2//BzJwFjoWIYHxp9zwfbtG8dxVH00TaX3aXOBZ40s5La2
4jqK+8F7oJdDTxHCODW1nR3el3NQYJvhZZFgWO/pqzHhPMQLScPMfJJdoV/++4/G+utnw3ptWuAf
sU6KAO3nL1bRtmwXBAmePfg2LAqLDZ/TNxEH87iQG3R/8RIW9w11n+/lgnrG/Mekr4rc0CxmL8LM
MH+5eTj9Rwbi/5u0/86kzUbMsv5/N2k/d92H+h9X9fH1W6f/YtP+jz/5f6AC4h8BrmrTxNXJU0mA
/z9t2j6AgNAh1cmDyhAtsPjC/7OT0/wHOAGPl5d1yPZdhz+kybWm/+t/2s4/GGDwYDs84BYVn/9P
Nu1/DTL5Amioi+sHc6vJXoGd9l8Xi67myANBcDjIvAsfx17N95CsiSA7YaY+jXDhbTBD7Jb/9EH9
V3Zt788O+M/GaCsU+F0tjOb84ljV//KTe03WeHLxYngCOStTjis/KromTLIYlmDwIWm92mZq7N9K
mUtcDxzgi23gl/QCIy2b3sEsJRdTTSbjPW5j3CozuiOb65x020BxxDc1IxW4M7Huj6Nt1Wr18Bmc
DsbOYRIJSf/TGduN082qPnA19d+rlV8ygwp7qf5ATZilDT/mP6iTYqWeZH8AKFi/0FWGlYtSY3Le
sxAPUVBVN4Kp7QHs3UxxDX1q9WeOdSztHCawjdVEmmk0GqMF5GjMf4R94b+Gi9ceSHHktwqFBLIo
qyfViYkXP1NTnaHAJkZzmgMbMSSef0PSgvhUOft4yO1Tx+CJ7qv0GqQ9rMwJDwu7I7MIq37JMqS6
USIwWqP9OAQgXbLQpvezBWKa031WVg1XOCzC99gkkVDZZokOMLAeAfGNqnX3tUSpNDqmHBwh8q2a
7A+KSbBahOLGdHWkUyBiiaMOdVzuRyXRyNeNnBnawfOoPtLuUvIfoVHbsR7vWX7pOe4J3S8xYkRc
6h5dhQRjw6FyazFN2fYJqgQNzf6O5juHQWDcHTo3AbvAvGMvABWfhAmU2+A+trM4tVAdpdczTWpv
l3xaGPhDNy7ivGdalVTntCq8Q7gihQi1ZgciQHTJ2KJJ0IKTkjmoIb5AhyfHXphG5BuecbcAHDtZ
nOsfaDbWRVQL2mIZKmXcudaL5AZSoZNvXaZgSSQCXxCqDbw1C+wI/QE5CtiSXBy+dxQkrgS9CC6A
YK1PmM3VVwcWzgcILV2mhunYP6C83SIxQogblZnd5TYm5m6m78gEAYVcL8/pUjWvFQY0PutcSQNg
PjijnfpDkeIyR+Etoz3PoykI0FTFdItuSUA/SAErispeoVTiD5+KKGh5W+IMhQZEleehMNLgEXat
QlRBbInaP6wr9w/3avFBYJnKSSmdXsFY9orIEkk6J2fUG8SWdgVp6T9MrXjFa7W+Q8S79Y34YR4D
80SUeoKdvUK5Fl6oE0dgWEApeN6jCEvx1GBEY1bLSZW73x/clzML4KdYqMp7+EfDS5i0LnIdtonH
wptsKqEMocZd8IcxNo/gxpoWodlbEWQF9sn+0FWWIKw8gl4Tjo0xwdEtEELiHi4wsxVr5q2As0LT
A4tobFPyglwEAw0eb/rUYyPCUgojTUlgaWDT4Ka5K0KtX9wargKaGWBG456Ojy8vKT51ld5aQ36Q
Jig25F0AKyuebUhD595bkW2t6AH4YwwJVpxbuILdQNpDqTKBvVUcx465bO/qFQSHXvWVFhblxY2q
iFKSyAY4LC+17xd7jEnA5FasXFL53IlW1Ny0Quf6ZbJ33QqiW1Yk3bzC6cw/nLpqjsfbeIXXVX84
dhmk0BuoD/T95vlKulv+UO/U7FqfPt0359LuyxtmMmAKcHtsXAxtTmRZDBF/t828No4x5aCmrMas
oSfjraPzse40JRJk2J/pRuCWWg/9j9CxzHaTZnEQQSIdEEGW39JpWT90I8Se/HkchfbsXwZHbF1R
LM4mnIxkN1ZJdmpoiLgaiNRMmh0KDAi7xg/4rQrnacBK2iFGFd2pAHb1qzOq/g5hVRc7BnPNBtbF
fB9gT97OULqsTe5MPk9WrLheDslngCk2Mmo3ODoBITnL9Uk+ZCOfxmTbmH2b9Mble8TpMvJ/mHiA
k7G4G2LM1mMSH/sSZwfyz7krU+q48Kqee8/9ZnfCYk/FyqFUbZJvPJ4UfYLoNAEaXJEdalk4Nmaa
xH0Eall9AYHJmQoUQBB8rwZsZ8d5p3cpsMVpEzBev0zp8JDNMD+7TMHIZab224TmdmA6PbVbgqTZ
wW2HYDhKUPNiNwxDwM2jqJilYJ8aJgt4TRnXXxxqxVVPbfw5U5ckHnVbscx2S512UdM55oRojTmT
eLSJCmRYidoVUuGmzBZnm/fmpwQHs3crCLsIuMONn4XRpOo3A1N5hWVD2zA6NJYPbv6eYx2yqidf
BcgksGD7ZN3TWNiYQGIrF3dAr8ZpN3vKhjYxttc5qH/EzlLDgM5URKDYuJYdTcqTsfruMOUB32bE
rbLIQsSM7DaZd0lyojYvB6kq1E3esjO5Ck5wkSFC+OmFso+v1p9g4jD9GTXsCKzx8ylb6Gwh+2gf
DQP2XgamEStASUFNOe2WXrmHYADrHaOsRktKfWSTTuImd5OXxMF+xJWOByCmC2BMGN6OndDDtjKW
9KGa5LxWBO6NMd6RdrfQ1Hv7Np2IBJZGZ+Fj9bOvKbE7bttDdyk1t1V65mxc+RN1Yrq1KbEAXybR
biK+oXHHWdDZaqSLaJiW57gc+CCrP73afLAlvrJLE1DJzRDleXRhzSBjKMhxVMpy1IDh46nu0BDc
PrACAaR0MaMFBYYBsyfcQ7Gsd6RBhaxPHl7hfvP6Vra4n/jezbHU3dZWw4S1ho72XQGr5ADAEVK0
oxxe+Ey4NxwX9HsWrF8qxmx33zNiv3qZZJxq4bva0eYwvoe+WT74mBtvENyKbz253slgy4FOG46v
OQ1+EZSWZtiProkzRkw9JSa+GX+b6YLlwZ2DLYEMm+rMHDIUVFyXeUxmpbQMheycRTKYZw/MxQHX
n/MR4jW5RZCY7sFQE842ZB1mfN62dwaQDIl3oI78nNg9rYmh5d6YwWA9kbSIf5c6xogva8otApVk
BQuTFZ/yznTPCR+1uaVVJtwljpGdeVXASJn4qJMDjecFzj/beiF8E26QfgZmHvOEh8kuky/GbgQG
yFT7DV9CXV0LJiNPcEbyIzU5GHGnfDnU5jy8CbejkbalDBkCupdSNl5Tz6x7bJEdruVw56bO8lTk
8/wb5b3iNQ2K4kH54fAQUupNNCzzqF+p4h7gte3vuSPql2BuzLs4retziuB5mO2BXrVl9sHF8hwk
b5loBfMss6TJ15iehrESx6HOhh9G6HScJr346mAhv5TUmN90deADbIYz1iZt8+aI+EQyHUZQl9yp
IPdu7SAxFiwK7uDxnAnMLllq6i0rnrXx7CXDHOfgNvaVOjSGzYFnjLOJfDU3i02vscOAHEYL3RRu
XN3FoZ8ekFXajQ23amtXc8cU1lhOhFAKplO19ex4A8T6RnXOUxyPXrJbcIpbV7YIOK194g8zC5jl
RdDBEa1KatZDeqr3nlOjPSH73fUg4Ld+GX7kVMIDlLGY8gXkd0D3evuWoukvDi3UWXuyy7b0A68I
z2muGZSO6iTbQb/z0i4PBj1B28Wdaiqp+CFI2vZqKCh2FD0lW69ykit2B/tu1OYwfTSOPbU/5ilr
y0cDirZPvHqhyrxFGw23MajAcXXeTzFTiwG7HOBh8qFeMMDXkpQKVWJMniZpZd+LgWgGWSjB4DWK
5NArU/+QqJzviNniqZ+ImG5mZVMSuCQ0IuZZVj8mlZF+4ebOzwbRvI9W2EAUmbrDRqSqanowOaD+
JoWxnJOxcQLmdwTuZmWxViytzQLNwZtVze3a5EBhMUs2Rpr+FcSa+VFQFvDskpxUT0ElvO4uxqPg
YMYc7Xpn6YD3p8rVbp0Wola4ydxH1CH5apP11kyfjcVDGPXUh+Wc27XC9TuTwigL3l4xY+yIGvbD
m8bKQ3IXTivvEoX/KhqZbV5aQ/q4JKQPUL8ZZELqo3fQRcb0gHIvXySwtg+bK9G2FbJ9UK74kRng
0aZSR3hpgptuThzMuRq3DOHPDyTs8WdCI9rJo1WQQqrBeLMY7QVYcmbx7mXzdB66cd4PIS2j9uJ4
P4jvMXCykik+irzctbMsTpyo09vJFuOx1f1y7PkIPwY/GW5Bd3hXnL2gPw1Cyl3j32cMAc6dZxNN
HPr8oRaGuIToTAXJLvT9bSthK01Bi5feL+f4plFEiYTrx5ckBVCfpF8Ggf8fvURA20ytqlitbYrq
tTeE33Qs46bsq2wvbC+Bu2anLyoI+9cx583Bl9u95mQ/IvIzzqXui+acwe78UTTiOxGgw+AxhA8t
x9lrCaOU01UmfxOoXthBR5uuucJ7WrAQn5fENHfW0o0vBcVvoAaK9E7Hbn5tFgWxXLUwnCtLdrdT
LNbpbiJPHga4HwMCQOTIjHmzykd5JZ1ZfrazLX6kVd1BGl+jekGj7gd3LE6N37725pSRHwnsmeNB
5eA+bMJgqxCV90XfLR8psbCNNfXmtiBPTU1sbr8xkrAvA9z6mxI/zFtGkOHnn0IjN+GchjNxeJiT
hopzzmJ3dQeQdwHvcYHBClaJUx6JgpKC9YU5+JlsorzEmkd+0Kz3vmz6n1mmaui5XfYx4xBnQh1y
pbbqwb8EPpc1wAq8XRm7SoT9gH4BEpO7YKTolTJ5c+PE0KFlml8A7ccvZeDqsyvj/IUgARfU1Ku4
CRLaCNZ6WOoMrKtPTPIc+4TIjaEvn6ZZwpVnYP4txok0SWbW9lPAefLOrNjzGBzGzleQEJva9gpH
n5nQGbchoZAcDR40a+eUg4HVtyv61x4CXxJRkitfu0m2IfeuyXos3Fk++crWH5RJoK34Rd/WERGZ
+k3TEv8xduaKx0hYX8geKe+6sPrhDobCc4tXkPEj1UNCgeQL4o+kG7lfwQR0Pgev9l4auwKD7PvN
xzRCsSHe4b82DIm35KCa24STWobdY875C+VVVNRBuc+oQHsIDVZvy1PukU9S3ytLDxTtDd0HWcDh
xhpaWEeUHOx0k5VHWCPzfoGKeasDFowmyeSb8uHTJOCIH9yycOEnm/HG8imxoyaXUGRTf+Ez8Ka7
EByae6QYZlwjgcSceqy6L/j0GiaHxZR9D6YI9qEy593MPI8M4QJ2b9PU8/xacIeMyMu4R+1nFHHw
ywPMH0TMhdpOtaj2nALU7WwO6bsdZtaTn9c8QBnQOOQf3TzMTaAnhKCkhq/dfuuCNtxd68/1Bwmb
+ZtkHekz12AZio0lSquWeexgGAdvyj6LBGHLahji+vNHOblzhKPE3I4dRo8xzc31MPbCIkMVjtKP
ZjwSM+kz4ybJO9CACUTqHlB3ZHj03fYY59I+eOgyLe5jJ65uzQQCGAM9gjabKS5OblfXN1SveKds
mnkcDEQ/GOBg9WEUOus2Ve1xUbbQNTG+U2TDm2bAZO/n4JIlcxoheqiDFcbmJ+7l5BOjEIP5ggpX
/nzZ3gBCdi8DNyjmkk73kM/+FT6chfF0Hh9wodOA1VkO9njMZyQOQkEg01H3rm3er5rQu4mHGxqv
HCFhFUad33OyY75qsl5dUj/wULu0myYwEUXCoIeL58afFoH+tnSRQ2nnCyX0pbcJR+X94GhQCgI+
RXxv58x+u9HXx06Qr85Lh7o1TXw/iGfeyzIOGXaRDN13xC+wCPWNuhFq7XoTJFZf22Sw91pJ/Z5D
Wb/kzMT0xkshA0JKd384Wd9eWn4aM+Y2vqaW6VxMadQIZ2Hj3xB/JTzRkB+ys1nfyI4Si0xkwYNn
lXJfw6dKIrvmPZ310N0jrmkI6Y7mSBP4VbFrB0yWm0XIfJeI+Ve4tEvUgdTaLolt/m/2zmQ5bizN
0q+S1uuGDLiYzarSrN3hE+kknXRSpLiBccQ8XgwXePr+oIjMlJRDZFnXohe1SUuFRDrpwx3Of853
3rU5woVKr8LZYWVaOW4vLLYjcmzO7GXbKO2jbWvTuLHgLcB9401cGWnhXRG6qW9nDfPnql8czbEG
eNCpxvlFDblLkKJOH4iZsQqqSjbojZCqa8QrjHlaLW+4E4ivTjxZ2N70gTMXxjxTspl11bBiGI+P
ITMImgvtwesGuUqnEd/IVES8moA5qQ7N1a0binzdTJ526HKnvtAqvVpPWtk864CHAqa+pIkBy7MY
S6pEbCZRRXMz6FW3bSFlsJcpNlL+aNN/7BVHoiHQ8GGbu0EZp/W0njyMiZYZ8xnHIRgTDZrCXZ81
rcHGIwYarX351XFm4ys8uSggIAPaHuVqjqhMTMES5mXGPRl8z30mOYxvAWipKZjdIS23Gg3u1eUQ
xwJJtq6YlxaIH5hUs0h7hF5I6FKPU7RnDtEZOO50uJunmDqDynWSc+zOODSgnyP2zraDLzylteQz
dYt5h/nDec7E7Nx5yq+MrVvmWrNJU8fJt2RyWbfSJiZykeeO6NdYq8w7zEEckUc/ISWUeX792Ftm
+jpo2LPWvjfqEAZkGzoXM1L/fWLN5VNjhoRl07K5Uf1iRorsRt4SQqHtSUzCO9UjQpw5WMUN2803
20jqIPQk3ROG7z9rlRlv6wkSccJY/UJ6oviayhQHaOkpOmecGPptaeQIKd2BZ2HeEINS106y4HNt
qHNnwvsq0MNpvke+tC+8Rrgnc3KQGNLRw4DTz8yvu8b03lENQKxGpfCzFdh5anAUpaOB5o7tHg25
mdfAZtUTOVk2CCTU6aorLHfTx7dJjdM2iErHv8+6sDxGbbiyMgc4vshddRUKdoK9ZJspVskcd69U
bcBNpO20lyvKRxYLWanZt15tmjTijlNOd647ac26M1Fqg6HyMH+bZkXSh06MU2753a05ifkR4Xy8
1ZyeWKhv5LuktOSuk7X5YGaZogqlszaJpxGgqBIxBTK30xvZM8XcALh3nrs6i78lyskvO0BTp1YT
Gcn32YjJBnuKqYthwIwji23Y11PCKWvdudrwhBHPQf7ncL2NbZXuKLVSN8pvqbx3rQyDY8YTcVvR
NqSto1pE76ERu7j1LcM4RyFCL+4AvTiniSs2Sgu5QPvObLOd4jCgJouLlCpM+7qtDHnXRJVOQ6NZ
3kyaXaY0gCfNt5m82rUzU2+yGhrPWWojdGScEh79Puka44HUuLhMGt+J1gVmnBjHHj0dKy8t3It0
0sK3hGjvCx5GtDLM29w9B70ZMZnNtFY6k8k1bm6H/JF3G3TdEucqZ/pSqhupm+HbqEHQjQUfIpt6
mkeXqe3BNDrqK0RJW3Ac6ruoKeQlazsbkPT1d2n1bby0D5g7kLzag6Ml9a1y6BZWmJ6P1tgN8Hvj
/lP2VrJzeNs2+CcXJ3XTKfXhpGERtHkfcIcgM93hRN6X1uxewN0pwEVU+dlSg32hidKku3nq38u0
IbYyO1Td17le7lPLpdhBRUXzYtS6jDe0r1Z3XJFQv+tSgjkyvVuP09kbwT/3PIuW/8Hiu5XR0DxF
HaywVoYMoL3EldpFR9f7puc5PJej7N7YgQqPHNTo32uzYQKRKFqRbPA3nPrClXcVCE8QDawtdHD1
lnXp6113Kkw3v6wNvsgIKyJhmOdODjFce6VPRf88I6stG/IgiNZLSQkdtxKMvGN+l8UNZrvYT0V9
pjhtvlUZI7aYw80R+5Nzy3CrPEAljO+ksOu1yBQVwEPDVcOq2k3bGvFqjsfwphgm54Ivi6iYb7RX
ZUAv5I9PMS14G5xH6oUrs3fduwBlJlW8N7jdi6yP1sQ+vLVI/enKwTR7TkYTKzn5kHUa++cpoUct
wy7Fzoh0eegkEZwVFhtyt0J37s2R38t3XD48U90FVs7netVqctwOXF+Z0PQoHFpShIeOY/uzG1fk
1nEJFPQwqfbO4kDPTSC3NcgQPbvcoFR9AbuE3MhEQdA3cpLtkenqW9XiJlzVnbRv4ki4V6NTWbcK
OYNYDTD5VWaENINGPeMbXMjuBQGLPatqeKroH14ii9Uma3vxWZfhoFG3tLgPjUpqyRrZnUAMfNGp
WNscES57zS0fzYgtKy58jiwxCmdmiBE3ItMWGNRG/ZV5Ku1bPL+buOmqPclUL9Bd3dwQDPYIwZq2
xW4aYcZLuq54Jj0ur5gd9pvcmbzPQZbycqT0AS3Y8L7pbrzE3/rc09aZPvgL+5SDrJsytzLnnhuM
MOLxUmL324migT3ONAe5t7ZfahujMKHCTjuAxeQdiUaSrLAnY1NStHKtfbepSV/J+GyXzHxM3xjv
E1dZ79U4qVeKU7r7RvU9RIhMLet/WPZHx0+JFc6mUs9NxvwSdyCXHiRSjibUdnHFGlIW46H33IT3
UGey0WRdfDVquv6am7ZXbMYa2u4K257HJc13DmHl6pf8UpBu2YPVOq4xDU12F7FzlVF1aCUueJjm
ApxJGubTY+NlgrlN7G+FqNnzsWV3m9DRq3BdhcASAlIl81WfwMDhiAqZ1PXx30WKBBD1spP75utp
gpan026zyhTeWtK/NUh2w5/sawCfMTGOzgQZDtOLoSeVuOlAlUxvNkdfKR4myyzKXWRFh3rhWMZD
PrTMUUSZUY9M7GjVhZp2QGQv3MDGdsl/GPnQreg/Ew/MbM18NTIQxSlV2vZ7MyTldc0EFXCs4OyS
s12uQput/dDphZEFrpjVE3qz2LRZSt3xcrsC8jRv+4hI49piPkgTOa1iKsl1cKSDeM+satnEcp88
TEb9nkViMtzauAjWPuLw5VzoxgWIcnU9fa+ew/Ac4IGuCNXQ6UQTiMEnC9yQlo63loYyCvGI27XE
GF62F1NY5gdPK7VNlxkyGKdm+DBqO73qOU5cEzZk/ZonL3BdHavhUIt1OPD/5tTu4pXRS/1JxwN5
LanlucraUWyqTqdXvaGACoCV3T3FfT3ftsNQHqus8RijQwCwRFgcctBPb3mNwTuqvfZIH3p8E8JT
aNcU+iUBNS7zmyTAtY8MGuzbuRr3nNeRiUmT29vvPo7/8Qb9kTcIdCq+u3/uDbp/KZL8T9cv7/1P
xqDfvux3Y5D+xbTxlHhgAReU7t/4ja7zRQC78h3nO73R/KFvxDC/UIBHSGRxiQEfXmwzvxuDqChx
bcFXWSQpbGhxzn+F37jARn+05+BdFXDvoAXyaIKBxs/GoJZDcu9wbNkkUX0yIFivqMZ6Jm4UrVvi
h1qXXVhSoXAukZofnql/YA5iOPjLg3ugxRzbFzwnpsFv9As9VmkG8V+3zqGPaPM+7DjbaV1MtFMh
19K61LFCpOKYSPg5yJ8J6qoBk4AtESOmIqYVc6AAhDTP6nqwKUZVs7IBY8xq1dqJedG0/hLZkf6V
mUgP5xwFcPvQIT+5J78VhG3t3kJRt7OrumCW0Djs5PHiKI8E39CdES1nNKsbqzIoQu8dydC0IP+c
sF5WmL238FBqMpq5hH9lzdo9I3FJtLsw+UhPkWB0IrV7dyY+7niVfzOa0eIxJywYUUi2SzRtekiT
xkLvAVplIGLAMHL6nZh0+9IHabSzk0QdZioJzbVqgSat6OvUsr3lNuLo2ni+kVqTfjxoFMKal02o
NfWOtFC4ixIfigKj0IxJ5+Q9e0uGGNRRLe7Y/CL6JL8XujKDkCtSSnugjvLIPoR9Mmvi4haBZvgo
wkn/xv1DApKytXJa63PJl/piHJ/GiCVtpXljcS5Nia6o2ZshxHbgi+7SKzkQlmW9RxyVmJKZZeOQ
enZ63b/Se0s5XJcVs85e9mxLkEGSS0aWqtvPhVLXfY1K0bdZdjl4qtjlsZPtGELBG0obrzqWONwO
MTvO3hzikS70Kt35lJAGSduT+JeexsCXl1samf5CN6FOarxm1uxjeMAL498UUzMefa6GWwbh9ZWp
ZSSkXQpLbAozYRhJb8+gM90sJUJ2oLreOE5YCOp1YbORIWOHpGO0nJe/BTHg97VFJYGnVqUGu2mw
xBxQASUfncjwHlGY9St8bbynaTn1jMZcyeV93kUoPg0O5Stzav37weG4HBd9F4wS+sgyimST8muq
ThogwLyC8p69MfeXSE129lB4jWDg6g/TZ/I1yYiwakiHotOMz6nXm/haUKp1nmKdLFUmh4RPizFS
KWvNc0GT6yisYUv1w3ztla75Wlphd6ebJTE6l8Hsbiq96Yz32/1AKWrP7ih9fJJSQN+Oe+05TYQ6
Jn1h3YNqJKMAT6Vxr60488nNqKFqA9LZ4bg1NA3njm8jZYywNqKVyrj+HbosGl+RACBw4G+jU6Y1
WuPZ8zjZza490eJlAKbDM5e+StXmp7FI6WCN0MJlImyy3M2BhlAbgM34OXfkYYtWjdusNM1PsAL1
e6Jkup9AZV01tGQfcJRkgRHWTLWixhyuuZHWONsSDhe9MroHZxT+W4roeSB+MweajXW9lBju1pEs
7H2mN+DjEkPKq9lo481klu2jCa8O1MpoXOvVDPVtHsptP1K3C5vV2Izwpu5Kxtpn4oHGS8FN6ARx
qN+FcchTqDz5AASIbuJB6seOS9xTnNrN1woqwYPr+daBQwgxmnrqwsDOhgzETZ+Nuxo1vkQyzZWk
hTUx2rc8EWV0GZttBHQqzT3rQVRJNW7g24VPYIx2YTrFFFuajru3OADNhDntat6LkZTaqktSzA0O
fXAEodEb7LnwgrRvcUNHelNGHKEnigwNzacQkVDVC+80Mu8lAAsWJNcHjqQlrMZTHbfROiZMmm4Z
5AJQMM2+2PQuqcdjV0/FxWxOhtySp+E25JHDOISNZzzb9MSd+nYeDo3uho/SFG0YpNowapyHxwQW
UjjwsRkSLWTuM5FIDzt/vIxIf30FAdq5h5COzxCASTbfGk2ay7Vh4tELo0S9lKmqrylklgJ/IENK
pNBvEyk12l0I1+7KIdfOJfUlH004DQfIg/FmdGHB4aPoMfVPw4SW7YDYfuLNP0ebYh5UtKY82Td3
VJhwwyMzg5YCitAZ10SYOklzMxYdRL/a+KbqwQyGDrPXtqDTy8I01HTfNG7XFKVmtfVYWLX+1BBE
XevNLN6SvhNrJm9+ADOq3dL2jFCqHP9dmnN1rTfKT3ccGHFpGg4p8nU+h9VuihAJ1vyz5LLpmrlC
nHEZmzOkAMti8aFfVVbX7GFN8APQZ5xRHBzPIz2bxiK4kb0DEo67p65ZM/HZryhQTPJdlS18oTCy
+2ItHHNWWy9D5dgVTuXBcF/2Hc8kU8rWQ8iSOmq0oEoN9UOWdPju2tTf8pKV65EI/dai8grEEln0
JPLpKcNQ2IF45Pa3Ym6gwbGrivLUYN7FJ8bHodYISxjZZJ+QJ+J4A3bQvEmHwbk2LG7zEbPWYzG1
I6vpHF8WfjPu4gx/0QqNPy3XOCiRo/zajO80g8RAMOqz1FbWMOrLBx1m1txx8I9033uH2Mz7tgcn
pWAH+PKz5d56M8+ZWa31ThFW1yNOQj5+tSdioVbgIRjfalm1MztHneLR8O/mbIy+Gh16QIXdbQ3Q
gqtiHVO4Y5UF4TBIZkeoFfEN/DY+tsLRrIe8wtkGmgFpN0taF6NghOgNJlefsTOZjAwtu73y5vgI
6HWTtwMbct/InaVXNScIEd8PKh2vh7nmi2Orya5FpRknkpLmtaUMZ4DJoyV3qmP6OFlkwOJw2sy0
doGEyu96DWCuVs3GmjPZNtEjwtem+WYNmh2MTnuTTdAgMRbWlK3XPB5fuMB/ENoom612c+aIdUHs
aWvVCB9IcKV3GuOKC7EjDVxE+MEEETGnri4rjDFP7HKjs0IxmjgHcRD6LIZ4vp5krbhaJdp855CG
pu7SBKHNbZEfiM5FxokrQZgdU13fftAU5HU7y0u6t96L22lbkKOLV0Nb13t3EPqREuKBLmMvT0C7
EIG1WVpRH5FQi3A8AIGq+dYRDTpwNfvybFl4b+XUkcAdcktCx4uw+GzrPukfO1uKx7GBlOJG3lyw
haoGZoNDOHmle56F5tPoDqpa5t5abTh+NWaOlGvuttlFROWjue4Ep69NK/XqAV+shK5HdnzxD/n+
qZH1fJ3p7bBvS9e6T7XQ3+tCpDdm5HhPSuIYXCujB/aF3VjVJJoTAjQZsXNePBbweh35OeJGY2ft
h5+JJN4Os+C6b47pdLZNGy8tJ3YGOSXgDnuvq6o99hoa7IYReHWM06KmCyfiYaKUlNDyulisq4Tc
ofo5FotYQnubPLbNmI83JYaPfNVGGkIRDoFhprtem2hB15VXBil3T+quJ9KHgEVpAAwyDsT21p5i
vOjQJjVEHDfSN+kgxHDhO83gbQ0DG7FHV+ZFP7jU1sWFrjgBU67CjMfKCOOnPl2+3Iru63kUj8hC
DkYUPx0uDKs1LwkEqqWlOc1Y0jP3YarDobxUcBsaeF5jMyJ0+DbyUOK3HFlrVV/ODEFePC7iKmCK
6pYrV+cYtUFT5BYuuDkM2053+pa8LB/Xi3gKodPkQ/q1BeKUHFFGHI/5J60KedUikbeN9qEbaUiV
FUXVK51d5TCpkaW4Yg7wZI4WAnWSad0jr3Z9ZRlzCh2wwHxls5gjp+TicrailoNO2B1JbecJFtaK
6DG/OsMPAMZr5Vjquh7snBRpHIGITTke9aT0G/u+00UDs+1f38d+KfNwCZIJXzeI8pncVI2/CzOW
ou/6PLEQmJjM4tGNXmmyPjdG/WT6xVnYJRurS7kUh8xnmQ7zH7C1f81FLQ/vkJ8B62+A7tV/CbRB
wRVFhhC/aUN8kNpcl0ee/PwPWoW+32h/vPEuD0NxLjdOncex/V8unZOcBzHOVr8Zoo474dDX0drV
TM3bW/ES382GmjZn4ZfxO0X2GkQp6ETFirEA/CI12QeGjIiDddHdZYnrXy1P2dqxdHGtjfX0JAQX
hSRzMJv27IvdycR2G/6PHvPx7zS/wvBB7yBIJIhNCdM2llf3n6szwct7+/Knl/IdhSYiw7V/GT7y
5E//h/8QvBQv5fe/CpKftJt/+BC/KTmu+UVwtwS6bhHfW/JMf4146V9wldi67TKx1Mk9Eij7S3Os
/sW1FnWDv+DHdvQfIl40exCO4vvx6yzf8r/WHGv+mgi1Pc/kjGaYLNPCJnf5s5bThOmYRs5sbcLx
oYfHwRRmG21jc90iWdAHndJxjNv6zoSjsmKFmdMH2STbpHgMwcUlobb2BmvBOMNJHkBnwAeWlJtv
XbD8Q02/qAQ67r1OygriGhd8nzz247OgTkabgFHo89kktjKK6caM262pXdTe51JNhuRyP4jr6D0u
ITnYYE0z+BpXrKSApz+RnNdZC6qckLDhHOy0K6CnGNdE1QOO6zQbTpw7Mw4X0CyUlW5tbac7KWYj
YwG89Pm1ip9Lf6ZxdnzV/fJBdvpt0cwxleHLwNic6o10wRKXb11+g+GyW/VDRjgMyowZMUZn22hB
G7viZKTpmWz/ATM0th2s5FZxkemEoxyq35VBtKGuGbYuNBcU+556PCfVTzlyt6rTdKWZUCF6CyxD
Y33TUzw6ltgMVbSpoKWn3IaJ52zJcK7bTgW4uIM8kyhT3alzzGsjNN8y1znBG+KuPE32itDbV0jJ
D1iAtgKYVWRxPALxa6xixy1WuP8YvMfJKQJhumqwaKw4H103ElSY+qOKpb/rXVk+d0xudJdmZMvl
lPbzeysbdIktT8PQMRcPLW2ka8uSJy4f+5jmbTw4DdWYDlPEcpfXNzZKC3nEyw4YVTDp5rAqJPSc
MPQPDmatTMMN0S/d7Bldo6F5Modqq5R9Xo695FZk0JhcaMpLtKJdW5eXxoSS4G3KqV7VyXzLnrj3
3HHTGv51x0tYT8mn1dp3dvYNJhaNsjaBwgL/Ch4WIwYx1QXNaAYVEhcxowBferAoXSAvTq3dbgfT
Ok26f3QsUhlTv/IRnYq4u08hv/OW3M3+hWU8O/awSuf+onFmrvxjyQk6alDz8DH4vCu5MZGsT45e
eeU2+U4LqcUtvNeCmtkcKEG0TAh7TeJa7OcjXcVMHsKXqba3FWY5uCjjqtdB2VHhdMFy8ShEBGD8
XrT0kYbWXjKvKtUzYwV1WVP9Bw3OcL81IZYRLc6fNPiAcW3sCIpwzHWsreGQajfbd13xMw7FdIMp
lxRWWNncLs3+shmbVe3Mzz+srv9A0RW/buHLu8REUuYYTBIW1M/P75J5sc23kCYBPGcfnBkfOR7t
QqQdAH1rIIIXhrv0hmbXcz/cRBIe4aiuE+CsQOybbdeAyKM4PkhlzUDDv4kJ47RJh0HFL8GSZKc0
Hj6Jaf/Bu5uwLT/Xj2cCGrdd3t8s4Gwwhv4rSUHWDYMWznMcQ7lQpcKEB8gPbFdr1eN+a3OAX3ns
7TrWxTqC0lKwSKG3veDIV3W5a2I8qa6G44FT87xm3s57NmLYI5K926ccJ5wcu8VwZmEFbQnCMe3P
tWY8zGYUMFh/j2x1Liy5Ck2P1E5MAipMyKu1TldtFNkCwrLiU+/jHoNhpx2BoxJQXG4zeT3excNw
Gr3+snZAPCROeRUP6DCklJ8bd4Zalg33uMVuuOjQ02jXn7RBx5jE6vux0z59aGBrL3E+HS0/Syd9
KoBHtAN4Odv4BD29ixE9fOILSUQFAHX2s+evu9j+OpIvpErTpzP7dYy1w4TxtSrGjTRWkT6uMTxy
DLIfSyDHYxJTEKc2hd1d6Vpykh27R62LIPX8PSHWDOdh/5i23QNQJ9Zx62nOmgc0nJtelJRJUwS8
hOjMlBLNiJK+pjzb8bjXUdPLDmKKXp9z0D+9MANH8HmnHtNJvVNU6oeqHk+j5WHaIQIJ4XZhNQTI
0BsfBF/CoCyK9S0v/VE3APUPCxI9ecxVsx/cftOBubWnK706diEupMnedn4OGZi2APmUzufQQVJP
vCDuL31M4Sl4p5ankAYSRJ00NLZNSewkmzfxWBar1oTOFsdr1TmnHqIxWblvTcGQxV9MLoSVCKNQ
ZUW+x8W0Xbi3FfbGldY0QdnS4ufXwymxqYDIQeFo4jPxCobd/qMlmbZqFQZgjfsrEmdVhceSjyEF
EdWpa7K9mO1tWtXnYnTusii9tMQ0BjMpqWZGa9XoMCFoiJWl38oUxFskSTZlT6kY98y+90VPX0NW
IiWFXfFgxuVTJO2jas2vecd83Hae7Lm5V2jXG97Vhyake4IQJ+gRZzPK3iH9EV0iSLmrvpumoI28
fGNb8zGL2LWc6oZ6kXbntvqLJed8I8b2rjKnF4YQCJ1996TnIGKMkrB04k+n1uoehtm7GFzqbU24
OFp2AET01XHJVHeGWos4vYeI+dSL/lJX6rVQM20TZR4YubnXRhUoXT8VOOVJo3wtupF2TYqtLf/O
6TWmMt8wSK4qJg1+iL99SG7NYt5MvNtRQj7nhGpqnjGl/LOazEfSb7uqmw+t0dyF2uuQeZ/+rD8r
2psZIG2NHlHZojizcIE72vYdBaaohCv6pi2NaM11bVzb5k3Z36Gs4tQqgp7SFMe8GyYBzdl7KJCL
Mk4d1dyRvjRpf1CBSD/wee/oNd5k8sn170mIrRJlEW399JM4MMS3Pjq7UbFzvHblWbfA58ifjXdV
L3i7aBRA3yksAAh9ADlgMk2owOxRiWMdWndrW8UGsNfKhwJGw6cxvvm4bRDgnrqetMrE5zoT4AxP
5CeJ2NwSK0moW4gfG8LB6z6xgyh5HbH2FP2nSukRrv1XRX3JFuLUq1Y7e4i6+ywx3ocx7XAfQj4G
WxjAt0Rr9sdATA14t8o7QMh3CXT6CI1R8TWh8nOjxGS9ay2ZT0/zgoqJ63as5ku7Le/jqHEDWBn3
fqZ9q7BlVxneQJWe5rBzgaa1zNpLkzFNl8G/zb1yQxCgD4axfKv6eefNLnW8uHILGnV0j+NUFKuz
ZjUQc/R6M+pop+n40oFY6o0WgHZooPSWMOvcVzSRC3+MP7ypv/dLoIgNDcBpOmGylxxNfFhM3Jr1
dLW4NdKhu88JS9VGseGgfoQt+pnpOYyyXdSRhsEQa1TtFVorq691FTeY9KZu55mNCKzQxI1rTcg7
uCuDkXwVydtWW4MSgZmdwRz93/GMKdZF7dnUCOuZgAvDCew+0QtmAVG5KipmdqQR78zYuOC5STah
Pw0rUYeka1y3W7tlD1hc83iQwjl/Px38N5gIlm/xVoFZS8CHyT//x+/fMnjpXn76A0Fj0r238Eun
uw9Mjd2f/4OvjD6q5V/+u3/5p3/rpomqbfzLu+Wpf+/f4o+2nX6c/P/+Zb9P/sUXAfbNQsywBVPd
Hyb/Nh2M9DNCRlrusd//5vf7ouFwXxRkwgCGUK6IVPrXyb/BLRN8CHVuJvdQmznt/8vkH9cBljAO
9aZPQA+06c9nNbv2FzWxbzaaZ38LuVtJfMyrCBfhOl9Ql1nTqy2Mo2Ndmm//+py4UHl+Om798tC/
KD2k+ZaxqGw2cBuXzxrOYGy++zoLX8cGd9W/frS/gz25gmuLyeXYpkjTEt97634gJaUwNJzOKsl0
pZl1ETVhtyZjWi8ZI+5jsn7SozTd8Uoz0KMxZuO7AwnUWsel6/RPAyGRlTVHX9MiO02de2Wnam32
HAk7HXc/Cx9PVccNu0ovDRPi7L/+6Y1/8OP7vuEBUFk0D95Qi4Xjhx9ftIV0nQGXgJ3hsUO94+Ja
dRqsz8GaNlo3MwCqsSAxtVAnv0+TsxXSSKUa8sUYEFZ63zxlMzPn1NMhT9KWZVo7KthfiVICgy0S
sNBdSvcX/1YUY4oNm2oUuLW4VoEmr72pOUSN0O81WJILz6Pd05YbEJMF2XtLFBXvWLIZ7PjOgpsa
TeOrzHAijtT+AP1Q4dCtCd7eunF2V+fT2WreJ0AgOLFXzypR886lMCLAFe2iCPhM1QyOUr5HT4qI
nXInpQOrinRcoKBXWq1h7gSJzXsn029LDVxB7vPIZjPkR4FZ8SUtOhf3cUpyOO7aS5HmoGII+ror
h6aBAHdYcjO17rgCwdnsdTeLtkTtVGAjxF9YhLyPHie2FXKzPI1wAbAkSLK6xGWfEXhcvORJdUOE
aym8oMCXcgHnWWUhQd4xFq+1PQ8fdd/pF4NxSRZvvGb6hOde99gT4QUQtCcye0EQb17pzry2htKg
PGUZWSfpexJVNBj5HLCFaJALHONWk3VLC0/MhSQnlB1fNBYY38Gho4uXxpZTu18SmGt6B8F6FWEa
5IVsrgwPH3Zf3cNUKP+gK1uwAP306fXsRbVyCD7brsCctMhQP7wfyQ0ZTQ3CetPnOcEH+j8quOUN
k07yu1G9c1i67pPFIDAvVoEYRgmXTa8ZuNM01dFzzQclBq6DIXGivvc+1OI1MNkHd9Km08nxpX4X
k3l5lE0PhVmF+ud/107040b056vkra1k9dl935D+ukF933T+9qfdR3X9UnzIX//R/4ebGsU/bBwL
ZOqfa6ZXH1H8kr9MLz9ua3/7wt92Nl98ccnomPhLWK8QPPmW44fs/vN/ef4XdijH4cPEC/nb3/xF
CXW+6AwXALYxiDVdXB9/3dmE/QXzmb1QqvCDGS6i/F+29t9lB04Fv231v//5T2VfLKblTi6orF9w
Vx53eWtZ7qFkQGdksvHzW7SH3+Ph1XH2AOSxr4oGsMzKY44NJYlT8rvK8vyCCS7zNdt0+jMsKY8O
GobiM1teaD40KS2NZec4APoXgBV5aZaGtT12qtkRtTYffOmaV7Sr6zeFptnI/PRYYVZWrFwr/Fqp
v8czC0QArG5TH3WtUodJgmy17SiG1xB2EYRXilNWg5ZzEoZXde8bfXPp9W7/VFv03JbcjjdMYgjm
l96dPkPJGEydAyEhKT+rMd5j62m5DzY1kp8pi4aLTBQd9RTiMABPYwZmL2uQFla8xCVyb2fNeYEg
0ZLLEYnYh7angsiezf2UTMleWI2/hl3Phb/IJ+d2xAt3j2/N241GNl6B0vAJtGIRNFGANiYgK2aj
ZENYp9cC31P9lVTL2N+FlQL/DRj2ziDu5bE70feGFkInyFEIwImUkYzDLUu2M7GeVlZ0hCOSjjt6
mQeTjSiPuIHg2I3wcIWKaibiZRgyqrQbEPTAdEEX8TXjduasNN1wo6SrAYQaTTCz3oTtHutwGx7i
GoPAodc7QvHhMPqLABgaw6bvHXve4h3Ln2AoNWR0irYTW2P2PA81WFhgESFpkLKe5QBgypHDzsW1
+87wPcLIXIM1LNve+IrBiR0FU320RVr89H2FaX5sTqL0xLFqyYlzRdX2mvKGJ9ehryHWw9OoaEFx
mpF4fqcKnIktldVTk9waSaZvHZ1RU5WHQGIaWx930irlu1kM7r4SWkzpyjAnRpBXyK2ZU3v3tpti
5p7cii20SDrvnBvadATAwNaiuI0lssvPXTY13C0XV0RVxjtSk9WF7tIJpkm8O3riXfTt5G+m2Zjv
wzIxtkNT2RcOjjyOZRoJJIjui/sOoLs8TwCP1rHhyBstMsLtiPvh/7J3Zs1xI1mW/kODNOwOvMxD
7NyDi7i9wCiKwuoA3OFYf31/oczqTiqzld1m0w8zNmVVZVXGlAIMAO7X7z3nO3JFS5HQgorwBroP
Gc1pxSQPE5A1VpdsIpA/C09vZllJxsqYzWi++/kDT2t/0dgeR1zbbfApznFenIHEGWGWJv1G9nCS
KjbZs3QYyxuY/sOL4d4mp1BKh/A/d5ohQY/ThBPFGvGCaJoGUgra5rm8VTOR2+PJsR/byyPJOfm3
wLXoGkeCXggIsr3I+oLvvZhpnKbqRcTGP0OJ2l+xvX00fY9aHu6C3GKgMDStC5pqWljlc2uN4f0I
LalcO5xTX5FpOd3WRh9/NmK1ppU99Zvcbb1taLn9lgDafkdGCUF0QK5QAgYA/R2v3FVTYa99nVYH
vHzntjQhK4wkWjOw+2eIZ2CyurQ6pjGhdV1b1OdqzuKb1FPJm09tYtb/f1v8r0wV2W9O84z/fE+8
fCu77O3b+PHRftoVf/9zfwwH/d9OWyHIF06O7D0xh5rft0Th/mbbzo8tKYg8FOD85F+HPec3lAbs
iB4zwghJN5fRNT/4j9FvLkJBl5+c6L4/5oY/bYG/2hJ/klqHJ4qkcDAhOCG0SduJfz7tQU/JNGEC
ZEKQ5iW7fTxG1WUq9SscX4phYbOgcP4rSLRIImwENMwfM5wml003IGgoXvpWX4fg9airh/7AkeEI
ilugZ3LyTdOTqaBacr90UD2biJYkgWnPI/DwmJQ2NO4uGRzgJhGRrYk0vfnT3fibDf/zefLHLwcm
0AGpSpwLsWM//XKEGmUG+JxP6mixcYJ+Vybfa90eKUd+f0X+09Li509ClkB1QyYZTlUUEtQpn2rf
1NKOGKT02ZgaOuI1cxiLeSZtmzbd/PqXOpVln+rs0A858jEfDhl0++HPdTZ+1lGynRB+Gg7vIlEC
vn/9RFoZlh1CDRMmiyCIhnJjq7DdCEgba86/w0ogGQaEPqKm7lGD5+KFf+qhruWVFaBNRkD8nFrj
RROKNzfb+EEbboKw+arxQ69RzYHyqRW6s1Qzq82Zpnk2gMK+O/OIs16Dj5+2BDaMGyRlb+GwvCiV
v3qKNb8q7eAfvu6/jB355dFY0z7Bh0Gx+UPM8aezRhIQcDV7hFM0UbTPCrSPEjham5ld2yT7uHlu
ZfhmodpwM4awSGLR+clvlZV9/Ppm/PigTy0Ln8knXC5GoL4L2oze0J8PPUQ9TalMA+JOzCksWCkQ
bJZ4RoiNMtap3queWMpiXuVVdYEM/aEJ5lumMGLPSLxaydi99Xp9X0z5ZgrU3k/F21Kkr3J2dksV
3P3DxZ7A33++2NN8lkUI4ouNRYQl5PPFUjhGVmmmbGvbRC8E8B+EPT74g32vrJDNLX8gqesM3M5h
IfI5V/ajlVEa9z4b/pTB0Cw2g4POENzCeiEJLAvDh7HV/j80Zv5yd7lOlEYuikxepYCV7vN1BnRt
wzwX1gaZz31LRvdulHJcqXECEdBfQJ93To1Xe+WHBtqDXl4Htdyj2dz2TFN//aX9dGQ4zbT/fC0/
jwDtsHUq8A/JJqmJrW4Jpokd+JoeQ3WXJsQ/fdyPNemne3RSO3GU5k7RofrpgcKjUUZLJeKNZ1D2
9Sn5O5FBVCBHngr/HmypiypbNjjFLXibJx4kxIQzhGWvYvY8puRJt01HyTkhrp9PI++0i3ey6B7I
CyovqMnBsSfxtEuC/DaWdr8xBZMQb7mMDEG0BbE7tKHpIWh0k7PboFmnGsMqVKzBJxKD56vLShHh
mswV8AbkBQcTQUBpAiYkELBoaOvU2xpvOf76RnxeYn+IC9gOTqRiJ0RrcNLLfHrTCDrtGsONWFCy
IJLbFe31VEQw0P5h7Ov+9TVh6OuxKaKZYP8Nfto2ApC8bp3wTnuFIJWn/KgDSlM/aoGbxR4Qqy57
KqaRjhUJSf18hz3/JSHMczV0yasmUrkOOqIpGELap7wF98EYTbJstf/1F/Jjav75Ufl8nT+1S22Y
aanbkhpHdtjl7Iy7rkQjArf4OWGDRstIhGeG9gAJTUbC1FRfaaCF66jF5r1w5ITLYV2Hfmdtp0l5
jFHz4Up3mkxgdywPQR1hF1KhTyC8Lh/70Qdsq8w1edwDmEdwBi24BSaOLQmZMR9MxjCe4GVm7Kh8
d2WN5DAgrTyd8Ey/r/3maTLFW3JKt53wArzOQf9IHk24gU0/fJekr62nJCXGplfpBYO9ZVfCXvn1
d/bXh4hqhxY7pZXDfwenW/+nfaM0MeWGV8ecbpNrAyo5IAU39wgTaN3drz/K+bvPouYgusn1aNE6
P/XDqOFV33lMsQZwYed9vzwteetdtDjAHlGI+yAdFUPt+apLv6eCkKCG7AsEhmywo8EpQzBHyE0J
9BFT7j9c3Omzf3p0PJzGfA3kolPn/vSIV8XgyCAiPK6QJLGmOxFYF4v68g/fwM+ViggFcVinNjuf
4TCa+Pxta5dZ7hBWKYBIQL6TmA5zQGYr9u39kmfNZu76uzFt27dKBV+Kcb4NCGksbEjUwieATS10
EpTOmcp10zHSQXYJWZOE7ET4/1BQ/N2VnnpCNJkgA0Mb+XylpsC2Q+B9sonChlUll8wEJDETTJNT
G1JhmImdbScXkWv+YX85tZw+3QmB8DSMQrqf7MrBz4vNEEmzNJxbN7IVj8koWGL0WsbEeNUuE19Y
GlL9w0c6f/eZxPa6SAzZYZF+f/5tYzkTXoKiZhOrZC/dk4M+b6fzFofgxs0p7SUjrnL4ojIfVmL4
5i6oJ5hkGwZ168xqmutoqsHKeICyxTovHn793Ph/WYBhpVHfUeAKMNNU7p+vb7KU09iusTYdMrG8
0PskSHZJwesC3w9EcrlUFz4P0Ti534sgO++X8BX82LQzYfKi1YJJPvRBiQzfiyzbyYlQ2QHMhlXm
xxHPYJuNbFUY60jteA/Zb7cCoNEAYfSs4cdL64/nBcBBYMDdBie62pVB9zFL+6Gf/Reno/2EqGvQ
eObSZIRviPDv19+AOO3yn56KyOUwz/QtDnh3mPl9/gbqPEdZDkpl0w3iwZXB7UIsu6hhM7S4I9ZV
bPQWaNVVO6Wo88mGqxp8iqjSu61JuzujxztfY66zsVQht/HXk6vZ4AVwKmk/C4XQQcZYZB1PX6ad
QWuCrWmjQNfrERoTiKhLAiZHxJ/JWxQ0IGDS6H7w4hfHza8cyImgjs40pLmhwNQ12nCcAD1/g0fU
wndV17qnKcmFOra8qbD5TEWBFYPxz6SCt8GYjeV5aB/rcW8M6cE4LRVnkO0UM91H1LHs/NpjUuGp
bQMOGiE99jAjpw2tlWmX+d3am0LAzjj43aB9H3V601TPYom3ufn4h1vxlzvhUS7zanK0sz3/55Wh
D4lzFyDtN567VsshEAe8wrg1QYn8ftP/GFoff7+9vx/O/31K8NP//d8PjeTfP48MPk0f/m+aK4QO
VbBvU1P/500UKFVvBnocQuzsUxflP/7wH2Nz/7eT+t8+yZl5MezQ/VcnJbJ/cwPaJaGwybjiIM5P
/jVcoP2Ce92OT67507vEtfzRSXEEE3W2QI4ZDn8Uf/V/Z7jA8/DTkxKeRrHsHS6OfgoMVNufags7
KQaSB4ZpJ/wmc3eT02nIcgVM5zk+YTa8dsE8rEuHnvWQngg7QiDM2viTO1krw1FmPVIBX9Z01VdN
37SMEhOpaJSK6r7MR+shcAhdTqEnH0NZZxdaCpsXNhBy300gg4VHZxl2SvYNxM+SrWMS8bKNyWBB
gPmsHlF6VLDlqxo4NFxtikM2pjVc/vk2BE3lrvRyn8JLRFR3qKRE2OMOMiDRWeuLDKnlemIE6O5m
OqDlOplQHCL1ma1xX7ujus6b+TT8rBb7nqNF9YxGLL1v3AbKku0WX1U0p1dzpTiYzNawfE2bOHid
MixGxvT6bUTgtY4daILQAHGoexXhaoVTunD1kvo4YXC9Iaiu2NYEsBH7N5GQYNqtQ1Yo9ZumTY8x
ErAeRLEFntxX0uImuaqbnjG8ifLyUuEW/zqGMQyAMq3ib1AO0y8u/edsXYiYlHfOm66zScEPI5+B
eRR7JXlUXj5xpErd84IbsIaT6q+ZGwwXuKce57xOko1wJ2qahYR6wtNqYHPLpOpt5jN239AXFFd9
OJLoXvvyw4ZxGSOinJHDq3romPXGc3e5xKeIz6AjGFFKeEzreDAplrg6NStGHE2FTHRMrwyiyvMJ
LdFLxgkYeyR0L/ukS2Rr85jIrrXVYEespJ8yX3Az0Hl8joMrGdG+HhkGl6lhOjSjjEpppOv4osli
xsNVZvffWl2P2c5zm+kACjLeC9iRoM/ScN66bd9AufGIrdhWPNZfDDXUscwL/zIJ++4hI0f2LbW9
DC2+qVV8YVIexTXW9/ZdyWB+IaWicTZBLn4oyHT76qCSgqHghKSZFEWt7x3mg0RtOWihlnaMLwtm
CkeZKbb8qM5IeYmnSN8yz5keO/8kXUukbX30bREEG5oy+pl6Rn4N0Q3uoZnxcyJcxoeuriElpajN
AT+YIptJgYGTwGgtqy9MgahurFyAdQzvUJuM4yP5f+0dfRGk/k59em9LdRBRZg1rvw2xb9JAJSYD
Ua5aJ7aLUoKX6/RHE7SSvq4qhAN5B/LYH/CFDUEeHisrsGDr+NVkP6W4gp9P4xPSC1WzACegEAPs
hNF6781RwCRSEXzd2XpkC1YkZSy01lZpEn4klbu8jCmOQcK7Ufl67w0gYhzCZaG/BmIiZpGW4fQy
ARHcqJ705hTK1MM09uRtR15yKAPfPa9lRSs3SA0/FpCu1Tx1T0snCCSkCPC3bgRPsZh+9IWW0Kxg
5xGRNbc1KnYPkdsUJYd5poko52XboI1eD5RgK5qDxMArjfDNFclj7BZyXRvaOhuguyFpND1U4tno
VpGlIBVnxBo5ur/kQI7lOMlm6ybww+nVqfyj6NvsywLn+cIuiYXfKuOBtbZ8d3y2eFHQzrqe7pHW
qP5FekWGitECabcqc2gfWFIDdUT2L+dd3Rc0I+SCONKxUEQbin9S5vqwv1aqhOY6g3o9M7LrnjtM
5tTZ9bdSDkWPrJZ1egCEeJHFZeZsI8iihIjE6ott3OJqiVzUtHE2DU8+59VLL8myF2cQxcnEgiy0
d60An+KUwKuSpHkDECHZ670DYHtIpXm3Ve63BGkMzTlbSVDit6zUN98izHJl6R72YG3G8Srve3KM
YrDZAV1lzA9gYfG4rv2xaOB0A/kQBzCtWbTqsFtSkdkxRapPjwTftyD7mqztlK7nAfSvOk/CvGYi
bSyMs4hRAFONVWn2bkf39tBI5px+Hhr7IEGmd+sCdzPdzApWJ2Jbr+r57W2fxB9bq+8TmarnNiEb
G8gHXb+KlonFCXb7fW3xunULbJINIhr1kosOiWQbR9GtabX7yDwS83CoSvfShsz8JdaDehZNEZ1H
wKhpMgpDmk1E/uVNa6L6JsQ99UXNAnoqwlMeH9ENlbebiYY6ZRIMV7MwJ7HM5KePDMltVEWNcL7b
ynaiC64wQ/eNURIPUTRHL4ZUD/BklQuuBaG6PCS4pVgYxiB8YG3Sl4OMi+sxadydFzkChZKbBevJ
IsODwF8gvljrK1Q5qskvizkRT/hosQk1k7wpi5g4EVe1QGKb/EiuF0lOi+McC1YkQGqZeuxTu/zS
xl67ITjwpUV+92DawT+W1exu+rLwDirghKHsxvpwi2YiGSR1sXWSOXpWEAVDjlTuJw/STsVRNPlD
09jWMWlm8t/xhWLmyIrySJyps0590NRrYAuBWbHfLdkWMDTUSPMjUWsWhY9ku4oYjuZt5bVvMPCT
3fSDDjUAeCZMAmRUdoJHmRNGCn/j8l5lTHOsH5QponyzmyasuktaNmLbjmFOgq9+kW267Kc+nvZJ
jilYIJp9Szgw0aIfy7tIjPUeGg0VNMEIO2WNUbjGLWJtidyLNnOfeQgGus7VV4I48NcqI7ZwhdVu
irZIHZxqR3owU9i0ZXHpvMg/I8LSPChCPQ+1pcn/wDu9NSe6rgS9nSMfLq213fne3mcBWgObHh4C
thZYXhXWfSgeeIwyvNTbxh67t8Upxquo8xKCkruO0NkGoXdqD+697fcQkHpsxiuTBgL88RDee0E2
qzXBNM5+hE6xL6Ipup4XOzUXhLqA8Y/trLoKC1G9tXOcvPQz6Q1GOPF3rUj4ZVemlIDAQw7U1oGF
ykls1haugrSvqyO6bbwPUFkJpHHkmBx0ZzDDGL+ZnxDtAwAp5/ZYtjVZZn4HzZ+gI8dj6kLRTDs3
zR7p6mG1QzLWWNdToLMLPy2WTReMSbL3GMQzoMr7eTyLE9E1BzMX4dNg8UbWMh/uGBSpPYkyzg1K
NRcyadAR1dSTBHYIa4JBQlmZl3QumxPMiBmMi9j7vFf2CdVc8q4uYP8vaUbPlxpBw7DGRNvfUsDi
LVLxkD1njtHpCjGpQYJXZt4DIYfqyXOL9ojlodyCncII3ocp0KnA99HgYYmgJtQ5HfFZim8ECTGC
N5k7X1uoxc7jtrb3GIMmQnZHY9EuEvjwIQM4mwhl9JvJYI2sUdmAUJvb4WvhVgXgbo8AsrHMYvho
y3iL9w9Qzo/fUvkC5ZqvhpeY47dXGKwqyxg88XKSn6Lyuj1Go4SwoOSXoKzuKsSSmwkwx2VMSiPv
bEJGeAk3YQ/pIQZeNQN/5EDLjaczGz+1jmYHSdoxLXEIu5LUB0Qwj/Teoes5TXMXN014N8iwveLw
Ul0SbI+XKwKrj+Owi95L+NfgFgjAWeOfCK6nKIQr21Vmeo1yMt/Pm8kb5gOTCkKds9rFiBim6Xww
tILekyqloVJjXwRMNFJcggZhyODqKL6uVbocHHauDwuzxAcMdo0fGogKps7FjvQmlCdhfzB4uYtU
NM6/oMR3d8SXFc+LBbHBjmXi7Ya5idnbsuHRKePsTsxudU021HJccs98eD82X50gV+WLb6ghUjLD
srn7OsE8vxLwoR70CMldpWmIDnUI37ImV9MWv07mbU9tb4SQIYa8YXG9m6gU48Y+YadInZqZv8HL
jBGr135ZHvq+WM6mQXUsGqqRBcIkN0DX66hpBXal05ABcMQo227ffUuZw9jo/KrpdXOby1E96XjJ
vnUqiA9Qm53HwbFhH5Mln57FzFXNziF7K4dhaNIzwOOLdVYSKHZwRT5BOwFts4J4YF4zDsmMIbUh
DizzZLsvwwjSOuDA4pIjQX4IIQAe2slWJdxE6NgOnce7YD6hLLIe8wBJCXIhsjwJgHPYgskh/fHu
XMoCt84wUcuBz3eaY3fipfWVd6puvL7YBza8oyjA2LUaiR66S3kyD6MT1l+jZpGvp1O24RM8WW0Y
8ln3dq97IuQc/VROaiazzZOUqmz468ADLdM6XcBPBpsSw3Kbi86e20tMrNUJ2Zyd2JNVU7zJptLZ
wTV5euM2ID0AebWCMZ1fFLd9LL/DlQw9Xhe5H3VVHC2dQ4qeq76BLBcEF1gsnGHFudJ+KIIkxpUC
6dmPFsgV1dyHJdlPAwVJM3jdeZczRtzgmPBn7AthS4y5stcAPnKLoymkezblHFKTNh23hjLelvF8
QaSEPjfsSG/48WGQ1nlCENeERLJbYZ8k7y8zOPpIiDPTbhkN4+WyC2Gj6EIMnNnKEJaxn110LokX
uhyWbzJywt0yTdKcykjZ0lAEecoUvszPYvgxH1NaNlepLllJLMLcbhUQxy8yOJ0pUCRWGN7YxbGY
OPrG7x3vUoYmObj2UB+GUnRnNTHXapfWcnpkuOvae1mEDXC3IXk1QNQU+N+F0PnYV+CJNZaOJ9FP
cHwGMSKK+9Gd+T/dpvp/TiSL5oJTMz595K38Dxd046/aWpdv397KTw2tv/0L/mhtwYJk3O2F+G99
BjOfREIBRAoG9zhGwAXQqv+js+URHysYHtCU/CFUOk1X/uhsee5vJ7AkvTCQHazpTA7/GxqhKDh1
rv6jG03bw2f8avOfzx0tv2JC5oCuPVSjkDtUdwTxFOxaMTNEiW7bo691Iaw62vee7jgTBOIcOSdu
1CE0lNIt7kxcA3MgN2Kq9CNaejL74mh+pIqLIdFQerZg9yWWVgAt8Z1si+5WlDZgRFHICN4RsMUc
lXiKwmbdDg6pHp6dNBx5lJt+HUhJainVGv+qcwPvnObE+DYkc012HS37rcadtwcipeVqCeCRrcGq
hfZhnNHmo0lMmxXjuWnez7YhtsGF7AI/rrEAHiCo84sNGbSFOi+iML9FuRrglFi0QlvZy3vgvhPH
W5CybAc6fHHnUh6nyZmt9TS4JYVIsVTVDt8aAwuqRftFFXNJ1qHHereOSyPuJpK38EkW3vBeBNZ0
HhfSP3fAPN+BP6u3Ksrdezco+ic70cERcbG8oy8f0q7w44Nftct+sCfiZ6xQJJcw/7zNzBB+Cy8I
O2A4WtFuQNGLj8bts/d4nLiPVtVl8bZywwFveTkuF60Vet/HZJjubbb+D5RFyHiTtFUvi1v6NzHh
Bc4264qEmZRfpF+EXzHz7XtpjlkbIzouGIRjjG+xOPckpO3LKsfmWCDM/CKc0HrEjYYCJxxZ7qLe
yWDJhWoutzlBB0dyz9yvhTMqardIrR0X/N9qIqXmCPvBghTV1lJsZZvEF1gkDIkyAHZWytP1QRBs
0J0RjEJiAQ1V80pMgqU3gd93H6lMpoeAMTXRpb5JsAVCs1yLpI+umlaH6EObuqo2JvbdfamKLr6h
XgDaRxVMDy+IBzLJZqtq8qtxEVMOnkk1PqQiTrc7CYr9o2ZayB7B0DLBX1GTTYxgoHLWVizJdsR7
174ufpU92y51FcegiZN3MIEJ4K2ZcROOlRwZrwvsy3yxOKxyXwJjBjnDdXp80IR5Ys7uAidTmm+f
5DbJyeR7XrRiPkdQkHyUSWgOCGN6572tBluuMh06WMhlsvBITbSwdoLw1uaIktm5xE9ZJ5z5quiM
Llf3TpTCtLV0S/aenUv+P+xs65Jk0gZ0Ut/Hr36zLMXRZPicVv6UBPjxZ/lFmdT/NtM8eGE7S8jh
4PTQbnAAn+Y8DV5i22LS5Dv1eNZmsMxRCYdMnHIrDP1TGEkVEehJlU16Rdrv5pjq4cSViz7iQYcu
MMqYXosguICSxohbu0+6syEcOqoB2eO7JFjja6yD7qkoMhue2bLsAoqwhnCkKYxWrY6HW4vc96dR
Bzjug7G5WBZH7Ygesdmyo6IlOWBIhq10yWKF05DR8mqBJm4tkttIBGF69TTLrryonRL5R1iEHYKa
xG+Q/Kc0umBxMDjkqeTYb4+kAGUBTqmhEOE27JqBGBUc4miYewpUQ3TCVcXp/o4zeBbtmqRpk20V
zNNepVawJ4HXPhNtSUPO5Ta+6LhcvmE2TcOta2zM5dJYBFFl6VXcBTB23cYXd6Ns8/thsCgbqiF0
zuwxXA4E3eu7PBqHmy516dq5Y21t0qavn0+a6+3AzHTXJUnyYHqWHLqH6UIg0wiZIIjbHKOYzXF9
8aPitc7H5qaodLDtVBrDnJqmsz7Ry7d+9qDgA91rnH1ZYrFdhcPMve/LNkMJxQz/pSWd+0UANxjP
iYCFkxdMQuMytc0X7g48MXtOHYJ9ydMcKqPmcyuYgMRhLiMuuomKZpPkFnMFu/OQeSdV0Xyt8GA8
GJ+OHQV6H5OXOari1Wn89jlQI4QBpfSpOd77oMX88DSkJhCHA6gRGliB29rtY1c4RXnnRrS4uCUe
i05q+3Dj8ay5F1kx2+Nm4OtftiI3OM/Cdh6mg1uNmIK1PXc0olSrr9LlJCEcCYECRZ668bVWovo6
Qe/7nlm62bSdnT/AQ0XfGhM+RrO8KiPQtrA81xXk0W0yO1iA0cXmB7+2+3RjNWo69wcFJcSbk+q8
Hwc6WcGAS4tZrgHsWLhDt3FSps1DlEzHsVUeCNKZUekAN/LMMSjhgRGQRjRJJ5h2CgPgpacdi649
+a4Hm7bsfphudD8t6SrD0ETUWjcslzPwvm0vAa+DXPRtbCTkS34VqqzptHgXhBeM/aqoCBEEEjmo
27YR3RMJOOM5fVbbW6ezwVvelfYA2hB66yY1ojnntQnIqcZSQGvXdAcG+8STVEtIKnv1UkVMG0wI
YLYoVUwGaR1X55l3Gus6hVYlhoQksGlaLjXrECQf7dwR1HvrOg1RZDYldsVuwEZNz6fCqH2RLs20
niViK5wQ5q4mY/U7QEmywFPjnYTFb4JJ9mahQ3pYRg+vj+m6L94UeIeoRD0KUJnwcgPu7EPl0Dc4
ugwgR9F67spq7Kf1IqL23AFtsA3nvD8ksbMwZsmZhW3GvMDD5ilzCZvfRsmclFdVwEK+LcaaHqAz
kSm39iPH6hnrOQk0R3LW9l0xA8VbclWeLTkmGLfwq/OJRw1noSkuljj3LyB5RAS5oa56jnnO6NjU
0Xs4JyQxgr9QN76sorta2uJQGFM7jCUSGoWT5X4D6O9uEEbWt8QrASKqltzfyjL1D3Zg2i92TRzT
2HP7m1gxJcKeIEEylUsHGSSFsCcKcV3Trn93csZfW00jcx1q03LAiIP1gq77QdGfe59Spz2GeKSu
al2Q1jqWRXrdBZ3Yeg0RnmPwg1ZTtaTlLoErXuXiFfMaHNP0JfRzfKI4GdKPJFPZjUws75J+v5An
hKDqSaQ0yKfJhO9fsLCKrSDyBbu9NwBTtZP0Rdgnll+aD9OrRVLWa9n7IKwKU0yPLQ3ifRa14uaE
ojmPp7H8zvXqo0i7+Wu89DmRDe3cUZ7luuJkpCPzEM8j4pqiG4NiQ8M7gjESzPNtlOpox/RrfFzw
O+4EtI632A0pNdoO+8rKdAmYlUQT27l2lZfuuVXjpZOm0IRFnujbXHuhonw50anMUrFSMVYz1bbl
VJifi8Lqm31vNF6kVhuCuqKY8eyucjLnGpIUkB8xYqJ1O7ucibyTg0PvIKI/ntOkuYBetRBT7E+d
AVQQA9CJFnvx1sguQgJF51G/jERHFxtN5ht0jKVKrvLQ9ciHM2F2xhMSL7RDc/OWZoJNbYT5d1cO
gu8fuY0/ruje9QeXkdKj72fqDgYOPmzNeYjoNR81mzPQ0ULzdZF3QXTjkLj4kTsQNlc8BTUBDcEJ
aiKIEwe4iGjrnqN9Tg96piRYjbrL6i0R0y3RzhZHmCN+PGIZxiHwD6JyG/CWJRnSbG91hDGLrWK4
cvOOEDruQpquya4S+9Ax0V1FSrDaLPgVIHPElf8dZG0cbGoMYF/iwJrpa1v2tyiq+v6A0pGdvNR0
YChWCxLjVK+mloFtwUizM0iZ/Sr97hIOdmeWtmDyR+LqjhqTjqMf5dtFNPq2j2q46kKzRNVdFBK3
DneF8b3jbuMsilin+hIYRtglb/Go3Du7psTYUvXG1lrLOKi2UxtOJfV1ZX2vehjhQvf6LF74xVcL
5iqSKuppq4XHa+KzL9PLnXpnSzZ88+bFqnWPxZBW22QIsYG17nRs7IrGZt02o0sCmk6yFU8VURNS
ZcekKv0zr4zSm9KWTETnsBMOJyAXna72RrTxgr8yBTTvc02O9ghNHUUEYytOqu8NAOk7pvA4tyoa
HpsqUYSnFUQN0lngJuvJop2ozTZMPECJiU0FuJpTTehhbcyWbiHPYgvoZxXYafuWVZa+KKeFOJvJ
WZYDAdnx99kXybxPLCmmK6fIrYfBIodtFWVdcJYSqMuRjDOnu8dFlpw3PNPvpGWdmD++k96xc0O6
9CCqXoCvqs9aY5ftimgSb28zKFsPSsCcZg/ZptpVW/g/JST2QixnfsGg2rLh+MSNBfgHFeIVF+2f
M9VGG0Wq1JaeDTNPJ/csXpqqWYmRMDy4OaSOFzB8YF6X/V3jw+1aSa9q4DPhtlzR+stvhQ2txmlj
YqTQXxI5LV3KqaBMtsQrf6VOjfc27+QWt0+3RW6UvmLkN19n2w68lZU7ySad3fI17Rpxmy4OgQec
DorzEWv9frGkXM+Mbx8monvoLDovyB6y2yDXJ5XpJGgqh8FE8NkwHvy2Si/CsC353sP8PMoqktBp
FQZQnG33SemFqRFMcJTCuSW9XUaeEs7931vraUE1W+b214Al5pBTlm5LXpzuaqyrnofI43CsIfFB
L8kLgoW8BTAoIyRysmXePBAnF+0o4cJjGE7+vb8wxBJhZx2bjoEH4UR0pdIC94myyKVasfK6xMJG
CPGmIXvg1UteMvzwLG1J37I8AsVfdT2hd6uqtuU1I+nsnLFreMRdivRMRdHMDCS0y6vA8vpDRpf1
OneXCTZhXRQ3uiJAfhPY0togdQAOLtO52yR9Ye5pTedf+qofjqR9Bu+8u87RyXT8oRi973RMHNcq
dGdEA9boO0+uaajqnbI4Y/5aXAnbZoZhD/QypGG9YmaLQLSPZHFW1X226WspsU0paDaxNZ25LYac
pPKnC6vily1PSQ0wlohpZLTUgMurvP5Js9URGAhcFMUpc93cxqoJviV6MNjmS4KQWhe5CHi9HdFY
7Trz3OmqAfN8yh8c0fv7IqsfHOngSvQHgnh997vgMAhDTpVdt5kYcWDjmcTjafvcDmUZ1XfV5I8k
L5IitEkX1US7fmgMETrTvP5fHM4rKN1edfCQbJNpqSdS9kICK8kWz4KbhS2l31RxQfj3/0ir8X9A
EfdHN/Rv+TH/7q87/fSH1/yh+Qtk5r/0D/2rKff3f9EnIM075zWjwdukeVN/ksmd3DOf1HU/LukH
DOdXf0P1BjOn//aBTZ5uYeCi3Dqx+U7/Qj1XNXX6x49F/BsNTw7q/8bc2fS2bQRh+K8IPvRI8EMU
SRQO0MRAnQR2g9ZFzxtLiGhLckDJBdxf32e4S5lLUbaS8WH3ltgecofzvTPvMjffLlv27HHoGA9e
3t4hUs8hHW8DZr6uNzKZ3NS3O48FOBfmF6lansKHAZkeH4qImSjGLfPEbtTnQzWjkxAcVyrAdtHv
z/NC4sOMAVPqnCcKxFFG0BhZxrEALsBSXxJi0O8ZycIvybIcD4kD40AWRzTiKAOAnQAQnXo/XWd2
eXyokihtG9OZ6u1+HJgkoBGIqlYQ0pjZ5SqlPZbRor4gZKgC846M6FtN4cfBMUAQTYYnND8sCNOI
YBvrl3VK7/GhyoB3Bs8k5wAmTEGQoxutWZzhHmQKPZFxIVk+D1LAx2idi6XnWZYVuoCMQgp26xto
Qs7xnwzL2F36TChpTecyNqDbKqsQnMWFqBBTetZ5LzvWvo86DmOF45YxZqPtFvEQsiDYNwwIQyb/
WwYnBTK/wWyXcv9JGslwLlAJvkUE+IjJatrle4YiMAEAzI85K9XXz5KI029QnLpIcfD1i4iz8TTJ
Zk44AoyQmHhTMgG0RabSS+ZFfBEoZoynMLY1TURCREjaBwVkCJmbbsdxsF0qMUizCNQFIgNQS9rl
h4kl0RNcYGzKOYzwogMQNJU8SHKQzvIcnzgaGZA0VTMiSDo5LIuCs4ekTBIhWRVVOAQBb0to1GX0
wS7PIVQ4RgYV6VOxOuFGwQJUCm32mBErUx8EkMQlBb5SIBAA2WXojGNTiBFCXHDTjlIxMA4CYMtB
oM+A1kMy6cWcQNAaoQ4REATYSMhcOj8wcJLg+JZAGhZcxNKu4KxjCqyUNk5KZ1EO9kGakR/Z5ZkF
bsyhcS0BtJgKqazwtCHLS7UqVBFolyTP7K4fJJNQce0T8M+hhkmcZcZaCUANABrCAaYkoP3d5xER
ErAQTFS3K0TPKIZQnTdnjBcDNZoKgFePAVSPGBPG83ZBdHiyn9M1qnQDWUYQWFRcXjUaFxS5FFPx
ld2PA0wVUpkVVwXKCeWjhDrZ1OXMw2yZijI8SqjYBqoKBXYgzWwio4gRSZrpjwDQwm5zUEEqEuru
BcFRzgV8sizbA4oRs0rArlWiQEmZT12CAiT1EZYfFZAzca5AH2QVXtYICKZWEQgKc5mZzPPxshGg
liUwl2A1WgkIzidkMeAOWhHgfIlwh9mBTg88v1CW0bTA7yACVkKCM4lUwgWIVKcHM1tCAkzFroEe
xLiNGZagKy2EJwmgr1qPrTCIEv5SHGB+wxeBIgItS0ZArBoIEjrcDskSihlXikCSRALhF3MZnLf7
AgXgKkHS5OAcwJR7EbTZQFJF0zyNBQJ4TPIpHyZxWWWpS4/D+/YSDDBbpv36ubQTEBSnXSXEF4Jp
JKiu4Ny4YCA4FRi7AehHzxVRgRJQL7ouna33rSDFItqjJQ9/NpJh2QFbPRTgNp03KKMZ82605I7X
SooIYztlyM3FBcG5xHbyTskEhCEtMPrAYByowpSCHOfL7RNOcgMn/NK+NQnEiNW87VyqF9ve7Vmv
/kJ3gnhIwDXsfJyfn9Eqv586bH/x5un7wpJe7NHX33knja2n6/2w83z9P3cbPHz06Et1/3lZLxrT
3C6f2u0+udeU+1nOz7j2ecl10F8aM19sl15jUXtO8PxC52fe6/a++4v0t1uz7pO1h/Jasu/rpWn6
ZG2WoiV7aZonszF9womthakp12tzyx0yo5y2p5PaR3wywJJNfjHr779OPpstsAseh0i+pLChfcpn
02xo/bv3mcTBJ3GLmjZyuhoQbs8stYRfuatgr5E/J+NXZr58Gtchmz5qX/+Pec1VCx1/xb64tg4t
4Zfv61Oy5cvj5s589d7alla1b/2nuTOMJRivFdQV7rW0/6rv72vPYLnsV0v4xqzr1eTazB/7HOGc
WFIKLfG/dzvTjJkWl7Vq6f+z2O4m7xebb2bVvaxIISP7kg5qqV8ZjDkGa9d4Mu7yDi313x/voL7r
XlPee1/ZU9N+8N54nyRo6eKVzdpsJmYzn1zXtw9f+boftyv+ufX34dp61M9rHjfH3dO+w1j7mKv6
v4fGDweIpd3Bq5b4TcNkoC9BjvgbeKYLMydKaj+HAat1cmn+Xazq/rdon9V2nWo3cs0T5FMPqLuG
BS31K7MRPo0QfwM2vXZPntKjXCxWyyHTYYtkYlq2XOz1jTmVjlwbybetItI7qH3EBzwWt1UOkX4t
/TeIzE7BElZ+gNbPgOwylE7XW0UKp2XSJ1zBUfqcJWrp3yxQrW/DGP95dkBL/1TkG+WHGLdHk9/w
F0clmQNZag2gBtLTzq0M9uKgl/c7lm/uS7KHWWg31TL2Z36KLb9xu1qY5t3/AAAA//8=</cx:binary>
              </cx:geoCache>
            </cx:geography>
          </cx:layoutPr>
        </cx:series>
      </cx:plotAreaRegion>
    </cx:plotArea>
    <cx:legend pos="r" align="min" overlay="0">
      <cx:txPr>
        <a:bodyPr vertOverflow="overflow" horzOverflow="overflow" wrap="square" lIns="0" tIns="0" rIns="0" bIns="0"/>
        <a:lstStyle/>
        <a:p>
          <a:pPr algn="ctr" rtl="0">
            <a:defRPr lang="en-US" sz="900" b="0" i="0" u="none" strike="noStrike" baseline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defRPr>
          </a:pPr>
          <a:endParaRPr lang="en-US" sz="900" b="0" i="0" u="none" strike="noStrike" baseline="0">
            <a:solidFill>
              <a:schemeClr val="bg1"/>
            </a:solidFill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cx:txPr>
    </cx:legend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96">
  <cs:axisTitle>
    <cs:lnRef idx="0"/>
    <cs:fillRef idx="0"/>
    <cs:effectRef idx="0"/>
    <cs:fontRef idx="minor">
      <a:schemeClr val="lt1">
        <a:lumMod val="95000"/>
      </a:schemeClr>
    </cs:fontRef>
    <cs:defRPr sz="1197"/>
  </cs:axisTitle>
  <cs:category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</cs:spPr>
    <cs:defRPr sz="1330"/>
  </cs:chartArea>
  <cs:dataLabel>
    <cs:lnRef idx="0"/>
    <cs:fillRef idx="0"/>
    <cs:effectRef idx="0"/>
    <cs:fontRef idx="minor">
      <a:schemeClr val="lt1">
        <a:lumMod val="9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3175">
        <a:solidFill>
          <a:schemeClr val="dk1">
            <a:lumMod val="65000"/>
            <a:lumOff val="35000"/>
          </a:schemeClr>
        </a:solidFill>
      </a:ln>
    </cs:spPr>
  </cs:dataPoint>
  <cs:dataPoint3D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</cs:spPr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lt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9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10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95000"/>
      </a:schemeClr>
    </cs:fontRef>
    <cs:defRPr sz="1197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lt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95000"/>
      </a:schemeClr>
    </cs:fontRef>
    <cs:defRPr sz="1197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95000"/>
      </a:schemeClr>
    </cs:fontRef>
    <cs:defRPr sz="1197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496">
  <cs:axisTitle>
    <cs:lnRef idx="0"/>
    <cs:fillRef idx="0"/>
    <cs:effectRef idx="0"/>
    <cs:fontRef idx="minor">
      <a:schemeClr val="lt1">
        <a:lumMod val="95000"/>
      </a:schemeClr>
    </cs:fontRef>
    <cs:defRPr sz="1197"/>
  </cs:axisTitle>
  <cs:category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</cs:spPr>
    <cs:defRPr sz="1330"/>
  </cs:chartArea>
  <cs:dataLabel>
    <cs:lnRef idx="0"/>
    <cs:fillRef idx="0"/>
    <cs:effectRef idx="0"/>
    <cs:fontRef idx="minor">
      <a:schemeClr val="lt1">
        <a:lumMod val="9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3175">
        <a:solidFill>
          <a:schemeClr val="dk1">
            <a:lumMod val="65000"/>
            <a:lumOff val="35000"/>
          </a:schemeClr>
        </a:solidFill>
      </a:ln>
    </cs:spPr>
  </cs:dataPoint>
  <cs:dataPoint3D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</cs:spPr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lt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9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10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95000"/>
      </a:schemeClr>
    </cs:fontRef>
    <cs:defRPr sz="1197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lt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95000"/>
      </a:schemeClr>
    </cs:fontRef>
    <cs:defRPr sz="1197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95000"/>
      </a:schemeClr>
    </cs:fontRef>
    <cs:defRPr sz="1197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798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494E4-08D6-3B01-88E5-A477D15C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E70F7-0780-E912-0EC7-36A936B1A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7B70A-C328-E2B2-6DA7-54835BBDB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103C2-FB6E-0717-0ACA-C2DD786F1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305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07153-5527-2891-B931-DD6B183E3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BF65F-E72C-059E-2CF9-560C1C2F1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0EFC2-729F-9768-A3D2-342E556CC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ABAB9-6C74-7F2A-6A87-1A1B001C43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54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5F79B-41DF-0B51-EAB9-66E6C1B3E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9427E-A85A-C181-1816-CFDE16DCC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3C575-ED6E-2220-F09A-71C5D48B3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D344D-92EA-A45A-5DFA-8CAB95215D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806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14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15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16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 panose="02020603050405020304" pitchFamily="18" charset="0"/>
              </a:rPr>
              <a:t>17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D377-F2AF-E80A-8254-3D932BDFD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3BEAED-00D1-3DDD-8733-D2D2835AB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4E93E-C0D5-0EB3-D653-E9C641DD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D5C6-2010-464C-A046-5C59D7CEE50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A2D9-664E-6D34-BF9D-D10B46DBB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F0480-B95C-9F69-FF5A-BE896209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880A-D121-4C81-A55E-C02C68F85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980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29F9-A31E-1E13-DE47-C16618F6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72933-F4A1-918C-31C3-11BEA2ACB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934C3-2969-90B8-CFF5-3AC3356AA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D5C6-2010-464C-A046-5C59D7CEE50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D8890-70EF-E488-5344-453B31108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86C1-B224-E43D-4AFF-9CAF55B2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880A-D121-4C81-A55E-C02C68F85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230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CB25E-9F18-25E1-46AA-C90141AC5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CF28B-3D8C-07BF-6A00-B5069EED5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5927E-BED6-F368-2DEF-7BC867FB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D5C6-2010-464C-A046-5C59D7CEE50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05C8D-F3DA-48A7-4036-9B6571249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AD45E-B53A-7967-B066-5EE97300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880A-D121-4C81-A55E-C02C68F85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40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AAED4-A578-5F25-FECF-966EF7964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45766-C196-CEC4-26F8-526CE9B63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9FF85-3202-545E-4E69-EA48977F7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5C145-5EDC-4E40-D833-6BBEF8D4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D5C6-2010-464C-A046-5C59D7CEE50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43E05-2556-E2A5-0C4B-C14954045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18BD0-AE7B-A59D-226B-9A8F17A7B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880A-D121-4C81-A55E-C02C68F85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36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882D7-CE2A-E8DC-61FC-470A6141F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4F29F-5BE1-0EC4-34C5-ABF0A4C12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2F5C2-0C8D-C49C-C373-15D4DD988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25C2BD-4A89-63D9-C5AC-E48D902D2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01B3B-9E04-A093-D432-22FA0BB05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DFE767-A601-F465-BD74-609B2463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D5C6-2010-464C-A046-5C59D7CEE50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107BAF-B280-EA82-A813-EAF50F0C7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406E96-F7B6-4516-CCF5-BD4D78113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880A-D121-4C81-A55E-C02C68F85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909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C99A-619B-069E-5F7B-34CDF0FB6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1B9FF3-3A98-DAEA-81FA-EB769047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D5C6-2010-464C-A046-5C59D7CEE50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38713-DA01-8E1E-EE4A-A49AF6D1C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C8779-25EE-2319-95EC-F08A91419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880A-D121-4C81-A55E-C02C68F85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054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EB8C27-9FFF-7854-0BE6-36D91687E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D5C6-2010-464C-A046-5C59D7CEE50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99DF8-8C30-FC70-A43D-2FBD28E3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10EF9-84D2-1DA1-B838-A0E1A271E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880A-D121-4C81-A55E-C02C68F85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183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A9C63-0766-8689-4CCE-F0AF38541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CC133-F6E0-BB77-EE6B-719508A23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3A3C8-F54D-FF44-645B-23AC5CE82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F0B5A-E570-1521-E605-94979952A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D5C6-2010-464C-A046-5C59D7CEE50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AF51D-6E4E-9ECF-9A0C-02F6445C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4280A-4BD2-E187-F0E2-D2BB2D73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880A-D121-4C81-A55E-C02C68F85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10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D7896-C08D-6764-E77A-8111FAA9F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7CE866-44AC-17B0-F2EB-7BEB50C81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362E0-E6E8-1764-EBB8-AE84AF516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5CD53-1621-A3C1-0619-85BBF187E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D5C6-2010-464C-A046-5C59D7CEE50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A01D9-A64F-74A5-8D3C-E6EB39986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0A221-665F-8A43-443B-E25012A0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880A-D121-4C81-A55E-C02C68F85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41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C7710-566E-78B6-6DF2-CB328AD27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AF7C9-159D-D5E6-B0A7-37DDBA931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7F5D7-F05C-2C71-1A69-5D4DA3AF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D5C6-2010-464C-A046-5C59D7CEE50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8540D-C544-7DD1-582C-4B14FFBAD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E800F-492B-EC9A-0BB6-DA30E2FF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880A-D121-4C81-A55E-C02C68F85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31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B3E6E5-362C-7EAC-76B2-D688DFF1C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346C4-83A1-8BD9-B2DB-C32918511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DEBCF-7B61-CC2E-ADBD-92FFB1B52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AD5C6-2010-464C-A046-5C59D7CEE505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0323C-5ACF-B63D-9A5F-A56420D7D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01EB9-B10C-245B-14C1-860FC2644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880A-D121-4C81-A55E-C02C68F853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161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1C43537-6760-2F75-52AB-54BE6BBDE7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41" y="0"/>
            <a:ext cx="5241203" cy="5143499"/>
          </a:xfrm>
          <a:custGeom>
            <a:avLst/>
            <a:gdLst>
              <a:gd name="connsiteX0" fmla="*/ 1280254 w 6988271"/>
              <a:gd name="connsiteY0" fmla="*/ 1273629 h 6857999"/>
              <a:gd name="connsiteX1" fmla="*/ 1280254 w 6988271"/>
              <a:gd name="connsiteY1" fmla="*/ 5584372 h 6857999"/>
              <a:gd name="connsiteX2" fmla="*/ 5704296 w 6988271"/>
              <a:gd name="connsiteY2" fmla="*/ 5584372 h 6857999"/>
              <a:gd name="connsiteX3" fmla="*/ 5704296 w 6988271"/>
              <a:gd name="connsiteY3" fmla="*/ 1273629 h 6857999"/>
              <a:gd name="connsiteX4" fmla="*/ 0 w 6988271"/>
              <a:gd name="connsiteY4" fmla="*/ 0 h 6857999"/>
              <a:gd name="connsiteX5" fmla="*/ 6988271 w 6988271"/>
              <a:gd name="connsiteY5" fmla="*/ 0 h 6857999"/>
              <a:gd name="connsiteX6" fmla="*/ 6988271 w 6988271"/>
              <a:gd name="connsiteY6" fmla="*/ 6857999 h 6857999"/>
              <a:gd name="connsiteX7" fmla="*/ 0 w 6988271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88271" h="6857999">
                <a:moveTo>
                  <a:pt x="1280254" y="1273629"/>
                </a:moveTo>
                <a:lnTo>
                  <a:pt x="1280254" y="5584372"/>
                </a:lnTo>
                <a:lnTo>
                  <a:pt x="5704296" y="5584372"/>
                </a:lnTo>
                <a:lnTo>
                  <a:pt x="5704296" y="1273629"/>
                </a:lnTo>
                <a:close/>
                <a:moveTo>
                  <a:pt x="0" y="0"/>
                </a:moveTo>
                <a:lnTo>
                  <a:pt x="6988271" y="0"/>
                </a:lnTo>
                <a:lnTo>
                  <a:pt x="6988271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1344" y="952159"/>
            <a:ext cx="3318032" cy="3233057"/>
          </a:xfrm>
        </p:spPr>
        <p:txBody>
          <a:bodyPr anchor="ctr"/>
          <a:lstStyle>
            <a:lvl1pPr algn="ctr">
              <a:defRPr sz="27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746DDBBD-8B96-1107-F176-E8783973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9792" y="-6125"/>
            <a:ext cx="1387929" cy="961345"/>
          </a:xfrm>
          <a:prstGeom prst="rect">
            <a:avLst/>
          </a:prstGeom>
        </p:spPr>
        <p:txBody>
          <a:bodyPr anchor="ctr"/>
          <a:lstStyle>
            <a:lvl1pPr algn="ctr">
              <a:defRPr lang="en-US" sz="825" b="0" i="0" kern="1200" cap="all" spc="113" baseline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fld id="{911395C4-F96D-4D38-B238-081B6E676AEB}" type="datetime1">
              <a:rPr lang="en-IN" smtClean="0"/>
              <a:pPr/>
              <a:t>22-02-2026</a:t>
            </a:fld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595937" y="955222"/>
            <a:ext cx="3195638" cy="323305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350" b="0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buNone/>
              <a:defRPr sz="135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buNone/>
              <a:defRPr sz="135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buNone/>
              <a:defRPr sz="135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buNone/>
              <a:defRPr sz="1350" b="0">
                <a:solidFill>
                  <a:schemeClr val="bg1"/>
                </a:solidFill>
              </a:defRPr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4AF3CB2-519A-D56F-36E2-FD3001981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6773254" y="4188278"/>
            <a:ext cx="841007" cy="9552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25" b="0" i="0" kern="1200" cap="all" spc="113" baseline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fld id="{D57F1E4F-1CFF-5643-939E-02111984F565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007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07A541-14F8-BAF8-B239-12D9FC294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3F02A-ED9B-7017-1C1D-11432F03A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EB402-DCD2-9EE8-B718-5D89D56FE1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550AD5C6-2010-464C-A046-5C59D7CEE505}" type="datetimeFigureOut">
              <a:rPr lang="en-IN" smtClean="0"/>
              <a:pPr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BE62B-E458-F3EB-E226-3056404CC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BC78F-AED2-2509-A00F-C9C919119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B101880A-D121-4C81-A55E-C02C68F853F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1031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4/relationships/chartEx" Target="../charts/chartEx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0389-023-02010-3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rgbClr val="16191A"/>
            </a:gs>
            <a:gs pos="42000">
              <a:srgbClr val="505D68"/>
            </a:gs>
            <a:gs pos="59000">
              <a:srgbClr val="696D70"/>
            </a:gs>
            <a:gs pos="65000">
              <a:srgbClr val="505D68"/>
            </a:gs>
            <a:gs pos="97000">
              <a:schemeClr val="accent3">
                <a:lumMod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594B0D-F7B9-D7E6-E0AC-4E96A064B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753DDC-BACD-3E0C-E470-9B5DF758C7A5}"/>
              </a:ext>
            </a:extLst>
          </p:cNvPr>
          <p:cNvSpPr txBox="1"/>
          <p:nvPr/>
        </p:nvSpPr>
        <p:spPr>
          <a:xfrm>
            <a:off x="3620125" y="695237"/>
            <a:ext cx="5250305" cy="1973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lnSpc>
                <a:spcPct val="150000"/>
              </a:lnSpc>
            </a:pPr>
            <a:r>
              <a:rPr lang="en-IN" sz="21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Examining the Risk of Substance Use and Lifestyle Factors on Cognitive Decline Among Older People in North-Eastern States of India</a:t>
            </a:r>
          </a:p>
          <a:p>
            <a:pPr algn="ctr" defTabSz="685800">
              <a:lnSpc>
                <a:spcPct val="150000"/>
              </a:lnSpc>
            </a:pPr>
            <a:endParaRPr lang="en-IN" sz="21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EAE6B2-9D3F-EA13-1C0E-BFF3C8951B3A}"/>
              </a:ext>
            </a:extLst>
          </p:cNvPr>
          <p:cNvCxnSpPr/>
          <p:nvPr/>
        </p:nvCxnSpPr>
        <p:spPr>
          <a:xfrm>
            <a:off x="3700697" y="695237"/>
            <a:ext cx="3372787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9EE477-7496-73B3-6745-2619DA075567}"/>
              </a:ext>
            </a:extLst>
          </p:cNvPr>
          <p:cNvCxnSpPr/>
          <p:nvPr/>
        </p:nvCxnSpPr>
        <p:spPr>
          <a:xfrm>
            <a:off x="5387091" y="2383505"/>
            <a:ext cx="3372787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32F7F3A-ADCC-AC31-309C-21D88F68DF07}"/>
              </a:ext>
            </a:extLst>
          </p:cNvPr>
          <p:cNvSpPr txBox="1"/>
          <p:nvPr/>
        </p:nvSpPr>
        <p:spPr>
          <a:xfrm>
            <a:off x="3620125" y="3692496"/>
            <a:ext cx="57356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</a:t>
            </a:r>
            <a:r>
              <a:rPr lang="en-US" sz="15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</a:t>
            </a:r>
            <a:r>
              <a:rPr lang="en-US" sz="135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|   Data Source: LASI Wave-1 (2017–18)   |   N = 7,790</a:t>
            </a:r>
            <a:endParaRPr lang="en-US" sz="135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C1EC0A-89D8-0F5E-E0E8-0CE8F0212101}"/>
              </a:ext>
            </a:extLst>
          </p:cNvPr>
          <p:cNvSpPr/>
          <p:nvPr/>
        </p:nvSpPr>
        <p:spPr>
          <a:xfrm>
            <a:off x="3620125" y="3377094"/>
            <a:ext cx="5250305" cy="1124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prstClr val="white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264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OVERVIEW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9728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 | LASI Wave-1, 2017-18 | North-Eastern India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384048" cy="384048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1353312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 &amp; Motivation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" y="1856232"/>
            <a:ext cx="384048" cy="384048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  <p:txBody>
          <a:bodyPr/>
          <a:lstStyle/>
          <a:p>
            <a:pPr algn="ctr"/>
            <a:endParaRPr lang="en-IN" sz="1200" b="1" dirty="0">
              <a:solidFill>
                <a:srgbClr val="FFFFFF"/>
              </a:solidFill>
              <a:latin typeface="Georgia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8680" y="1866112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North-Eastern India?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1480" y="2404872"/>
            <a:ext cx="384048" cy="384048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2423160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Conceptual Framework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1480" y="2958084"/>
            <a:ext cx="384048" cy="384048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465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8680" y="2967228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&amp; Methodology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11480" y="3522437"/>
            <a:ext cx="384048" cy="384048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68680" y="3516762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Descriptive Profile of Sample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8680" y="4087368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Results &amp; Logistic Regression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54880" y="1563624"/>
            <a:ext cx="384048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5742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12080" y="1612234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Comparative: Crude vs. Adjusted ORs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54880" y="2202180"/>
            <a:ext cx="384048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19944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212080" y="2215633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Predicted Probability Graphs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54880" y="2807208"/>
            <a:ext cx="384048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82733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</a:rPr>
              <a:t>09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12080" y="2842575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Findings &amp; Discussion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754880" y="3410712"/>
            <a:ext cx="384048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212080" y="3438144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Conclusions &amp; Recommendations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754880" y="3986679"/>
            <a:ext cx="384048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97033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212080" y="3991619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Limitations &amp; Future Scope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2088659C-90DC-DF62-3939-2A42F8B725CA}"/>
              </a:ext>
            </a:extLst>
          </p:cNvPr>
          <p:cNvSpPr/>
          <p:nvPr/>
        </p:nvSpPr>
        <p:spPr>
          <a:xfrm>
            <a:off x="411480" y="4105656"/>
            <a:ext cx="384048" cy="384048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099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01 : INTRODUCTION &amp; MOTIVATION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041548"/>
            <a:ext cx="109728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 | LASI Wave-1, 2017-18 | North-Eastern India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29555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PRIMARY OBJECTIVE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Examine the risk of substance use (tobacco &amp; alcohol) and lifestyle factors on cognitive decline among older adults (45+) in the 7 North-Eastern states of India.</a:t>
            </a:r>
            <a:endParaRPr 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2212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QUESTIONS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1480" y="2578608"/>
            <a:ext cx="8321040" cy="621792"/>
          </a:xfrm>
          <a:prstGeom prst="rect">
            <a:avLst/>
          </a:prstGeom>
          <a:solidFill>
            <a:srgbClr val="243C5A"/>
          </a:solidFill>
          <a:ln w="6350">
            <a:solidFill>
              <a:srgbClr val="1E5F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78608"/>
            <a:ext cx="457200" cy="6217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7860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RQ1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0120" y="261518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 smoked/smokeless tobacco consumption independently associated with cognitive impairment among older adults in North-East India?</a:t>
            </a:r>
            <a:endParaRPr lang="en-US" sz="1250" dirty="0">
              <a:latin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3282696"/>
            <a:ext cx="8321040" cy="621792"/>
          </a:xfrm>
          <a:prstGeom prst="rect">
            <a:avLst/>
          </a:prstGeom>
          <a:solidFill>
            <a:srgbClr val="243C5A"/>
          </a:solidFill>
          <a:ln w="6350">
            <a:solidFill>
              <a:srgbClr val="1E5F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282696"/>
            <a:ext cx="457200" cy="6217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8269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RQ2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33192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Does alcohol consumption significantly predict cognitive decline after adjusting for socio-demographic and lifestyle covariates?</a:t>
            </a:r>
          </a:p>
        </p:txBody>
      </p:sp>
      <p:sp>
        <p:nvSpPr>
          <p:cNvPr id="19" name="Shape 17"/>
          <p:cNvSpPr/>
          <p:nvPr/>
        </p:nvSpPr>
        <p:spPr>
          <a:xfrm>
            <a:off x="411480" y="3986784"/>
            <a:ext cx="8321040" cy="621792"/>
          </a:xfrm>
          <a:prstGeom prst="rect">
            <a:avLst/>
          </a:prstGeom>
          <a:solidFill>
            <a:srgbClr val="243C5A"/>
          </a:solidFill>
          <a:ln w="6350">
            <a:solidFill>
              <a:srgbClr val="1E5F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986784"/>
            <a:ext cx="457200" cy="6217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98678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RQ3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Which lifestyle factors (sleep, reading, social engagement, physical activity, food security) are significant risk or protective factors for cognitive impairment?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7C77F1-F864-DE49-98E3-9A3FED831D67}"/>
              </a:ext>
            </a:extLst>
          </p:cNvPr>
          <p:cNvSpPr txBox="1"/>
          <p:nvPr/>
        </p:nvSpPr>
        <p:spPr>
          <a:xfrm>
            <a:off x="411480" y="475488"/>
            <a:ext cx="8595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Study Cognitive Decline in North-East India?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02 · Why North-Eastern India?</a:t>
            </a:r>
          </a:p>
        </p:txBody>
      </p:sp>
      <p:sp>
        <p:nvSpPr>
          <p:cNvPr id="4" name="Text 2"/>
          <p:cNvSpPr/>
          <p:nvPr/>
        </p:nvSpPr>
        <p:spPr>
          <a:xfrm>
            <a:off x="139263" y="28575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Focus on North-Eastern States?</a:t>
            </a:r>
            <a:endParaRPr 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8650" y="841248"/>
            <a:ext cx="109728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 | LASI Wave-1, 2017-18 | North-Eastern India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8649" y="889397"/>
            <a:ext cx="64008" cy="1508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049248"/>
            <a:ext cx="3931920" cy="3618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25FE5407-B624-E030-D011-EB445667E6F0}"/>
              </a:ext>
            </a:extLst>
          </p:cNvPr>
          <p:cNvSpPr/>
          <p:nvPr/>
        </p:nvSpPr>
        <p:spPr>
          <a:xfrm>
            <a:off x="128649" y="2398157"/>
            <a:ext cx="64008" cy="1508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25" name="Chart 24">
                <a:extLst>
                  <a:ext uri="{FF2B5EF4-FFF2-40B4-BE49-F238E27FC236}">
                    <a16:creationId xmlns:a16="http://schemas.microsoft.com/office/drawing/2014/main" id="{58B2A772-D9D0-E2E2-AF54-46CE7CB53A1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98490226"/>
                  </p:ext>
                </p:extLst>
              </p:nvPr>
            </p:nvGraphicFramePr>
            <p:xfrm>
              <a:off x="4571999" y="987551"/>
              <a:ext cx="4442723" cy="384031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5" name="Chart 24">
                <a:extLst>
                  <a:ext uri="{FF2B5EF4-FFF2-40B4-BE49-F238E27FC236}">
                    <a16:creationId xmlns:a16="http://schemas.microsoft.com/office/drawing/2014/main" id="{58B2A772-D9D0-E2E2-AF54-46CE7CB53A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1999" y="987551"/>
                <a:ext cx="4442723" cy="3840311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Shape 7">
            <a:extLst>
              <a:ext uri="{FF2B5EF4-FFF2-40B4-BE49-F238E27FC236}">
                <a16:creationId xmlns:a16="http://schemas.microsoft.com/office/drawing/2014/main" id="{3F84926F-E488-749B-7A62-3444B2B4ADBB}"/>
              </a:ext>
            </a:extLst>
          </p:cNvPr>
          <p:cNvSpPr/>
          <p:nvPr/>
        </p:nvSpPr>
        <p:spPr>
          <a:xfrm>
            <a:off x="128650" y="3917307"/>
            <a:ext cx="64008" cy="940443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CA9FF0-6838-0A02-8F01-F896CF4F44ED}"/>
              </a:ext>
            </a:extLst>
          </p:cNvPr>
          <p:cNvSpPr txBox="1"/>
          <p:nvPr/>
        </p:nvSpPr>
        <p:spPr>
          <a:xfrm>
            <a:off x="192658" y="1025094"/>
            <a:ext cx="43793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shows comparatively higher prevalence of smoking tobacco in several North-Eastern states.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tobacco use is a known risk factor for cognitive decline, regions with higher prevalence provide a stronger basis to examine its association with cognitive impairment.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Darker shading in parts of the North-East suggests greater concentration of tobacco use compared to many other regions, making it a high-risk zone for substance-related health outcomes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Mizoram has highest prevalence (75.06) of smoking tobacco , also Manipur (59.11) and Assam (53.44) has high prevalence of smoking.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8E918-4959-BEDD-9EF2-1BA5DE9F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85406F-2470-23EB-A783-1562F7C36CBC}"/>
              </a:ext>
            </a:extLst>
          </p:cNvPr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AFDEA5-E254-59BB-C711-E824E6AAFF91}"/>
              </a:ext>
            </a:extLst>
          </p:cNvPr>
          <p:cNvSpPr/>
          <p:nvPr/>
        </p:nvSpPr>
        <p:spPr>
          <a:xfrm>
            <a:off x="27432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02 · Why North-Eastern India?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1C2E16-D4CE-26F3-BAAC-9B58D8410E6E}"/>
              </a:ext>
            </a:extLst>
          </p:cNvPr>
          <p:cNvSpPr/>
          <p:nvPr/>
        </p:nvSpPr>
        <p:spPr>
          <a:xfrm>
            <a:off x="139263" y="28575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Focus on North-Eastern States?</a:t>
            </a:r>
            <a:endParaRPr lang="en-US" sz="2000" dirty="0">
              <a:latin typeface="Times New Roman" panose="02020603050405020304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BDAE45C-3F43-F3B5-2EDD-DAF2F926F50E}"/>
              </a:ext>
            </a:extLst>
          </p:cNvPr>
          <p:cNvSpPr/>
          <p:nvPr/>
        </p:nvSpPr>
        <p:spPr>
          <a:xfrm>
            <a:off x="128650" y="841248"/>
            <a:ext cx="109728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4DE6EF5-D897-179F-E847-5CD56F112E8B}"/>
              </a:ext>
            </a:extLst>
          </p:cNvPr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BC935E7-78C7-C5E6-2DD6-F44A5193F720}"/>
              </a:ext>
            </a:extLst>
          </p:cNvPr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 | LASI Wave-1, 2017-18 | North-Eastern India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C0A96E9-99E4-7691-F707-06906F412491}"/>
              </a:ext>
            </a:extLst>
          </p:cNvPr>
          <p:cNvSpPr/>
          <p:nvPr/>
        </p:nvSpPr>
        <p:spPr>
          <a:xfrm>
            <a:off x="128649" y="889397"/>
            <a:ext cx="64008" cy="1508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4BE43B5-2FA7-DCEE-75F9-840EA2052ABB}"/>
              </a:ext>
            </a:extLst>
          </p:cNvPr>
          <p:cNvSpPr/>
          <p:nvPr/>
        </p:nvSpPr>
        <p:spPr>
          <a:xfrm>
            <a:off x="274320" y="1049248"/>
            <a:ext cx="3931920" cy="3618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21FAF9C0-148C-1131-0C4B-5697069FAF17}"/>
              </a:ext>
            </a:extLst>
          </p:cNvPr>
          <p:cNvSpPr/>
          <p:nvPr/>
        </p:nvSpPr>
        <p:spPr>
          <a:xfrm>
            <a:off x="128649" y="2398157"/>
            <a:ext cx="64008" cy="1508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BBC8B1A6-F0D2-99D3-2694-A43B320B0C09}"/>
              </a:ext>
            </a:extLst>
          </p:cNvPr>
          <p:cNvSpPr/>
          <p:nvPr/>
        </p:nvSpPr>
        <p:spPr>
          <a:xfrm>
            <a:off x="128650" y="3917307"/>
            <a:ext cx="64008" cy="940443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F3F214-CF2C-6C47-DACF-7B36ECEFC06A}"/>
              </a:ext>
            </a:extLst>
          </p:cNvPr>
          <p:cNvSpPr txBox="1"/>
          <p:nvPr/>
        </p:nvSpPr>
        <p:spPr>
          <a:xfrm>
            <a:off x="139263" y="1023308"/>
            <a:ext cx="487332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 shows that alcohol consumption prevalence in some North-Eastern states approaches the upper range of the scale (close to 50–53%), which is substantially higher than several northern and central states where prevalence is below 20%. </a:t>
            </a:r>
          </a:p>
          <a:p>
            <a:pPr lvl="0" algn="just"/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contrast to states with very low prevalence (as low as 0.44% in parts of India), North-Eastern states consistently fall in the medium-to-high prevalence categories, follow with Mizoram 34.5%</a:t>
            </a:r>
          </a:p>
          <a:p>
            <a:pPr lvl="0" algn="just"/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clustering of darker shades in the North-East suggests a regional concentration effect, meaning substance use is not randomly distributed but geographically patterned making it analytically important to study this region separately.</a:t>
            </a:r>
          </a:p>
          <a:p>
            <a:pPr lvl="0" algn="just"/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alcohol use is a significant predictor of cognitive impairment, focusing on a region with relatively higher prevalence strengthens the epidemiological relevance and public health importance.</a:t>
            </a:r>
          </a:p>
          <a:p>
            <a:pPr lvl="0" algn="just"/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cx4="http://schemas.microsoft.com/office/drawing/2016/5/10/chartex" Requires="cx4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60CF1E5E-8AE3-62FD-B46A-CFC7CB079CD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0558087"/>
                  </p:ext>
                </p:extLst>
              </p:nvPr>
            </p:nvGraphicFramePr>
            <p:xfrm>
              <a:off x="5065986" y="885590"/>
              <a:ext cx="4011277" cy="378242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60CF1E5E-8AE3-62FD-B46A-CFC7CB079C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65986" y="885590"/>
                <a:ext cx="4011277" cy="378242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5489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03 · CONCEPTUAL FRAMEWORK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Framework</a:t>
            </a: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9728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 | LASI Wave-1, 2017-18 | North-Eastern India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2560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25603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98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SUBSTANCE USE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3055" y="2061972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03207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Smoked tobacco / Smokeless tobacco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2852928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7706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Alcoholic beverages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(wine, beer, arrack,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tadi, country liquor)</a:t>
            </a:r>
          </a:p>
        </p:txBody>
      </p:sp>
      <p:sp>
        <p:nvSpPr>
          <p:cNvPr id="17" name="Shape 15"/>
          <p:cNvSpPr/>
          <p:nvPr/>
        </p:nvSpPr>
        <p:spPr>
          <a:xfrm>
            <a:off x="3063240" y="1307592"/>
            <a:ext cx="2560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63240" y="1298448"/>
            <a:ext cx="256032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1298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LIFESTYLE FACTORS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0" y="1755648"/>
            <a:ext cx="137160" cy="137160"/>
          </a:xfrm>
          <a:prstGeom prst="ellipse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38144" y="169164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Sleep quality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0" y="2121408"/>
            <a:ext cx="137160" cy="137160"/>
          </a:xfrm>
          <a:prstGeom prst="ellipse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38144" y="2043053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Reading habits</a:t>
            </a:r>
          </a:p>
        </p:txBody>
      </p:sp>
      <p:sp>
        <p:nvSpPr>
          <p:cNvPr id="24" name="Shape 22"/>
          <p:cNvSpPr/>
          <p:nvPr/>
        </p:nvSpPr>
        <p:spPr>
          <a:xfrm>
            <a:off x="3200400" y="2487168"/>
            <a:ext cx="137160" cy="137160"/>
          </a:xfrm>
          <a:prstGeom prst="ellipse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19061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Physical exercise</a:t>
            </a:r>
          </a:p>
        </p:txBody>
      </p:sp>
      <p:sp>
        <p:nvSpPr>
          <p:cNvPr id="26" name="Shape 24"/>
          <p:cNvSpPr/>
          <p:nvPr/>
        </p:nvSpPr>
        <p:spPr>
          <a:xfrm>
            <a:off x="3200400" y="2852928"/>
            <a:ext cx="137160" cy="137160"/>
          </a:xfrm>
          <a:prstGeom prst="ellipse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277063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Cultural/social participation</a:t>
            </a:r>
          </a:p>
        </p:txBody>
      </p:sp>
      <p:sp>
        <p:nvSpPr>
          <p:cNvPr id="28" name="Shape 26"/>
          <p:cNvSpPr/>
          <p:nvPr/>
        </p:nvSpPr>
        <p:spPr>
          <a:xfrm>
            <a:off x="3200400" y="3218688"/>
            <a:ext cx="137160" cy="137160"/>
          </a:xfrm>
          <a:prstGeom prst="ellipse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312724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Food security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834640" y="2377440"/>
            <a:ext cx="228600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23560" y="2377440"/>
            <a:ext cx="457200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141732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1417320"/>
            <a:ext cx="274320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OUTCOME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7220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Cognitive Impairment</a:t>
            </a:r>
            <a:endParaRPr 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172200" y="233172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Word recall test: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0–10 words; ≤4 = High impairment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0–10 words; &gt;4 = Low impairment</a:t>
            </a:r>
          </a:p>
          <a:p>
            <a:pPr marL="0" indent="0" algn="ctr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74320" y="3749040"/>
            <a:ext cx="8549640" cy="914400"/>
          </a:xfrm>
          <a:prstGeom prst="rect">
            <a:avLst/>
          </a:prstGeom>
          <a:solidFill>
            <a:srgbClr val="D6E8F7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65760" y="37947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SOCIO-DEMOGRAPHIC COVARIATES (Control Variables)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65760" y="40690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  ·  Sex  ·  Education  ·  Residence (Rural/Urban)  ·  Marital Status  ·  Caste (SC/ST)  ·  Living Arrangement  ·  Wealth Index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04 · DATA &amp; METHODOLOGY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 &amp; Analytical Approach</a:t>
            </a: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9728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 | LASI Wave-1, 2017-18 | North-Eastern India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409280"/>
            <a:ext cx="40233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4023360" cy="384048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984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LASI WAVE-1 (2017–18)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2936" y="1906169"/>
            <a:ext cx="155448" cy="15544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7000" y="1823873"/>
            <a:ext cx="3502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Longitudinal Ageing Study of India  is India's first nationally representative aging study.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2936" y="2599865"/>
            <a:ext cx="155448" cy="15544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956" y="2500884"/>
            <a:ext cx="3502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Over 72,000 adults (aged 45+) across all states &amp; UTs of India.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7718" y="3191965"/>
            <a:ext cx="155448" cy="15544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326" y="3202502"/>
            <a:ext cx="3502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Study restricted to 7 North-Eastern states - Arunachal Pradesh, Assam, Manipur, Meghalaya, Mizoram, Nagaland, Tripura.</a:t>
            </a:r>
          </a:p>
        </p:txBody>
      </p:sp>
      <p:sp>
        <p:nvSpPr>
          <p:cNvPr id="17" name="Shape 15"/>
          <p:cNvSpPr/>
          <p:nvPr/>
        </p:nvSpPr>
        <p:spPr>
          <a:xfrm>
            <a:off x="427718" y="3910426"/>
            <a:ext cx="155448" cy="15544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326" y="3828130"/>
            <a:ext cx="3502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 analytical sample: N = 7,790 older adults (60+ years).</a:t>
            </a:r>
          </a:p>
        </p:txBody>
      </p:sp>
      <p:sp>
        <p:nvSpPr>
          <p:cNvPr id="21" name="Shape 19"/>
          <p:cNvSpPr/>
          <p:nvPr/>
        </p:nvSpPr>
        <p:spPr>
          <a:xfrm>
            <a:off x="4526280" y="1298448"/>
            <a:ext cx="42062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6280" y="1298448"/>
            <a:ext cx="420624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12984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STATISTICAL METHODS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63440" y="1677569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5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Outcome Variable :</a:t>
            </a:r>
            <a:endParaRPr lang="en-US" sz="1150" dirty="0">
              <a:latin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63440" y="1906169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Cognitive impairment - word recall (0–10); ≤4 words = High (1), ≥5 = Low (0)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63440" y="2357155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1E5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Explanatory Variables:</a:t>
            </a:r>
          </a:p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63440" y="2520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Smoked/smokeless tobacco use (Yes/No)</a:t>
            </a:r>
          </a:p>
          <a:p>
            <a:r>
              <a:rPr lang="en-US" sz="11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Alcohol consumption (Yes/No)</a:t>
            </a:r>
          </a:p>
        </p:txBody>
      </p:sp>
      <p:sp>
        <p:nvSpPr>
          <p:cNvPr id="28" name="Text 26"/>
          <p:cNvSpPr/>
          <p:nvPr/>
        </p:nvSpPr>
        <p:spPr>
          <a:xfrm>
            <a:off x="4663440" y="288172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50" b="1" dirty="0">
                <a:solidFill>
                  <a:srgbClr val="1E5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Statistical Tool:</a:t>
            </a:r>
          </a:p>
        </p:txBody>
      </p:sp>
      <p:sp>
        <p:nvSpPr>
          <p:cNvPr id="29" name="Text 27"/>
          <p:cNvSpPr/>
          <p:nvPr/>
        </p:nvSpPr>
        <p:spPr>
          <a:xfrm>
            <a:off x="4663440" y="3237239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Binary Logistic Regression (STATA 17)</a:t>
            </a:r>
          </a:p>
          <a:p>
            <a:pPr indent="0">
              <a:buNone/>
            </a:pPr>
            <a:r>
              <a:rPr lang="en-US" sz="11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Adjusted Odds Ratios (AOR) &amp; Unadjusted Odds Ratio (UOR)with 95% CI</a:t>
            </a:r>
          </a:p>
        </p:txBody>
      </p:sp>
      <p:sp>
        <p:nvSpPr>
          <p:cNvPr id="30" name="Text 28"/>
          <p:cNvSpPr/>
          <p:nvPr/>
        </p:nvSpPr>
        <p:spPr>
          <a:xfrm>
            <a:off x="4663440" y="369680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1E5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Significance Test:</a:t>
            </a:r>
          </a:p>
        </p:txBody>
      </p:sp>
      <p:sp>
        <p:nvSpPr>
          <p:cNvPr id="31" name="Text 29"/>
          <p:cNvSpPr/>
          <p:nvPr/>
        </p:nvSpPr>
        <p:spPr>
          <a:xfrm>
            <a:off x="4663440" y="38926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Chi-square test of association for bivariate analysis </a:t>
            </a:r>
          </a:p>
        </p:txBody>
      </p:sp>
      <p:sp>
        <p:nvSpPr>
          <p:cNvPr id="32" name="Text 30"/>
          <p:cNvSpPr/>
          <p:nvPr/>
        </p:nvSpPr>
        <p:spPr>
          <a:xfrm>
            <a:off x="4663440" y="416078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50" b="1" dirty="0">
                <a:solidFill>
                  <a:srgbClr val="1E5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Reporting:</a:t>
            </a:r>
          </a:p>
        </p:txBody>
      </p:sp>
      <p:sp>
        <p:nvSpPr>
          <p:cNvPr id="33" name="Text 31"/>
          <p:cNvSpPr/>
          <p:nvPr/>
        </p:nvSpPr>
        <p:spPr>
          <a:xfrm>
            <a:off x="4663440" y="43315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Crude ORs and Adjusted ORs presented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B6E13-2420-F2B3-29AF-9402550ED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92C7CB-D1E9-BCE3-4E27-D5EB95A7BFA7}"/>
              </a:ext>
            </a:extLst>
          </p:cNvPr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322C34-3AE3-18FE-593A-A53CA4D644EC}"/>
              </a:ext>
            </a:extLst>
          </p:cNvPr>
          <p:cNvSpPr/>
          <p:nvPr/>
        </p:nvSpPr>
        <p:spPr>
          <a:xfrm>
            <a:off x="27432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04 · DATA &amp; METHODOLOGY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374CFD-887D-70CF-5A36-7A7D56A38538}"/>
              </a:ext>
            </a:extLst>
          </p:cNvPr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DAF724C-D521-8519-FBD5-265D921A7E3B}"/>
              </a:ext>
            </a:extLst>
          </p:cNvPr>
          <p:cNvSpPr/>
          <p:nvPr/>
        </p:nvSpPr>
        <p:spPr>
          <a:xfrm>
            <a:off x="0" y="4919476"/>
            <a:ext cx="9144000" cy="21945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2747057-117A-9432-44B9-0E93541992DD}"/>
              </a:ext>
            </a:extLst>
          </p:cNvPr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 | LASI Wave-1, 2017-18 | North-Eastern India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29160E7-A1C7-2FC7-372F-9179A2161C00}"/>
              </a:ext>
            </a:extLst>
          </p:cNvPr>
          <p:cNvSpPr/>
          <p:nvPr/>
        </p:nvSpPr>
        <p:spPr>
          <a:xfrm>
            <a:off x="58978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REGIONAL CONTEXT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1FB92BA-C4D3-C948-2CB0-6DA9274EA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188950"/>
              </p:ext>
            </p:extLst>
          </p:nvPr>
        </p:nvGraphicFramePr>
        <p:xfrm>
          <a:off x="0" y="347473"/>
          <a:ext cx="9144000" cy="45720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5439">
                  <a:extLst>
                    <a:ext uri="{9D8B030D-6E8A-4147-A177-3AD203B41FA5}">
                      <a16:colId xmlns:a16="http://schemas.microsoft.com/office/drawing/2014/main" val="340937985"/>
                    </a:ext>
                  </a:extLst>
                </a:gridCol>
                <a:gridCol w="6068561">
                  <a:extLst>
                    <a:ext uri="{9D8B030D-6E8A-4147-A177-3AD203B41FA5}">
                      <a16:colId xmlns:a16="http://schemas.microsoft.com/office/drawing/2014/main" val="2163382630"/>
                    </a:ext>
                  </a:extLst>
                </a:gridCol>
              </a:tblGrid>
              <a:tr h="224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Associated </a:t>
                      </a:r>
                      <a:r>
                        <a:rPr lang="en-IN" sz="140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coading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0175250"/>
                  </a:ext>
                </a:extLst>
              </a:tr>
              <a:tr h="224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Cognitive impairment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= 0; High= 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5757797"/>
                  </a:ext>
                </a:extLst>
              </a:tr>
              <a:tr h="3192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Smoked/smokeless tobacco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= 0 ; No = 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6531486"/>
                  </a:ext>
                </a:extLst>
              </a:tr>
              <a:tr h="3192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Alcoholic beverages consumption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= 0 ; No = 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51464163"/>
                  </a:ext>
                </a:extLst>
              </a:tr>
              <a:tr h="224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45-59 = 0 ; 60-79 = 1 ; 80+ = 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5153190"/>
                  </a:ext>
                </a:extLst>
              </a:tr>
              <a:tr h="224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Sex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 = 1; Female = 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1498077"/>
                  </a:ext>
                </a:extLst>
              </a:tr>
              <a:tr h="224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 school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= 0 ; No = 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6085664"/>
                  </a:ext>
                </a:extLst>
              </a:tr>
              <a:tr h="224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Residence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 = 1 ; Urban = 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4411047"/>
                  </a:ext>
                </a:extLst>
              </a:tr>
              <a:tr h="3192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Marital status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Currently in union = 1 ; Live in relationship = 2 ; Currently not in union = 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9094940"/>
                  </a:ext>
                </a:extLst>
              </a:tr>
              <a:tr h="224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Caste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 SC/ST = 1 ; SC/ST = 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1942693"/>
                  </a:ext>
                </a:extLst>
              </a:tr>
              <a:tr h="224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Living arrangements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Living with someone = 1 ; Living alone = 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2974738"/>
                  </a:ext>
                </a:extLst>
              </a:tr>
              <a:tr h="3192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Wealth index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Poorest = 1 ; Poorer = 2 ; Middle = 3 ; Richer = 4 ; Richest = 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8194854"/>
                  </a:ext>
                </a:extLst>
              </a:tr>
              <a:tr h="3192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 cultural performance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Sometimes in a month = 1 ; Rarely = 2 ; Never = 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2814555"/>
                  </a:ext>
                </a:extLst>
              </a:tr>
              <a:tr h="3192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Eat enough food of your own choice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= 0 ; No = 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0463378"/>
                  </a:ext>
                </a:extLst>
              </a:tr>
              <a:tr h="2243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Resding habits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Daily = 1 ; Sometimes = 2 ; Never = 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8131402"/>
                  </a:ext>
                </a:extLst>
              </a:tr>
              <a:tr h="3177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Doing physical exercise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Everyday = 1 ; Several times in month = 2 ; Never = 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48406047"/>
                  </a:ext>
                </a:extLst>
              </a:tr>
              <a:tr h="3192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Trouble falling asleep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Never =1 ; 1-2 nights/week = 2 ; 3-4 nights/week = 3; 5 or more days/week = 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570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256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05 · DESCRIPTIVE STATISTICS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of the Sample (N = 7,790)</a:t>
            </a: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 | LASI Wave-1, 2017-18 | North-Eastern India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1965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61872"/>
            <a:ext cx="64008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9903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50.3%</a:t>
            </a:r>
            <a:endParaRPr lang="en-US" sz="3600" dirty="0">
              <a:latin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 used tobacco</a:t>
            </a:r>
            <a:endParaRPr lang="en-US" sz="11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(smoked or smokeless)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377440" y="1261872"/>
            <a:ext cx="1965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77440" y="1261872"/>
            <a:ext cx="64008" cy="12801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39903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24.7%</a:t>
            </a:r>
            <a:endParaRPr lang="en-US" sz="3600" dirty="0">
              <a:latin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14600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 consumed alcohol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480560" y="1261872"/>
            <a:ext cx="1965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261872"/>
            <a:ext cx="64008" cy="1280160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39903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74.2%</a:t>
            </a:r>
            <a:endParaRPr lang="en-US" sz="3600" dirty="0">
              <a:latin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17720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Rural residents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83680" y="1261872"/>
            <a:ext cx="1965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1261872"/>
            <a:ext cx="64008" cy="1280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39903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600" dirty="0">
              <a:latin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20840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Never attended school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2651760"/>
            <a:ext cx="1965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651760"/>
            <a:ext cx="64008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7889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42.7%</a:t>
            </a:r>
            <a:endParaRPr lang="en-US" sz="3600" dirty="0">
              <a:latin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11480" y="3429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Experienced sleep</a:t>
            </a:r>
            <a:endParaRPr lang="en-US" sz="11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disturbances ≥1 night/week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377440" y="2651760"/>
            <a:ext cx="1965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377440" y="2651760"/>
            <a:ext cx="64008" cy="12801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27889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86.9%</a:t>
            </a:r>
            <a:endParaRPr lang="en-US" sz="3600" dirty="0">
              <a:latin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14600" y="3429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Never performed</a:t>
            </a:r>
            <a:endParaRPr lang="en-US" sz="11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physical exercise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480560" y="2651760"/>
            <a:ext cx="1965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80560" y="2651760"/>
            <a:ext cx="64008" cy="1280160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27889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5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68.7%</a:t>
            </a:r>
            <a:endParaRPr lang="en-US" sz="3600" dirty="0">
              <a:latin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617720" y="3429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Almost never read</a:t>
            </a:r>
            <a:endParaRPr lang="en-US" sz="11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newspaper/books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583680" y="2651760"/>
            <a:ext cx="1965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83680" y="2651760"/>
            <a:ext cx="64008" cy="1280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27889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63.6%</a:t>
            </a:r>
            <a:endParaRPr lang="en-US" sz="3600" dirty="0">
              <a:latin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720840" y="3429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Never attended any</a:t>
            </a:r>
            <a:endParaRPr lang="en-US" sz="11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cultural programme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74320" y="4041648"/>
            <a:ext cx="8549640" cy="658368"/>
          </a:xfrm>
          <a:prstGeom prst="rect">
            <a:avLst/>
          </a:prstGeom>
          <a:solidFill>
            <a:srgbClr val="D6E8F7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65760" y="4133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 BREAKDOWN &amp; CASTE: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148840" y="42062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Adults (45–59 yrs): 55.5%   |   Older Adults (60–79 yrs): 38.4%   |   Oldest-adult (80+ yrs): 6.1%   |   Female: 52.4%   |   SC/ST: 71.8%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00400-98B9-1CDE-83CE-155112AA5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AD811A-1C20-85E3-36B2-5A4E6FE76F4E}"/>
              </a:ext>
            </a:extLst>
          </p:cNvPr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11FC50-9191-81E8-B7AF-32B59EE9B345}"/>
              </a:ext>
            </a:extLst>
          </p:cNvPr>
          <p:cNvSpPr/>
          <p:nvPr/>
        </p:nvSpPr>
        <p:spPr>
          <a:xfrm>
            <a:off x="27432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06 : KEY RESULTS  &amp; LOGISTIC REGRESSION (ADJUSTED ORS)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0EB3B8-CAE6-EBC5-B721-4F9CFAFAD0E6}"/>
              </a:ext>
            </a:extLst>
          </p:cNvPr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E09C0C5-530E-B542-C67F-813DCA31EA94}"/>
              </a:ext>
            </a:extLst>
          </p:cNvPr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992BEAB-6E5D-90B3-3D25-484F3236E470}"/>
              </a:ext>
            </a:extLst>
          </p:cNvPr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 | LASI Wave-1, 2017-18 | North-Eastern India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C8F494A-C326-3042-E39E-645D61A07B94}"/>
              </a:ext>
            </a:extLst>
          </p:cNvPr>
          <p:cNvSpPr/>
          <p:nvPr/>
        </p:nvSpPr>
        <p:spPr>
          <a:xfrm>
            <a:off x="58978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REGIONAL CONTEXT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1C67BBE-DFCE-468E-55CC-7CE9F5FCF8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6864649"/>
              </p:ext>
            </p:extLst>
          </p:nvPr>
        </p:nvGraphicFramePr>
        <p:xfrm>
          <a:off x="274320" y="395636"/>
          <a:ext cx="4060957" cy="2442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9D51CC0-1AE4-610B-3D1B-E2BBAD9491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4124258"/>
              </p:ext>
            </p:extLst>
          </p:nvPr>
        </p:nvGraphicFramePr>
        <p:xfrm>
          <a:off x="4774018" y="395636"/>
          <a:ext cx="4060957" cy="2442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D06A2E6C-F633-6310-38F0-8FFD91B6A8FB}"/>
              </a:ext>
            </a:extLst>
          </p:cNvPr>
          <p:cNvSpPr/>
          <p:nvPr/>
        </p:nvSpPr>
        <p:spPr>
          <a:xfrm>
            <a:off x="274319" y="2838036"/>
            <a:ext cx="4158777" cy="196787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18F3B49E-653B-5F69-F721-2254978BFACA}"/>
              </a:ext>
            </a:extLst>
          </p:cNvPr>
          <p:cNvSpPr/>
          <p:nvPr/>
        </p:nvSpPr>
        <p:spPr>
          <a:xfrm>
            <a:off x="4572000" y="2838035"/>
            <a:ext cx="4401879" cy="196787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A784DDFA-909B-822F-9AA8-0D3215F0DA18}"/>
              </a:ext>
            </a:extLst>
          </p:cNvPr>
          <p:cNvSpPr/>
          <p:nvPr/>
        </p:nvSpPr>
        <p:spPr>
          <a:xfrm>
            <a:off x="4589395" y="2838036"/>
            <a:ext cx="45719" cy="1967879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1E8850-2E2B-EE75-809C-888FF0E207BF}"/>
              </a:ext>
            </a:extLst>
          </p:cNvPr>
          <p:cNvSpPr txBox="1"/>
          <p:nvPr/>
        </p:nvSpPr>
        <p:spPr>
          <a:xfrm>
            <a:off x="411480" y="2891009"/>
            <a:ext cx="3975897" cy="18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who have ever smoked show a higher prevalence of cognitive impairment (4.34%) compared to those who never smoked (3.2%).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that smoking may be associated with a greater risk of memory and cognitive problems.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 = 0.008 &lt; 0.05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013AEC-12DE-B242-0E25-2DB4529C7A6A}"/>
              </a:ext>
            </a:extLst>
          </p:cNvPr>
          <p:cNvSpPr txBox="1"/>
          <p:nvPr/>
        </p:nvSpPr>
        <p:spPr>
          <a:xfrm>
            <a:off x="4647521" y="2891009"/>
            <a:ext cx="4313949" cy="18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Adults who consume alcohol have a higher prevalence of cognitive impairment (4.67%) compared to non-drinkers (3.48%).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Alcohol use is more strongly associated with cognitive decline than tobacco use in this population.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 = 0.017 &lt; 0.05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12865C3C-E75F-BC5D-E708-78AD8EF73EE1}"/>
              </a:ext>
            </a:extLst>
          </p:cNvPr>
          <p:cNvSpPr/>
          <p:nvPr/>
        </p:nvSpPr>
        <p:spPr>
          <a:xfrm>
            <a:off x="303176" y="2835498"/>
            <a:ext cx="45719" cy="1967879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55984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06 : KEY RESULTS - LOGISTIC REGRESSION (ADJUSTED ORS)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Predictors of Cognitive Impairment</a:t>
            </a: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 | LASI Wave-1, 2017-18 | North-Eastern India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23560" y="11018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12984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Oldest adult (80+) vs Adult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46120" y="1335024"/>
            <a:ext cx="397631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3441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3.00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53542" y="13655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***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4320" y="18013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Sleep: ≥5 nights/week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46120" y="1837944"/>
            <a:ext cx="47758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847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3.60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01000" y="1837629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***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4320" y="23042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Sleep: 3–4 nights/week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46120" y="2340864"/>
            <a:ext cx="4119509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3500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3.11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59914" y="23709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***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4320" y="28072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 in union (vs married)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46120" y="2843784"/>
            <a:ext cx="2517846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8529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1.90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72200" y="28529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***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74320" y="33101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Food insecure (no choice)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46120" y="3346704"/>
            <a:ext cx="1828389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33558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1.38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72200" y="3355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**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74320" y="38130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Older adult (60–79) vs Adult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246120" y="3849624"/>
            <a:ext cx="2231456" cy="274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38587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1.68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72200" y="3858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***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74320" y="4315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Non-alcohol users (protective)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46120" y="4352544"/>
            <a:ext cx="828675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43616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0.63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72200" y="43616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**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72000" y="1261872"/>
            <a:ext cx="0" cy="3611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481886" y="1097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OR=1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532323" y="1165860"/>
            <a:ext cx="201168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18120" y="117337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risk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525512" y="2862492"/>
            <a:ext cx="201168" cy="1645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18120" y="285881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Moderate risk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525512" y="4345922"/>
            <a:ext cx="201168" cy="16459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8120" y="4334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Protective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74320" y="4663440"/>
            <a:ext cx="8549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*** p&lt;0.01   ** p&lt;0.05   * p&lt;0.10  |  Ref: Rural, Male, Poorest, Married, Attended school, No sleep trouble, Never, Daily exercise</a:t>
            </a:r>
            <a:endParaRPr lang="en-US" sz="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07 : CRUDE VS. ADJUSTED ORS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430924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Comparing Crude vs. Adjusted Odds Ratios</a:t>
            </a: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138428"/>
            <a:ext cx="1097280" cy="45719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 | LASI Wave-1, 2017-18 | North-Eastern India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When ORs change between crude and adjusted models, confounding is present. Stable ORs indicate robust independent associations.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27432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190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Variable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017520" y="1719072"/>
            <a:ext cx="13716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7190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Crude OR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89120" y="1719072"/>
            <a:ext cx="13716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7190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Adjusted OR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60720" y="1719072"/>
            <a:ext cx="324612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17190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Interpretation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2066544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0665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Age: Oldest-old</a:t>
            </a:r>
          </a:p>
        </p:txBody>
      </p:sp>
      <p:sp>
        <p:nvSpPr>
          <p:cNvPr id="19" name="Shape 17"/>
          <p:cNvSpPr/>
          <p:nvPr/>
        </p:nvSpPr>
        <p:spPr>
          <a:xfrm>
            <a:off x="3017520" y="206654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20665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4.19***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89120" y="206654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0665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3.00***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760720" y="2066544"/>
            <a:ext cx="3246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206654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Stable - strong independent predictor</a:t>
            </a:r>
          </a:p>
        </p:txBody>
      </p:sp>
      <p:sp>
        <p:nvSpPr>
          <p:cNvPr id="25" name="Shape 23"/>
          <p:cNvSpPr/>
          <p:nvPr/>
        </p:nvSpPr>
        <p:spPr>
          <a:xfrm>
            <a:off x="274320" y="2414016"/>
            <a:ext cx="27432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4140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Sleep (≥5 nights/wk)</a:t>
            </a:r>
          </a:p>
        </p:txBody>
      </p:sp>
      <p:sp>
        <p:nvSpPr>
          <p:cNvPr id="27" name="Shape 25"/>
          <p:cNvSpPr/>
          <p:nvPr/>
        </p:nvSpPr>
        <p:spPr>
          <a:xfrm>
            <a:off x="3017520" y="2414016"/>
            <a:ext cx="13716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24140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4.79***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389120" y="2414016"/>
            <a:ext cx="13716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24140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3.60***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760720" y="2414016"/>
            <a:ext cx="3246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241401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Stable - dose-response confirmed</a:t>
            </a:r>
          </a:p>
        </p:txBody>
      </p:sp>
      <p:sp>
        <p:nvSpPr>
          <p:cNvPr id="33" name="Shape 31"/>
          <p:cNvSpPr/>
          <p:nvPr/>
        </p:nvSpPr>
        <p:spPr>
          <a:xfrm>
            <a:off x="274320" y="2761488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761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Alcohol (non-users)</a:t>
            </a:r>
          </a:p>
        </p:txBody>
      </p:sp>
      <p:sp>
        <p:nvSpPr>
          <p:cNvPr id="35" name="Shape 33"/>
          <p:cNvSpPr/>
          <p:nvPr/>
        </p:nvSpPr>
        <p:spPr>
          <a:xfrm>
            <a:off x="3017520" y="2761488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63240" y="27614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0.74**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389120" y="2761488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27614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0.63***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760720" y="2761488"/>
            <a:ext cx="3246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27614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Strengthened - protective after adjustment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74320" y="3108960"/>
            <a:ext cx="27432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108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Tobacco (non-users)</a:t>
            </a:r>
          </a:p>
        </p:txBody>
      </p:sp>
      <p:sp>
        <p:nvSpPr>
          <p:cNvPr id="43" name="Shape 41"/>
          <p:cNvSpPr/>
          <p:nvPr/>
        </p:nvSpPr>
        <p:spPr>
          <a:xfrm>
            <a:off x="3017520" y="3108960"/>
            <a:ext cx="13716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63240" y="3108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0.73**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389120" y="3108960"/>
            <a:ext cx="13716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34840" y="3108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0.879 ns</a:t>
            </a:r>
            <a:endParaRPr lang="en-US" sz="1200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760720" y="3108960"/>
            <a:ext cx="3246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06440" y="31089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Lost significance - confounded by 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74320" y="345643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3456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Marital: Not in union</a:t>
            </a:r>
          </a:p>
        </p:txBody>
      </p:sp>
      <p:sp>
        <p:nvSpPr>
          <p:cNvPr id="51" name="Shape 49"/>
          <p:cNvSpPr/>
          <p:nvPr/>
        </p:nvSpPr>
        <p:spPr>
          <a:xfrm>
            <a:off x="3017520" y="3456432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63240" y="34564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2.23***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389120" y="3456432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34840" y="34564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1.90***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760720" y="3456432"/>
            <a:ext cx="3246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06440" y="34564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Stable - social disruption matters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274320" y="3803904"/>
            <a:ext cx="27432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3803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Place of Residence (Urban)</a:t>
            </a:r>
          </a:p>
        </p:txBody>
      </p:sp>
      <p:sp>
        <p:nvSpPr>
          <p:cNvPr id="59" name="Shape 57"/>
          <p:cNvSpPr/>
          <p:nvPr/>
        </p:nvSpPr>
        <p:spPr>
          <a:xfrm>
            <a:off x="3017520" y="3803904"/>
            <a:ext cx="13716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63240" y="38039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1.18*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389120" y="3803904"/>
            <a:ext cx="13716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34840" y="38039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1.24 ns</a:t>
            </a:r>
            <a:endParaRPr lang="en-US" sz="1200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760720" y="3803904"/>
            <a:ext cx="3246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06440" y="380390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Lost significance - explained by education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274320" y="4151376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6" name="Text 64"/>
          <p:cNvSpPr/>
          <p:nvPr/>
        </p:nvSpPr>
        <p:spPr>
          <a:xfrm>
            <a:off x="320040" y="41513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Food Insecurity (No)</a:t>
            </a:r>
          </a:p>
        </p:txBody>
      </p:sp>
      <p:sp>
        <p:nvSpPr>
          <p:cNvPr id="67" name="Shape 65"/>
          <p:cNvSpPr/>
          <p:nvPr/>
        </p:nvSpPr>
        <p:spPr>
          <a:xfrm>
            <a:off x="3017520" y="4151376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63240" y="4151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1.37***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4389120" y="4151376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34840" y="4151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1.38**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5760720" y="4151376"/>
            <a:ext cx="3246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06440" y="415137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Stable - direct nutritional effect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274320" y="4645152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ns = not significant (p&gt;0.05)   |   ** p&lt;0.05   *** p&lt;0.01</a:t>
            </a:r>
            <a:endParaRPr lang="en-US" sz="9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08 : PREDICTED PROBABILITY GRAPHS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Predicted Probability of Cognitive Impairment by Age</a:t>
            </a: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 | LASI Wave-1, 2017-18 | North-Eastern India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416052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9844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Graph 1: Tobacco Use × Age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" name="Chart 0"/>
          <p:cNvGraphicFramePr/>
          <p:nvPr/>
        </p:nvGraphicFramePr>
        <p:xfrm>
          <a:off x="320040" y="1664208"/>
          <a:ext cx="4069080" cy="2907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4663440" y="1298448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298448"/>
            <a:ext cx="416052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29844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Graph 2: Alcohol Use × Age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" name="Chart 1"/>
          <p:cNvGraphicFramePr/>
          <p:nvPr/>
        </p:nvGraphicFramePr>
        <p:xfrm>
          <a:off x="4709160" y="1664208"/>
          <a:ext cx="4069080" cy="2907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9 : FINDINGS &amp; DISCUSSION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Discussion</a:t>
            </a: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 | LASI Wave-1, 2017-18 | North-Eastern India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2519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64008" cy="10241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53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Alcohol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1645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Non-alcohol users had 37.5% lower odds of impairment (AOR=0.625, p&lt;0.01) - a significant protective effect, stronger than tobacco.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09160" y="1298448"/>
            <a:ext cx="42519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298448"/>
            <a:ext cx="64008" cy="10241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353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Sleep Disturbance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73752" y="1645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Strong dose-response: 3–4 nights/week → 3x higher odds; ≥5 nights/week → 3.6x higher odds. Strongest modifiable predictor.</a:t>
            </a:r>
          </a:p>
        </p:txBody>
      </p:sp>
      <p:sp>
        <p:nvSpPr>
          <p:cNvPr id="16" name="Shape 14"/>
          <p:cNvSpPr/>
          <p:nvPr/>
        </p:nvSpPr>
        <p:spPr>
          <a:xfrm>
            <a:off x="274320" y="2441448"/>
            <a:ext cx="42519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41448"/>
            <a:ext cx="64008" cy="1024128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496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8912" y="2788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Oldest-old (80+) had 3× higher odds vs Adults - confirms biological age-gradient. An age effect was expected and confirmed.</a:t>
            </a:r>
          </a:p>
        </p:txBody>
      </p:sp>
      <p:sp>
        <p:nvSpPr>
          <p:cNvPr id="20" name="Shape 18"/>
          <p:cNvSpPr/>
          <p:nvPr/>
        </p:nvSpPr>
        <p:spPr>
          <a:xfrm>
            <a:off x="4709160" y="2441448"/>
            <a:ext cx="42519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441448"/>
            <a:ext cx="64008" cy="10241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496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Marital Status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73752" y="2788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Not-in-union individuals had 1.9× higher odds. Widowhood/isolation increases stress &amp; unhealthy behaviors.</a:t>
            </a:r>
          </a:p>
        </p:txBody>
      </p:sp>
      <p:sp>
        <p:nvSpPr>
          <p:cNvPr id="24" name="Shape 22"/>
          <p:cNvSpPr/>
          <p:nvPr/>
        </p:nvSpPr>
        <p:spPr>
          <a:xfrm>
            <a:off x="274320" y="3584448"/>
            <a:ext cx="42519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84448"/>
            <a:ext cx="64008" cy="10241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Food Insecurity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38912" y="3931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Food insecure individuals had 38% higher odds - nutritional deprivation directly affects cognitive functioning.</a:t>
            </a:r>
          </a:p>
        </p:txBody>
      </p:sp>
      <p:sp>
        <p:nvSpPr>
          <p:cNvPr id="28" name="Shape 26"/>
          <p:cNvSpPr/>
          <p:nvPr/>
        </p:nvSpPr>
        <p:spPr>
          <a:xfrm>
            <a:off x="4709160" y="3584448"/>
            <a:ext cx="42519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584448"/>
            <a:ext cx="64008" cy="1024128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Cultural Engagement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73752" y="3931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Rare attendance at cultural programmes showed protective effect (AOR=0.398), validating social stimulation hypothesis.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10 : CONCLUSIONS &amp; RECOMMENDATIONS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Policy Recommendations</a:t>
            </a:r>
            <a:endParaRPr lang="en-US" sz="2600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09728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 | LASI Wave-1, 2017-18 | North-Eastern India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CONCLUSIONS</a:t>
            </a:r>
            <a:endParaRPr lang="en-US" sz="11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1728216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68935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Advancing age, alcohol consumption, sleep disturbances, marital disruption, and food insecurity are significant determinants of cognitive decline.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1480" y="2456865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454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Tobacco use was not independently significant after adjustment.</a:t>
            </a:r>
          </a:p>
        </p:txBody>
      </p:sp>
      <p:sp>
        <p:nvSpPr>
          <p:cNvPr id="13" name="Shape 11"/>
          <p:cNvSpPr/>
          <p:nvPr/>
        </p:nvSpPr>
        <p:spPr>
          <a:xfrm>
            <a:off x="411480" y="3074883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06882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Modifiable lifestyle factors - especially sleep hygiene and social engagement - represent key intervention points.</a:t>
            </a:r>
          </a:p>
        </p:txBody>
      </p:sp>
      <p:sp>
        <p:nvSpPr>
          <p:cNvPr id="15" name="Shape 13"/>
          <p:cNvSpPr/>
          <p:nvPr/>
        </p:nvSpPr>
        <p:spPr>
          <a:xfrm>
            <a:off x="411480" y="3835908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8026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 India's high substance use prevalence combined with limited healthcare access creates a compounded vulnerability.</a:t>
            </a:r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206240" cy="3429000"/>
          </a:xfrm>
          <a:prstGeom prst="rect">
            <a:avLst/>
          </a:prstGeom>
          <a:solidFill>
            <a:srgbClr val="243C5A"/>
          </a:solidFill>
          <a:ln w="6350">
            <a:solidFill>
              <a:srgbClr val="1E5F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2344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 RECOMMENDATIONS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00600" y="1620933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Early Cognitive Screening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00600" y="1837943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Community-level cognitive assessments for adults 60+ in NE India.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00600" y="2110187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Substance Use Programs</a:t>
            </a:r>
          </a:p>
        </p:txBody>
      </p:sp>
      <p:sp>
        <p:nvSpPr>
          <p:cNvPr id="22" name="Text 20"/>
          <p:cNvSpPr/>
          <p:nvPr/>
        </p:nvSpPr>
        <p:spPr>
          <a:xfrm>
            <a:off x="4800600" y="2381336"/>
            <a:ext cx="3931920" cy="322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Region-specific alcohol reduction campaigns addressing cultural drinking traditions.</a:t>
            </a:r>
          </a:p>
        </p:txBody>
      </p:sp>
      <p:sp>
        <p:nvSpPr>
          <p:cNvPr id="23" name="Text 21"/>
          <p:cNvSpPr/>
          <p:nvPr/>
        </p:nvSpPr>
        <p:spPr>
          <a:xfrm>
            <a:off x="4800600" y="27706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Sleep Health Awareness</a:t>
            </a:r>
          </a:p>
        </p:txBody>
      </p:sp>
      <p:sp>
        <p:nvSpPr>
          <p:cNvPr id="24" name="Text 22"/>
          <p:cNvSpPr/>
          <p:nvPr/>
        </p:nvSpPr>
        <p:spPr>
          <a:xfrm>
            <a:off x="4800600" y="3049843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Targeted programmes on sleep hygiene among elderly in rural NE states.</a:t>
            </a:r>
          </a:p>
        </p:txBody>
      </p:sp>
      <p:sp>
        <p:nvSpPr>
          <p:cNvPr id="25" name="Text 23"/>
          <p:cNvSpPr/>
          <p:nvPr/>
        </p:nvSpPr>
        <p:spPr>
          <a:xfrm>
            <a:off x="4800600" y="33264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Social Engagement</a:t>
            </a:r>
          </a:p>
        </p:txBody>
      </p:sp>
      <p:sp>
        <p:nvSpPr>
          <p:cNvPr id="26" name="Text 24"/>
          <p:cNvSpPr/>
          <p:nvPr/>
        </p:nvSpPr>
        <p:spPr>
          <a:xfrm>
            <a:off x="4800600" y="3622793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Promote cultural programmes, elderly clubs and community participation.</a:t>
            </a:r>
          </a:p>
        </p:txBody>
      </p:sp>
      <p:sp>
        <p:nvSpPr>
          <p:cNvPr id="27" name="Text 25"/>
          <p:cNvSpPr/>
          <p:nvPr/>
        </p:nvSpPr>
        <p:spPr>
          <a:xfrm>
            <a:off x="4800600" y="39189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Nutritional Support</a:t>
            </a:r>
          </a:p>
        </p:txBody>
      </p:sp>
      <p:sp>
        <p:nvSpPr>
          <p:cNvPr id="28" name="Text 26"/>
          <p:cNvSpPr/>
          <p:nvPr/>
        </p:nvSpPr>
        <p:spPr>
          <a:xfrm>
            <a:off x="4800600" y="41696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Food security interventions for elderly - direct link to cognitive health.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11 : LIMITATIONS &amp; FUTURE SCOPE</a:t>
            </a: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Directions</a:t>
            </a:r>
            <a:endParaRPr lang="en-US" sz="2600" dirty="0">
              <a:latin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Aveek Samanta | LASI Wave-1, 2017-18 | North-Eastern India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1605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41605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984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 LIMITATIONS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6052" y="1861548"/>
            <a:ext cx="155448" cy="1554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64792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Cross-sectional design: Cannot establish causal direction between substance use and cognitive impairment.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2219" y="2377440"/>
            <a:ext cx="155448" cy="1554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9514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LASI data from 2017–18: Patterns may have changed over time given evolving substance use trends.</a:t>
            </a:r>
          </a:p>
        </p:txBody>
      </p:sp>
      <p:sp>
        <p:nvSpPr>
          <p:cNvPr id="15" name="Shape 13"/>
          <p:cNvSpPr/>
          <p:nvPr/>
        </p:nvSpPr>
        <p:spPr>
          <a:xfrm>
            <a:off x="422219" y="2918743"/>
            <a:ext cx="155448" cy="1554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2549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Cognitive measurement limited to word recall - does not capture executive function or orientation domains.</a:t>
            </a:r>
          </a:p>
        </p:txBody>
      </p:sp>
      <p:sp>
        <p:nvSpPr>
          <p:cNvPr id="17" name="Shape 15"/>
          <p:cNvSpPr/>
          <p:nvPr/>
        </p:nvSpPr>
        <p:spPr>
          <a:xfrm>
            <a:off x="411480" y="3455900"/>
            <a:ext cx="155448" cy="1554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55848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Substance use measured as ever-used (Yes/No) - duration, frequency, and intensity not captured.</a:t>
            </a:r>
          </a:p>
        </p:txBody>
      </p:sp>
      <p:sp>
        <p:nvSpPr>
          <p:cNvPr id="19" name="Shape 17"/>
          <p:cNvSpPr/>
          <p:nvPr/>
        </p:nvSpPr>
        <p:spPr>
          <a:xfrm>
            <a:off x="411480" y="3975778"/>
            <a:ext cx="155448" cy="1554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8620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Some categories had small sample sizes , leading to unstable ORs.</a:t>
            </a:r>
          </a:p>
        </p:txBody>
      </p:sp>
      <p:sp>
        <p:nvSpPr>
          <p:cNvPr id="21" name="Shape 19"/>
          <p:cNvSpPr/>
          <p:nvPr/>
        </p:nvSpPr>
        <p:spPr>
          <a:xfrm>
            <a:off x="4663440" y="1298448"/>
            <a:ext cx="41605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298448"/>
            <a:ext cx="416052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2984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🔭  FUTURE DIRECTIONS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00600" y="1861548"/>
            <a:ext cx="155448" cy="15544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764792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Longitudinal analysis using LASI Wave-2 data to establish causal pathways.</a:t>
            </a:r>
          </a:p>
        </p:txBody>
      </p:sp>
      <p:sp>
        <p:nvSpPr>
          <p:cNvPr id="26" name="Shape 24"/>
          <p:cNvSpPr/>
          <p:nvPr/>
        </p:nvSpPr>
        <p:spPr>
          <a:xfrm>
            <a:off x="4800600" y="2406786"/>
            <a:ext cx="155448" cy="15544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29514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Include dose-response measures of tobacco and alcohol (quantity, frequency, duration).</a:t>
            </a:r>
          </a:p>
        </p:txBody>
      </p:sp>
      <p:sp>
        <p:nvSpPr>
          <p:cNvPr id="28" name="Shape 26"/>
          <p:cNvSpPr/>
          <p:nvPr/>
        </p:nvSpPr>
        <p:spPr>
          <a:xfrm>
            <a:off x="4824523" y="2926080"/>
            <a:ext cx="155448" cy="15544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825496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Expand cognitive assessment to include executive function, orientation, and depression indices.</a:t>
            </a:r>
          </a:p>
        </p:txBody>
      </p:sp>
      <p:sp>
        <p:nvSpPr>
          <p:cNvPr id="30" name="Shape 28"/>
          <p:cNvSpPr/>
          <p:nvPr/>
        </p:nvSpPr>
        <p:spPr>
          <a:xfrm>
            <a:off x="4811870" y="3449308"/>
            <a:ext cx="155448" cy="15544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355848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State-wise disaggregated analysis to capture within-NE heterogeneity.</a:t>
            </a:r>
          </a:p>
        </p:txBody>
      </p:sp>
      <p:sp>
        <p:nvSpPr>
          <p:cNvPr id="32" name="Shape 30"/>
          <p:cNvSpPr/>
          <p:nvPr/>
        </p:nvSpPr>
        <p:spPr>
          <a:xfrm>
            <a:off x="4811870" y="3964934"/>
            <a:ext cx="155448" cy="15544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88620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Qualitative research on cultural drinking norms and cognitive awareness among elderly.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54864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2694" y="61329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>
              <a:latin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868694" y="1123989"/>
            <a:ext cx="3657600" cy="54864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7438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TAKEAWAYS</a:t>
            </a:r>
            <a:endParaRPr lang="en-US" sz="1100" dirty="0">
              <a:latin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55421" y="1817106"/>
            <a:ext cx="155448" cy="15544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956" y="2315808"/>
            <a:ext cx="805250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Alcohol consumption significantly raises odds of cognitive impairment (AOR=0.625 for non-users - 37.5% protective effect).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55421" y="2382917"/>
            <a:ext cx="155448" cy="15544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0512" y="294807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Sleep disturbance is the strongest modifiable predictor - up to 3.6× higher odds for frequent sufferers.</a:t>
            </a:r>
          </a:p>
        </p:txBody>
      </p:sp>
      <p:sp>
        <p:nvSpPr>
          <p:cNvPr id="12" name="Shape 10"/>
          <p:cNvSpPr/>
          <p:nvPr/>
        </p:nvSpPr>
        <p:spPr>
          <a:xfrm>
            <a:off x="556683" y="3076092"/>
            <a:ext cx="155448" cy="15544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512" y="16628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Advancing age has a clear gradient effect; oldest-old face 3× higher risk.</a:t>
            </a:r>
          </a:p>
        </p:txBody>
      </p:sp>
      <p:sp>
        <p:nvSpPr>
          <p:cNvPr id="14" name="Shape 12"/>
          <p:cNvSpPr/>
          <p:nvPr/>
        </p:nvSpPr>
        <p:spPr>
          <a:xfrm>
            <a:off x="554159" y="3729753"/>
            <a:ext cx="155448" cy="15544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512" y="36070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Public health strategies targeting alcohol, sleep, and social engagement can mitigate NE India's cognitive burden.</a:t>
            </a:r>
          </a:p>
        </p:txBody>
      </p:sp>
      <p:sp>
        <p:nvSpPr>
          <p:cNvPr id="16" name="Shape 14"/>
          <p:cNvSpPr/>
          <p:nvPr/>
        </p:nvSpPr>
        <p:spPr>
          <a:xfrm>
            <a:off x="411480" y="4919472"/>
            <a:ext cx="8732520" cy="219456"/>
          </a:xfrm>
          <a:prstGeom prst="rect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9194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Questions Welcome  ·  LASI = Longitudinal Ageing Study of India  ·  Binary Logistic Regression  ·  STATA 17</a:t>
            </a:r>
            <a:endParaRPr lang="en-US" sz="800" dirty="0">
              <a:latin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B83585-5A7C-31C8-1DE0-F9E244EB870C}"/>
              </a:ext>
            </a:extLst>
          </p:cNvPr>
          <p:cNvSpPr txBox="1"/>
          <p:nvPr/>
        </p:nvSpPr>
        <p:spPr>
          <a:xfrm>
            <a:off x="554159" y="4123161"/>
            <a:ext cx="8324298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:  </a:t>
            </a:r>
            <a:r>
              <a:rPr lang="en-US" sz="1300" dirty="0">
                <a:latin typeface="Times New Roman" panose="02020603050405020304" pitchFamily="18" charset="0"/>
                <a:hlinkClick r:id="rId3"/>
              </a:rPr>
              <a:t>Examining the risk of substance use and lifestyle factors on cognitive decline among older people in India | Journal of Public Health | Springer Nature Link</a:t>
            </a:r>
            <a:endParaRPr lang="en-US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3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2258</Words>
  <Application>Microsoft Office PowerPoint</Application>
  <PresentationFormat>On-screen Show (16:9)</PresentationFormat>
  <Paragraphs>329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 Light</vt:lpstr>
      <vt:lpstr>Georgia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Substance Use and Cognitive Decline – NE India</dc:title>
  <dc:subject>PptxGenJS Presentation</dc:subject>
  <dc:creator>PptxGenJS</dc:creator>
  <cp:lastModifiedBy>Aveek samanta</cp:lastModifiedBy>
  <cp:revision>11</cp:revision>
  <dcterms:created xsi:type="dcterms:W3CDTF">2026-02-18T16:12:42Z</dcterms:created>
  <dcterms:modified xsi:type="dcterms:W3CDTF">2026-02-22T18:17:50Z</dcterms:modified>
</cp:coreProperties>
</file>